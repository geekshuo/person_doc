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清晰度五级标签：规则预标注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先估计“多少文字不可辨”，再区分轻微模糊，并补偿 OCR 完全漏检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646920" y="402336"/>
            <a:ext cx="2011680" cy="301752"/>
          </a:xfrm>
          <a:prstGeom prst="roundRect">
            <a:avLst/>
          </a:prstGeom>
          <a:solidFill>
            <a:srgbClr val="EDF5FF"/>
          </a:solidFill>
          <a:ln w="6350">
            <a:solidFill>
              <a:srgbClr val="EDF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411480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69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用于低成本生成初始标签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205740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581912"/>
            <a:ext cx="310896" cy="310896"/>
          </a:xfrm>
          <a:prstGeom prst="ellipse">
            <a:avLst/>
          </a:prstGeom>
          <a:solidFill>
            <a:srgbClr val="1769D2"/>
          </a:solidFill>
          <a:ln w="12700">
            <a:solidFill>
              <a:srgbClr val="1769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595628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61288" y="15361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输入预处理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9808" y="2011680"/>
            <a:ext cx="1554480" cy="301752"/>
          </a:xfrm>
          <a:prstGeom prst="roundRect">
            <a:avLst/>
          </a:prstGeom>
          <a:solidFill>
            <a:srgbClr val="EDF5FF"/>
          </a:solidFill>
          <a:ln w="6350">
            <a:solidFill>
              <a:srgbClr val="EDF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020824"/>
            <a:ext cx="1554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69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OCR + 印章排除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25328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逐行提取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" y="2935224"/>
            <a:ext cx="73152" cy="73152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85292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行置信度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8096" y="3282696"/>
            <a:ext cx="73152" cy="73152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20040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字符数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8096" y="3630168"/>
            <a:ext cx="73152" cy="73152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54787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文本框面积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9808" y="4114800"/>
            <a:ext cx="1554480" cy="9601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26110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546A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轻量印章检测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" y="457200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排除印章遮挡区域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避免拉低正文置信度</a:t>
            </a: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749808" y="535838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69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输出：有效正文 OCR 行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79192" y="3401568"/>
            <a:ext cx="292608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90672" y="1325880"/>
            <a:ext cx="411480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55848" y="1581912"/>
            <a:ext cx="310896" cy="310896"/>
          </a:xfrm>
          <a:prstGeom prst="ellipse">
            <a:avLst/>
          </a:prstGeom>
          <a:solidFill>
            <a:srgbClr val="087A66"/>
          </a:solidFill>
          <a:ln w="12700">
            <a:solidFill>
              <a:srgbClr val="087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1595628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67328" y="1536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基础等级判定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23560" y="1591056"/>
            <a:ext cx="1261872" cy="301752"/>
          </a:xfrm>
          <a:prstGeom prst="roundRect">
            <a:avLst/>
          </a:prstGeom>
          <a:solidFill>
            <a:srgbClr val="E9F8F3"/>
          </a:solidFill>
          <a:ln w="6350">
            <a:solidFill>
              <a:srgbClr val="E9F8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23560" y="1600200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7A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OCR 可辨识度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83280" y="2029968"/>
            <a:ext cx="3520440" cy="512064"/>
          </a:xfrm>
          <a:prstGeom prst="roundRect">
            <a:avLst/>
          </a:prstGeom>
          <a:solidFill>
            <a:srgbClr val="E9F8F3"/>
          </a:solidFill>
          <a:ln w="6350">
            <a:solidFill>
              <a:srgbClr val="E9F8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47872" y="2103120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7A6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 = 0.7 × 字数 + 0.3 × 文本框相对面积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83280" y="2679192"/>
            <a:ext cx="3520440" cy="585216"/>
          </a:xfrm>
          <a:prstGeom prst="roundRect">
            <a:avLst/>
          </a:prstGeom>
          <a:solidFill>
            <a:srgbClr val="EDF5FF"/>
          </a:solidFill>
          <a:ln w="6350">
            <a:solidFill>
              <a:srgbClr val="EDF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47872" y="2761488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769D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unreadable_ratio = 不可辨权重 / 全部权重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3493008" y="335584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754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不可辨：行置信度 &lt; 80%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83280" y="3767328"/>
            <a:ext cx="3520440" cy="365760"/>
          </a:xfrm>
          <a:prstGeom prst="roundRect">
            <a:avLst/>
          </a:prstGeom>
          <a:solidFill>
            <a:srgbClr val="FFF0EF"/>
          </a:solidFill>
          <a:ln w="6350">
            <a:solidFill>
              <a:srgbClr val="FFF0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47872" y="380390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ratio ≥ 90%  或均值 &lt; 60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6035040" y="3803904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933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Level 5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383280" y="4242816"/>
            <a:ext cx="3520440" cy="365760"/>
          </a:xfrm>
          <a:prstGeom prst="roundRect">
            <a:avLst/>
          </a:prstGeom>
          <a:solidFill>
            <a:srgbClr val="FFF2E5"/>
          </a:solidFill>
          <a:ln w="6350">
            <a:solidFill>
              <a:srgbClr val="FFF2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47872" y="427939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ratio ≥ 50%  或均值 &lt; 75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6035040" y="4279392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96D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Level 4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383280" y="4718304"/>
            <a:ext cx="3520440" cy="365760"/>
          </a:xfrm>
          <a:prstGeom prst="roundRect">
            <a:avLst/>
          </a:prstGeom>
          <a:solidFill>
            <a:srgbClr val="F2EEFA"/>
          </a:solidFill>
          <a:ln w="6350">
            <a:solidFill>
              <a:srgbClr val="F2EE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47872" y="475488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ratio ≥ 10%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6035040" y="4754880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546A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Level 3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383280" y="5230368"/>
            <a:ext cx="3520440" cy="365760"/>
          </a:xfrm>
          <a:prstGeom prst="roundRect">
            <a:avLst/>
          </a:prstGeom>
          <a:solidFill>
            <a:srgbClr val="E7F8F0"/>
          </a:solidFill>
          <a:ln w="6350">
            <a:solidFill>
              <a:srgbClr val="E7F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47872" y="5266944"/>
            <a:ext cx="3191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7A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ratio &lt; 10%  →  进入锐度判别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324344" y="3401568"/>
            <a:ext cx="292608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35824" y="1325880"/>
            <a:ext cx="3950208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91856" y="1581912"/>
            <a:ext cx="310896" cy="310896"/>
          </a:xfrm>
          <a:prstGeom prst="ellipse">
            <a:avLst/>
          </a:prstGeom>
          <a:solidFill>
            <a:srgbClr val="D96D0B"/>
          </a:solidFill>
          <a:ln w="12700">
            <a:solidFill>
              <a:srgbClr val="D96D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91856" y="1595628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403336" y="153619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锐度判别 + 漏检补偿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001000" y="2011680"/>
            <a:ext cx="1389888" cy="301752"/>
          </a:xfrm>
          <a:prstGeom prst="roundRect">
            <a:avLst/>
          </a:prstGeom>
          <a:solidFill>
            <a:srgbClr val="FFF2E5"/>
          </a:solidFill>
          <a:ln w="6350">
            <a:solidFill>
              <a:srgbClr val="FFF2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01000" y="2020824"/>
            <a:ext cx="13898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6D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区分 Level 1 / 2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001000" y="2441448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6D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以下任一命中 → Level 2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019288" y="2825496"/>
            <a:ext cx="73152" cy="73152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65592" y="274320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平均置信度 &lt; 92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019288" y="3118104"/>
            <a:ext cx="73152" cy="73152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165592" y="303580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最低行置信度 &lt; 75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756648" y="2825496"/>
            <a:ext cx="73152" cy="73152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902952" y="27432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拉普拉斯方差 &lt; 3000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756648" y="3118104"/>
            <a:ext cx="73152" cy="73152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902952" y="303580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文字边缘强度 &lt; 100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010144" y="340156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7A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全部未命中 → Level 1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8001000" y="3822192"/>
            <a:ext cx="1389888" cy="301752"/>
          </a:xfrm>
          <a:prstGeom prst="roundRect">
            <a:avLst/>
          </a:prstGeom>
          <a:solidFill>
            <a:srgbClr val="F2EEFA"/>
          </a:solidFill>
          <a:ln w="6350">
            <a:solidFill>
              <a:srgbClr val="F2EEF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001000" y="3831336"/>
            <a:ext cx="13898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546A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补偿 OCR 漏检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8001000" y="4233672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Otsu 提取文字区域 → 去表格线 / 二维码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连通域分析 → 计算 undetected_ratio</a:t>
            </a:r>
            <a:endParaRPr lang="en-US" sz="1020" dirty="0"/>
          </a:p>
        </p:txBody>
      </p:sp>
      <p:sp>
        <p:nvSpPr>
          <p:cNvPr id="66" name="Shape 64"/>
          <p:cNvSpPr/>
          <p:nvPr/>
        </p:nvSpPr>
        <p:spPr>
          <a:xfrm>
            <a:off x="8001000" y="4919472"/>
            <a:ext cx="3337560" cy="594360"/>
          </a:xfrm>
          <a:prstGeom prst="roundRect">
            <a:avLst/>
          </a:prstGeom>
          <a:solidFill>
            <a:srgbClr val="F2EEFA"/>
          </a:solidFill>
          <a:ln w="6350">
            <a:solidFill>
              <a:srgbClr val="F2EEF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183880" y="497433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6546A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相对基线 0.05：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6546A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excess &gt; 0.15 加 1 级；&gt; 0.30 加 2 级</a:t>
            </a:r>
            <a:endParaRPr lang="en-US" sz="1020" dirty="0"/>
          </a:p>
        </p:txBody>
      </p:sp>
      <p:sp>
        <p:nvSpPr>
          <p:cNvPr id="68" name="Shape 66"/>
          <p:cNvSpPr/>
          <p:nvPr/>
        </p:nvSpPr>
        <p:spPr>
          <a:xfrm>
            <a:off x="1920240" y="6053328"/>
            <a:ext cx="8321040" cy="475488"/>
          </a:xfrm>
          <a:prstGeom prst="roundRect">
            <a:avLst/>
          </a:prstGeom>
          <a:solidFill>
            <a:srgbClr val="E7F8F0"/>
          </a:solidFill>
          <a:ln w="13970">
            <a:solidFill>
              <a:srgbClr val="087A5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139696" y="6126480"/>
            <a:ext cx="4800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87A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最终等级 = min ( 基础等级 + 漏检补偿 , 5 )</a:t>
            </a:r>
            <a:endParaRPr lang="en-US" sz="1320" dirty="0"/>
          </a:p>
        </p:txBody>
      </p:sp>
      <p:sp>
        <p:nvSpPr>
          <p:cNvPr id="70" name="Text 68"/>
          <p:cNvSpPr/>
          <p:nvPr/>
        </p:nvSpPr>
        <p:spPr>
          <a:xfrm>
            <a:off x="6967728" y="6126480"/>
            <a:ext cx="3035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规则预标注 + 人工复核边界样本</a:t>
            </a:r>
            <a:endParaRPr lang="en-US" sz="10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清晰度五级标签：规则预标注</dc:title>
  <dc:subject>实习答辩单页</dc:subject>
  <dc:creator>彭硕</dc:creator>
  <cp:lastModifiedBy>彭硕</cp:lastModifiedBy>
  <cp:revision>1</cp:revision>
  <dcterms:created xsi:type="dcterms:W3CDTF">2026-08-18T19:03:35Z</dcterms:created>
  <dcterms:modified xsi:type="dcterms:W3CDTF">2026-08-18T19:03:35Z</dcterms:modified>
</cp:coreProperties>
</file>