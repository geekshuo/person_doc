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6459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spc="2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印章检测三阶段协同方案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93776" y="594360"/>
            <a:ext cx="6903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C8D7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全页多模型分流 → 局部切块召回 → VLM 多页兜底 → 人工审核闭环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7982712" y="219456"/>
            <a:ext cx="1325880" cy="283464"/>
          </a:xfrm>
          <a:prstGeom prst="roundRect">
            <a:avLst>
              <a:gd name="adj" fmla="val 38710"/>
            </a:avLst>
          </a:prstGeom>
          <a:solidFill>
            <a:srgbClr val="19A89D"/>
          </a:solidFill>
          <a:ln w="12700">
            <a:solidFill>
              <a:srgbClr val="19A8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82712" y="219456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模型 + 1 CV 信号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9390888" y="219456"/>
            <a:ext cx="1188720" cy="283464"/>
          </a:xfrm>
          <a:prstGeom prst="roundRect">
            <a:avLst>
              <a:gd name="adj" fmla="val 38710"/>
            </a:avLst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90888" y="219456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块 · 15% 重叠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10661904" y="219456"/>
            <a:ext cx="1033272" cy="283464"/>
          </a:xfrm>
          <a:prstGeom prst="roundRect">
            <a:avLst>
              <a:gd name="adj" fmla="val 38710"/>
            </a:avLst>
          </a:prstGeom>
          <a:solidFill>
            <a:srgbClr val="19A89D"/>
          </a:solidFill>
          <a:ln w="12700">
            <a:solidFill>
              <a:srgbClr val="19A89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61904" y="219456"/>
            <a:ext cx="10332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VLM 5 页 / 批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7818120" y="603504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D9E5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目标：高召回覆盖印章，同时把不确定样本逐级升级，而非一次性强判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457200" y="1069848"/>
            <a:ext cx="5532120" cy="393192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" y="1143000"/>
            <a:ext cx="694944" cy="237744"/>
          </a:xfrm>
          <a:prstGeom prst="roundRect">
            <a:avLst>
              <a:gd name="adj" fmla="val 46154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114300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核心策略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399032" y="11155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高置信样本快速终结；边界样本用多信号互证并逐级升级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153912" y="1069848"/>
            <a:ext cx="5577840" cy="393192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81928" y="1143000"/>
            <a:ext cx="694944" cy="237744"/>
          </a:xfrm>
          <a:prstGeom prst="roundRect">
            <a:avLst>
              <a:gd name="adj" fmla="val 46154"/>
            </a:avLst>
          </a:prstGeom>
          <a:solidFill>
            <a:srgbClr val="FBE9D8"/>
          </a:solidFill>
          <a:ln w="12700">
            <a:solidFill>
              <a:srgbClr val="FBE9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14300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规则来源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7095744" y="1115568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classify_v5 阈值由数百种分数 × 检测信号组合实验筛选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57200" y="1618488"/>
            <a:ext cx="1051560" cy="2487168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  <a:effectLst>
            <a:outerShdw sx="100000" sy="100000" kx="0" ky="0" algn="bl" rotWithShape="0" blurRad="31750" dist="12700" dir="2700000">
              <a:srgbClr val="82909A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" y="1783080"/>
            <a:ext cx="438912" cy="228600"/>
          </a:xfrm>
          <a:prstGeom prst="roundRect">
            <a:avLst>
              <a:gd name="adj" fmla="val 48000"/>
            </a:avLst>
          </a:prstGeom>
          <a:solidFill>
            <a:srgbClr val="1D3B53"/>
          </a:solidFill>
          <a:ln w="12700">
            <a:solidFill>
              <a:srgbClr val="1D3B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178308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03504" y="21031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630936" y="2542032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E4EEF5"/>
          </a:solidFill>
          <a:ln w="12700">
            <a:solidFill>
              <a:srgbClr val="E4EE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254203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3B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PDF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30936" y="2926080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EDF1F3"/>
          </a:solidFill>
          <a:ln w="12700">
            <a:solidFill>
              <a:srgbClr val="EDF1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" y="292608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JPG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30936" y="3310128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EDF1F3"/>
          </a:solidFill>
          <a:ln w="12700">
            <a:solidFill>
              <a:srgbClr val="EDF1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" y="331012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PNG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603504" y="36941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下载文件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渲染全部页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1527048" y="2852928"/>
            <a:ext cx="192024" cy="0"/>
          </a:xfrm>
          <a:prstGeom prst="line">
            <a:avLst/>
          </a:prstGeom>
          <a:noFill/>
          <a:ln w="22860">
            <a:solidFill>
              <a:srgbClr val="1D3B5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737360" y="1618488"/>
            <a:ext cx="4800600" cy="2487168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  <a:effectLst>
            <a:outerShdw sx="100000" sy="100000" kx="0" ky="0" algn="bl" rotWithShape="0" blurRad="31750" dist="12700" dir="2700000">
              <a:srgbClr val="82909A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737360" y="1618488"/>
            <a:ext cx="4800600" cy="91440"/>
          </a:xfrm>
          <a:prstGeom prst="rect">
            <a:avLst/>
          </a:prstGeom>
          <a:solidFill>
            <a:srgbClr val="0E8A80"/>
          </a:solidFill>
          <a:ln w="12700">
            <a:solidFill>
              <a:srgbClr val="0E8A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83664" y="1764792"/>
            <a:ext cx="420624" cy="246888"/>
          </a:xfrm>
          <a:prstGeom prst="roundRect">
            <a:avLst>
              <a:gd name="adj" fmla="val 44444"/>
            </a:avLst>
          </a:prstGeom>
          <a:solidFill>
            <a:srgbClr val="0E8A80"/>
          </a:solidFill>
          <a:ln w="12700">
            <a:solidFill>
              <a:srgbClr val="0E8A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83664" y="1764792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404872" y="172821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三模型三分类</a:t>
            </a:r>
            <a:endParaRPr lang="en-US" sz="1430" dirty="0"/>
          </a:p>
        </p:txBody>
      </p:sp>
      <p:sp>
        <p:nvSpPr>
          <p:cNvPr id="37" name="Text 35"/>
          <p:cNvSpPr/>
          <p:nvPr/>
        </p:nvSpPr>
        <p:spPr>
          <a:xfrm>
            <a:off x="1892808" y="2057400"/>
            <a:ext cx="4489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seal_classify_online｜逐页推理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1892808" y="2331720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E4EEF5"/>
          </a:solidFill>
          <a:ln w="12700">
            <a:solidFill>
              <a:srgbClr val="E4EE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47672" y="238658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B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layoutV2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947672" y="2606040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版面模型 V2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3017520" y="2331720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E4EEF5"/>
          </a:solidFill>
          <a:ln w="12700">
            <a:solidFill>
              <a:srgbClr val="E4EE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72384" y="238658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B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layoutL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072384" y="2606040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版面模型 L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4142232" y="2331720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97096" y="238658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seal_det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197096" y="2606040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印章检测器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5266944" y="2331720"/>
            <a:ext cx="987552" cy="502920"/>
          </a:xfrm>
          <a:prstGeom prst="roundRect">
            <a:avLst>
              <a:gd name="adj" fmla="val 10909"/>
            </a:avLst>
          </a:prstGeom>
          <a:solidFill>
            <a:srgbClr val="FBE9D8"/>
          </a:solidFill>
          <a:ln w="12700">
            <a:solidFill>
              <a:srgbClr val="FBE9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21808" y="238658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 blob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21808" y="2606040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OpenCV HSV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2221992" y="2898648"/>
            <a:ext cx="3529584" cy="0"/>
          </a:xfrm>
          <a:prstGeom prst="line">
            <a:avLst/>
          </a:prstGeom>
          <a:noFill/>
          <a:ln w="12700">
            <a:solidFill>
              <a:srgbClr val="A6B6BF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2130552" y="2990088"/>
            <a:ext cx="4005072" cy="438912"/>
          </a:xfrm>
          <a:prstGeom prst="roundRect">
            <a:avLst>
              <a:gd name="adj" fmla="val 14583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76856" y="302666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D5E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V2 / L 分数合并  +  seal_det / geom  +  颜色 blob</a:t>
            </a:r>
            <a:endParaRPr lang="en-US" sz="940" dirty="0"/>
          </a:p>
        </p:txBody>
      </p:sp>
      <p:sp>
        <p:nvSpPr>
          <p:cNvPr id="53" name="Text 51"/>
          <p:cNvSpPr/>
          <p:nvPr/>
        </p:nvSpPr>
        <p:spPr>
          <a:xfrm>
            <a:off x="2276856" y="3218688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classify_v5 规则融合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1956816" y="3566160"/>
            <a:ext cx="1024128" cy="265176"/>
          </a:xfrm>
          <a:prstGeom prst="roundRect">
            <a:avLst>
              <a:gd name="adj" fmla="val 41379"/>
            </a:avLst>
          </a:prstGeom>
          <a:solidFill>
            <a:srgbClr val="E2F2E9"/>
          </a:solidFill>
          <a:ln w="12700">
            <a:solidFill>
              <a:srgbClr val="E2F2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56816" y="3566160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6A2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HAS_SEAL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090672" y="3566160"/>
            <a:ext cx="1024128" cy="265176"/>
          </a:xfrm>
          <a:prstGeom prst="roundRect">
            <a:avLst>
              <a:gd name="adj" fmla="val 41379"/>
            </a:avLst>
          </a:prstGeom>
          <a:solidFill>
            <a:srgbClr val="EDF1F3"/>
          </a:solidFill>
          <a:ln w="12700">
            <a:solidFill>
              <a:srgbClr val="EDF1F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90672" y="3566160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NO_SEAL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224528" y="3566160"/>
            <a:ext cx="1024128" cy="265176"/>
          </a:xfrm>
          <a:prstGeom prst="roundRect">
            <a:avLst>
              <a:gd name="adj" fmla="val 41379"/>
            </a:avLst>
          </a:prstGeom>
          <a:solidFill>
            <a:srgbClr val="FBE9D8"/>
          </a:solidFill>
          <a:ln w="12700">
            <a:solidFill>
              <a:srgbClr val="FBE9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24528" y="3566160"/>
            <a:ext cx="1024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UNSURE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376672" y="3547872"/>
            <a:ext cx="987552" cy="301752"/>
          </a:xfrm>
          <a:prstGeom prst="roundRect">
            <a:avLst>
              <a:gd name="adj" fmla="val 15152"/>
            </a:avLst>
          </a:prstGeom>
          <a:solidFill>
            <a:srgbClr val="FFF5EC"/>
          </a:solidFill>
          <a:ln w="12700">
            <a:solidFill>
              <a:srgbClr val="FFF5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22392" y="3566160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H/W &gt; 2.0</a:t>
            </a:r>
            <a:endParaRPr lang="en-US" sz="770" dirty="0"/>
          </a:p>
          <a:p>
            <a:pPr algn="ctr" indent="0" marL="0">
              <a:buNone/>
            </a:pPr>
            <a:r>
              <a:rPr lang="en-US" sz="77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自动分块推理</a:t>
            </a:r>
            <a:endParaRPr lang="en-US" sz="770" dirty="0"/>
          </a:p>
        </p:txBody>
      </p:sp>
      <p:sp>
        <p:nvSpPr>
          <p:cNvPr id="62" name="Text 60"/>
          <p:cNvSpPr/>
          <p:nvPr/>
        </p:nvSpPr>
        <p:spPr>
          <a:xfrm>
            <a:off x="1947672" y="3922776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HAS_SEAL 直接终结；NO_SEAL / UNSURE 进入下一阶段</a:t>
            </a:r>
            <a:endParaRPr lang="en-US" sz="840" dirty="0"/>
          </a:p>
        </p:txBody>
      </p:sp>
      <p:sp>
        <p:nvSpPr>
          <p:cNvPr id="63" name="Shape 61"/>
          <p:cNvSpPr/>
          <p:nvPr/>
        </p:nvSpPr>
        <p:spPr>
          <a:xfrm>
            <a:off x="6556248" y="2852928"/>
            <a:ext cx="256032" cy="0"/>
          </a:xfrm>
          <a:prstGeom prst="line">
            <a:avLst/>
          </a:prstGeom>
          <a:noFill/>
          <a:ln w="22860">
            <a:solidFill>
              <a:srgbClr val="1D3B53"/>
            </a:solidFill>
            <a:prstDash val="solid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6510528" y="25420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 / UNSURE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830568" y="1618488"/>
            <a:ext cx="2167128" cy="2487168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  <a:effectLst>
            <a:outerShdw sx="100000" sy="100000" kx="0" ky="0" algn="bl" rotWithShape="0" blurRad="31750" dist="12700" dir="2700000">
              <a:srgbClr val="82909A">
                <a:alpha val="14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830568" y="1618488"/>
            <a:ext cx="2167128" cy="91440"/>
          </a:xfrm>
          <a:prstGeom prst="rect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76872" y="1764792"/>
            <a:ext cx="420624" cy="246888"/>
          </a:xfrm>
          <a:prstGeom prst="roundRect">
            <a:avLst>
              <a:gd name="adj" fmla="val 44444"/>
            </a:avLst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76872" y="1764792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S2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498080" y="1728216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块切分</a:t>
            </a:r>
            <a:endParaRPr lang="en-US" sz="1430" dirty="0"/>
          </a:p>
        </p:txBody>
      </p:sp>
      <p:sp>
        <p:nvSpPr>
          <p:cNvPr id="70" name="Text 68"/>
          <p:cNvSpPr/>
          <p:nvPr/>
        </p:nvSpPr>
        <p:spPr>
          <a:xfrm>
            <a:off x="6986016" y="2057400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run_0804 S2｜局部召回</a:t>
            </a:r>
            <a:endParaRPr lang="en-US" sz="810" dirty="0"/>
          </a:p>
        </p:txBody>
      </p:sp>
      <p:sp>
        <p:nvSpPr>
          <p:cNvPr id="71" name="Text 69"/>
          <p:cNvSpPr/>
          <p:nvPr/>
        </p:nvSpPr>
        <p:spPr>
          <a:xfrm>
            <a:off x="6986016" y="2286000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每页切 8 块 · 15% 重叠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004304" y="2551176"/>
            <a:ext cx="356616" cy="301752"/>
          </a:xfrm>
          <a:prstGeom prst="roundRect">
            <a:avLst>
              <a:gd name="adj" fmla="val 9091"/>
            </a:avLst>
          </a:prstGeom>
          <a:solidFill>
            <a:srgbClr val="E4EEF5"/>
          </a:solidFill>
          <a:ln w="10160">
            <a:solidFill>
              <a:srgbClr val="CBDCE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04304" y="2551176"/>
            <a:ext cx="356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3B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820" dirty="0"/>
          </a:p>
        </p:txBody>
      </p:sp>
      <p:sp>
        <p:nvSpPr>
          <p:cNvPr id="74" name="Shape 72"/>
          <p:cNvSpPr/>
          <p:nvPr/>
        </p:nvSpPr>
        <p:spPr>
          <a:xfrm>
            <a:off x="7452360" y="2551176"/>
            <a:ext cx="356616" cy="301752"/>
          </a:xfrm>
          <a:prstGeom prst="roundRect">
            <a:avLst>
              <a:gd name="adj" fmla="val 9091"/>
            </a:avLst>
          </a:prstGeom>
          <a:solidFill>
            <a:srgbClr val="E4EEF5"/>
          </a:solidFill>
          <a:ln w="10160">
            <a:solidFill>
              <a:srgbClr val="CBDCE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52360" y="2551176"/>
            <a:ext cx="356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3B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820" dirty="0"/>
          </a:p>
        </p:txBody>
      </p:sp>
      <p:sp>
        <p:nvSpPr>
          <p:cNvPr id="76" name="Shape 74"/>
          <p:cNvSpPr/>
          <p:nvPr/>
        </p:nvSpPr>
        <p:spPr>
          <a:xfrm>
            <a:off x="7900416" y="2551176"/>
            <a:ext cx="356616" cy="301752"/>
          </a:xfrm>
          <a:prstGeom prst="roundRect">
            <a:avLst>
              <a:gd name="adj" fmla="val 9091"/>
            </a:avLst>
          </a:prstGeom>
          <a:solidFill>
            <a:srgbClr val="E4EEF5"/>
          </a:solidFill>
          <a:ln w="10160">
            <a:solidFill>
              <a:srgbClr val="CBDCE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00416" y="2551176"/>
            <a:ext cx="356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3B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820" dirty="0"/>
          </a:p>
        </p:txBody>
      </p:sp>
      <p:sp>
        <p:nvSpPr>
          <p:cNvPr id="78" name="Shape 76"/>
          <p:cNvSpPr/>
          <p:nvPr/>
        </p:nvSpPr>
        <p:spPr>
          <a:xfrm>
            <a:off x="8348472" y="2551176"/>
            <a:ext cx="356616" cy="301752"/>
          </a:xfrm>
          <a:prstGeom prst="roundRect">
            <a:avLst>
              <a:gd name="adj" fmla="val 9091"/>
            </a:avLst>
          </a:prstGeom>
          <a:solidFill>
            <a:srgbClr val="E4EEF5"/>
          </a:solidFill>
          <a:ln w="10160">
            <a:solidFill>
              <a:srgbClr val="CBDCE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348472" y="2551176"/>
            <a:ext cx="356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3B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820" dirty="0"/>
          </a:p>
        </p:txBody>
      </p:sp>
      <p:sp>
        <p:nvSpPr>
          <p:cNvPr id="80" name="Shape 78"/>
          <p:cNvSpPr/>
          <p:nvPr/>
        </p:nvSpPr>
        <p:spPr>
          <a:xfrm>
            <a:off x="7004304" y="2944368"/>
            <a:ext cx="356616" cy="301752"/>
          </a:xfrm>
          <a:prstGeom prst="roundRect">
            <a:avLst>
              <a:gd name="adj" fmla="val 9091"/>
            </a:avLst>
          </a:prstGeom>
          <a:solidFill>
            <a:srgbClr val="E4EEF5"/>
          </a:solidFill>
          <a:ln w="10160">
            <a:solidFill>
              <a:srgbClr val="CBDCE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004304" y="2944368"/>
            <a:ext cx="356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3B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820" dirty="0"/>
          </a:p>
        </p:txBody>
      </p:sp>
      <p:sp>
        <p:nvSpPr>
          <p:cNvPr id="82" name="Shape 80"/>
          <p:cNvSpPr/>
          <p:nvPr/>
        </p:nvSpPr>
        <p:spPr>
          <a:xfrm>
            <a:off x="7452360" y="2944368"/>
            <a:ext cx="356616" cy="301752"/>
          </a:xfrm>
          <a:prstGeom prst="roundRect">
            <a:avLst>
              <a:gd name="adj" fmla="val 9091"/>
            </a:avLst>
          </a:prstGeom>
          <a:solidFill>
            <a:srgbClr val="FBE9D8"/>
          </a:solidFill>
          <a:ln w="10160">
            <a:solidFill>
              <a:srgbClr val="E8863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52360" y="2944368"/>
            <a:ext cx="356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820" dirty="0"/>
          </a:p>
        </p:txBody>
      </p:sp>
      <p:sp>
        <p:nvSpPr>
          <p:cNvPr id="84" name="Shape 82"/>
          <p:cNvSpPr/>
          <p:nvPr/>
        </p:nvSpPr>
        <p:spPr>
          <a:xfrm>
            <a:off x="7900416" y="2944368"/>
            <a:ext cx="356616" cy="301752"/>
          </a:xfrm>
          <a:prstGeom prst="roundRect">
            <a:avLst>
              <a:gd name="adj" fmla="val 9091"/>
            </a:avLst>
          </a:prstGeom>
          <a:solidFill>
            <a:srgbClr val="E4EEF5"/>
          </a:solidFill>
          <a:ln w="10160">
            <a:solidFill>
              <a:srgbClr val="CBDCE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900416" y="2944368"/>
            <a:ext cx="356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3B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820" dirty="0"/>
          </a:p>
        </p:txBody>
      </p:sp>
      <p:sp>
        <p:nvSpPr>
          <p:cNvPr id="86" name="Shape 84"/>
          <p:cNvSpPr/>
          <p:nvPr/>
        </p:nvSpPr>
        <p:spPr>
          <a:xfrm>
            <a:off x="8348472" y="2944368"/>
            <a:ext cx="356616" cy="301752"/>
          </a:xfrm>
          <a:prstGeom prst="roundRect">
            <a:avLst>
              <a:gd name="adj" fmla="val 9091"/>
            </a:avLst>
          </a:prstGeom>
          <a:solidFill>
            <a:srgbClr val="E4EEF5"/>
          </a:solidFill>
          <a:ln w="10160">
            <a:solidFill>
              <a:srgbClr val="CBDCE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348472" y="2944368"/>
            <a:ext cx="356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3B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820" dirty="0"/>
          </a:p>
        </p:txBody>
      </p:sp>
      <p:sp>
        <p:nvSpPr>
          <p:cNvPr id="88" name="Text 86"/>
          <p:cNvSpPr/>
          <p:nvPr/>
        </p:nvSpPr>
        <p:spPr>
          <a:xfrm>
            <a:off x="6986016" y="3429000"/>
            <a:ext cx="1856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逐块跑三模型 + classify_v5</a:t>
            </a:r>
            <a:endParaRPr lang="en-US" sz="920" dirty="0"/>
          </a:p>
        </p:txBody>
      </p:sp>
      <p:sp>
        <p:nvSpPr>
          <p:cNvPr id="89" name="Shape 87"/>
          <p:cNvSpPr/>
          <p:nvPr/>
        </p:nvSpPr>
        <p:spPr>
          <a:xfrm>
            <a:off x="6986016" y="3657600"/>
            <a:ext cx="1856232" cy="256032"/>
          </a:xfrm>
          <a:prstGeom prst="roundRect">
            <a:avLst>
              <a:gd name="adj" fmla="val 17857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059168" y="3675888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任一块 HAS → HAS_SEAL</a:t>
            </a:r>
            <a:endParaRPr lang="en-US" sz="860" dirty="0"/>
          </a:p>
        </p:txBody>
      </p:sp>
      <p:sp>
        <p:nvSpPr>
          <p:cNvPr id="91" name="Text 89"/>
          <p:cNvSpPr/>
          <p:nvPr/>
        </p:nvSpPr>
        <p:spPr>
          <a:xfrm>
            <a:off x="6986016" y="3931920"/>
            <a:ext cx="1856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仍 UNSURE → Stage 3</a:t>
            </a:r>
            <a:endParaRPr lang="en-US" sz="820" dirty="0"/>
          </a:p>
        </p:txBody>
      </p:sp>
      <p:sp>
        <p:nvSpPr>
          <p:cNvPr id="92" name="Shape 90"/>
          <p:cNvSpPr/>
          <p:nvPr/>
        </p:nvSpPr>
        <p:spPr>
          <a:xfrm>
            <a:off x="9015984" y="2852928"/>
            <a:ext cx="228600" cy="0"/>
          </a:xfrm>
          <a:prstGeom prst="line">
            <a:avLst/>
          </a:prstGeom>
          <a:noFill/>
          <a:ln w="22860">
            <a:solidFill>
              <a:srgbClr val="1D3B53"/>
            </a:solidFill>
            <a:prstDash val="solid"/>
            <a:tailEnd type="triangle"/>
          </a:ln>
        </p:spPr>
      </p:sp>
      <p:sp>
        <p:nvSpPr>
          <p:cNvPr id="93" name="Text 91"/>
          <p:cNvSpPr/>
          <p:nvPr/>
        </p:nvSpPr>
        <p:spPr>
          <a:xfrm>
            <a:off x="8997696" y="2542032"/>
            <a:ext cx="265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UNSURE</a:t>
            </a:r>
            <a:endParaRPr lang="en-US" sz="740" dirty="0"/>
          </a:p>
        </p:txBody>
      </p:sp>
      <p:sp>
        <p:nvSpPr>
          <p:cNvPr id="94" name="Shape 92"/>
          <p:cNvSpPr/>
          <p:nvPr/>
        </p:nvSpPr>
        <p:spPr>
          <a:xfrm>
            <a:off x="9262872" y="1618488"/>
            <a:ext cx="2468880" cy="2487168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  <a:effectLst>
            <a:outerShdw sx="100000" sy="100000" kx="0" ky="0" algn="bl" rotWithShape="0" blurRad="31750" dist="12700" dir="2700000">
              <a:srgbClr val="82909A">
                <a:alpha val="14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9262872" y="1618488"/>
            <a:ext cx="2468880" cy="91440"/>
          </a:xfrm>
          <a:prstGeom prst="rect">
            <a:avLst/>
          </a:prstGeom>
          <a:solidFill>
            <a:srgbClr val="1D3B53"/>
          </a:solidFill>
          <a:ln w="12700">
            <a:solidFill>
              <a:srgbClr val="1D3B5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409176" y="1764792"/>
            <a:ext cx="420624" cy="246888"/>
          </a:xfrm>
          <a:prstGeom prst="roundRect">
            <a:avLst>
              <a:gd name="adj" fmla="val 44444"/>
            </a:avLst>
          </a:prstGeom>
          <a:solidFill>
            <a:srgbClr val="1D3B53"/>
          </a:solidFill>
          <a:ln w="12700">
            <a:solidFill>
              <a:srgbClr val="1D3B53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409176" y="1764792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S3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9930384" y="17282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VLM 多页判定</a:t>
            </a:r>
            <a:endParaRPr lang="en-US" sz="1430" dirty="0"/>
          </a:p>
        </p:txBody>
      </p:sp>
      <p:sp>
        <p:nvSpPr>
          <p:cNvPr id="99" name="Text 97"/>
          <p:cNvSpPr/>
          <p:nvPr/>
        </p:nvSpPr>
        <p:spPr>
          <a:xfrm>
            <a:off x="9418320" y="205740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run_vlm_unsure_0804_v2</a:t>
            </a:r>
            <a:endParaRPr lang="en-US" sz="810" dirty="0"/>
          </a:p>
        </p:txBody>
      </p:sp>
      <p:sp>
        <p:nvSpPr>
          <p:cNvPr id="100" name="Text 98"/>
          <p:cNvSpPr/>
          <p:nvPr/>
        </p:nvSpPr>
        <p:spPr>
          <a:xfrm>
            <a:off x="9427464" y="2286000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渲染全部页 · 每批 5 页发 VLM</a:t>
            </a:r>
            <a:endParaRPr lang="en-US" sz="940" dirty="0"/>
          </a:p>
        </p:txBody>
      </p:sp>
      <p:sp>
        <p:nvSpPr>
          <p:cNvPr id="101" name="Shape 99"/>
          <p:cNvSpPr/>
          <p:nvPr/>
        </p:nvSpPr>
        <p:spPr>
          <a:xfrm>
            <a:off x="9473184" y="2578608"/>
            <a:ext cx="301752" cy="438912"/>
          </a:xfrm>
          <a:prstGeom prst="roundRect">
            <a:avLst>
              <a:gd name="adj" fmla="val 9091"/>
            </a:avLst>
          </a:prstGeom>
          <a:solidFill>
            <a:srgbClr val="E4EEF5"/>
          </a:solidFill>
          <a:ln w="10160">
            <a:solidFill>
              <a:srgbClr val="CBDCE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473184" y="2578608"/>
            <a:ext cx="301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3B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9866376" y="2651760"/>
            <a:ext cx="301752" cy="438912"/>
          </a:xfrm>
          <a:prstGeom prst="roundRect">
            <a:avLst>
              <a:gd name="adj" fmla="val 9091"/>
            </a:avLst>
          </a:prstGeom>
          <a:solidFill>
            <a:srgbClr val="E4EEF5"/>
          </a:solidFill>
          <a:ln w="10160">
            <a:solidFill>
              <a:srgbClr val="CBDCE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866376" y="2651760"/>
            <a:ext cx="301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3B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10259568" y="2578608"/>
            <a:ext cx="301752" cy="438912"/>
          </a:xfrm>
          <a:prstGeom prst="roundRect">
            <a:avLst>
              <a:gd name="adj" fmla="val 9091"/>
            </a:avLst>
          </a:prstGeom>
          <a:solidFill>
            <a:srgbClr val="DDF3EF"/>
          </a:solidFill>
          <a:ln w="10160">
            <a:solidFill>
              <a:srgbClr val="0E8A8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0259568" y="2578608"/>
            <a:ext cx="301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10652760" y="2651760"/>
            <a:ext cx="301752" cy="438912"/>
          </a:xfrm>
          <a:prstGeom prst="roundRect">
            <a:avLst>
              <a:gd name="adj" fmla="val 9091"/>
            </a:avLst>
          </a:prstGeom>
          <a:solidFill>
            <a:srgbClr val="E4EEF5"/>
          </a:solidFill>
          <a:ln w="10160">
            <a:solidFill>
              <a:srgbClr val="CBDCE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652760" y="2651760"/>
            <a:ext cx="301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3B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11045952" y="2578608"/>
            <a:ext cx="301752" cy="438912"/>
          </a:xfrm>
          <a:prstGeom prst="roundRect">
            <a:avLst>
              <a:gd name="adj" fmla="val 9091"/>
            </a:avLst>
          </a:prstGeom>
          <a:solidFill>
            <a:srgbClr val="E4EEF5"/>
          </a:solidFill>
          <a:ln w="10160">
            <a:solidFill>
              <a:srgbClr val="CBDCE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1045952" y="2578608"/>
            <a:ext cx="301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3B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9427464" y="321868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任一批检测到印章</a:t>
            </a:r>
            <a:endParaRPr lang="en-US" sz="810" dirty="0"/>
          </a:p>
        </p:txBody>
      </p:sp>
      <p:sp>
        <p:nvSpPr>
          <p:cNvPr id="112" name="Shape 110"/>
          <p:cNvSpPr/>
          <p:nvPr/>
        </p:nvSpPr>
        <p:spPr>
          <a:xfrm>
            <a:off x="10707624" y="3218688"/>
            <a:ext cx="804672" cy="201168"/>
          </a:xfrm>
          <a:prstGeom prst="roundRect">
            <a:avLst>
              <a:gd name="adj" fmla="val 54545"/>
            </a:avLst>
          </a:prstGeom>
          <a:solidFill>
            <a:srgbClr val="E2F2E9"/>
          </a:solidFill>
          <a:ln w="12700">
            <a:solidFill>
              <a:srgbClr val="E2F2E9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707624" y="321868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36A2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HAS_SEAL</a:t>
            </a:r>
            <a:endParaRPr lang="en-US" sz="780" dirty="0"/>
          </a:p>
        </p:txBody>
      </p:sp>
      <p:sp>
        <p:nvSpPr>
          <p:cNvPr id="114" name="Text 112"/>
          <p:cNvSpPr/>
          <p:nvPr/>
        </p:nvSpPr>
        <p:spPr>
          <a:xfrm>
            <a:off x="9427464" y="349300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全部批次无印章</a:t>
            </a:r>
            <a:endParaRPr lang="en-US" sz="810" dirty="0"/>
          </a:p>
        </p:txBody>
      </p:sp>
      <p:sp>
        <p:nvSpPr>
          <p:cNvPr id="115" name="Shape 113"/>
          <p:cNvSpPr/>
          <p:nvPr/>
        </p:nvSpPr>
        <p:spPr>
          <a:xfrm>
            <a:off x="10707624" y="3493008"/>
            <a:ext cx="804672" cy="201168"/>
          </a:xfrm>
          <a:prstGeom prst="roundRect">
            <a:avLst>
              <a:gd name="adj" fmla="val 54545"/>
            </a:avLst>
          </a:prstGeom>
          <a:solidFill>
            <a:srgbClr val="EDF1F3"/>
          </a:solidFill>
          <a:ln w="12700">
            <a:solidFill>
              <a:srgbClr val="EDF1F3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0707624" y="349300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NO_SEAL</a:t>
            </a:r>
            <a:endParaRPr lang="en-US" sz="780" dirty="0"/>
          </a:p>
        </p:txBody>
      </p:sp>
      <p:sp>
        <p:nvSpPr>
          <p:cNvPr id="117" name="Text 115"/>
          <p:cNvSpPr/>
          <p:nvPr/>
        </p:nvSpPr>
        <p:spPr>
          <a:xfrm>
            <a:off x="9427464" y="376732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VLM unknown</a:t>
            </a:r>
            <a:endParaRPr lang="en-US" sz="810" dirty="0"/>
          </a:p>
        </p:txBody>
      </p:sp>
      <p:sp>
        <p:nvSpPr>
          <p:cNvPr id="118" name="Shape 116"/>
          <p:cNvSpPr/>
          <p:nvPr/>
        </p:nvSpPr>
        <p:spPr>
          <a:xfrm>
            <a:off x="10707624" y="3767328"/>
            <a:ext cx="804672" cy="201168"/>
          </a:xfrm>
          <a:prstGeom prst="roundRect">
            <a:avLst>
              <a:gd name="adj" fmla="val 54545"/>
            </a:avLst>
          </a:prstGeom>
          <a:solidFill>
            <a:srgbClr val="FBE9D8"/>
          </a:solidFill>
          <a:ln w="12700">
            <a:solidFill>
              <a:srgbClr val="FBE9D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707624" y="376732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UNSURE</a:t>
            </a:r>
            <a:endParaRPr lang="en-US" sz="780" dirty="0"/>
          </a:p>
        </p:txBody>
      </p:sp>
      <p:sp>
        <p:nvSpPr>
          <p:cNvPr id="120" name="Shape 118"/>
          <p:cNvSpPr/>
          <p:nvPr/>
        </p:nvSpPr>
        <p:spPr>
          <a:xfrm>
            <a:off x="457200" y="4261104"/>
            <a:ext cx="11274552" cy="310896"/>
          </a:xfrm>
          <a:prstGeom prst="roundRect">
            <a:avLst>
              <a:gd name="adj" fmla="val 17647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03504" y="4315968"/>
            <a:ext cx="713232" cy="201168"/>
          </a:xfrm>
          <a:prstGeom prst="roundRect">
            <a:avLst>
              <a:gd name="adj" fmla="val 54545"/>
            </a:avLst>
          </a:prstGeom>
          <a:solidFill>
            <a:srgbClr val="19A89D"/>
          </a:solidFill>
          <a:ln w="12700">
            <a:solidFill>
              <a:srgbClr val="19A89D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03504" y="431596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终态合并</a:t>
            </a:r>
            <a:endParaRPr lang="en-US" sz="830" dirty="0"/>
          </a:p>
        </p:txBody>
      </p:sp>
      <p:sp>
        <p:nvSpPr>
          <p:cNvPr id="123" name="Text 121"/>
          <p:cNvSpPr/>
          <p:nvPr/>
        </p:nvSpPr>
        <p:spPr>
          <a:xfrm>
            <a:off x="1444752" y="4288536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Stage 1/2/3 结果按文档聚合</a:t>
            </a:r>
            <a:endParaRPr lang="en-US" sz="930" dirty="0"/>
          </a:p>
        </p:txBody>
      </p:sp>
      <p:sp>
        <p:nvSpPr>
          <p:cNvPr id="124" name="Shape 122"/>
          <p:cNvSpPr/>
          <p:nvPr/>
        </p:nvSpPr>
        <p:spPr>
          <a:xfrm>
            <a:off x="3584448" y="4416552"/>
            <a:ext cx="640080" cy="0"/>
          </a:xfrm>
          <a:prstGeom prst="line">
            <a:avLst/>
          </a:prstGeom>
          <a:noFill/>
          <a:ln w="19050">
            <a:solidFill>
              <a:srgbClr val="8EA8B7"/>
            </a:solidFill>
            <a:prstDash val="solid"/>
            <a:tailEnd type="triangle"/>
          </a:ln>
        </p:spPr>
      </p:sp>
      <p:sp>
        <p:nvSpPr>
          <p:cNvPr id="125" name="Shape 123"/>
          <p:cNvSpPr/>
          <p:nvPr/>
        </p:nvSpPr>
        <p:spPr>
          <a:xfrm>
            <a:off x="4352544" y="4315968"/>
            <a:ext cx="932688" cy="201168"/>
          </a:xfrm>
          <a:prstGeom prst="roundRect">
            <a:avLst>
              <a:gd name="adj" fmla="val 54545"/>
            </a:avLst>
          </a:prstGeom>
          <a:solidFill>
            <a:srgbClr val="36A269"/>
          </a:solidFill>
          <a:ln w="12700">
            <a:solidFill>
              <a:srgbClr val="36A269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352544" y="431596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HAS_SEAL</a:t>
            </a:r>
            <a:endParaRPr lang="en-US" sz="810" dirty="0"/>
          </a:p>
        </p:txBody>
      </p:sp>
      <p:sp>
        <p:nvSpPr>
          <p:cNvPr id="127" name="Shape 125"/>
          <p:cNvSpPr/>
          <p:nvPr/>
        </p:nvSpPr>
        <p:spPr>
          <a:xfrm>
            <a:off x="5404104" y="4315968"/>
            <a:ext cx="932688" cy="201168"/>
          </a:xfrm>
          <a:prstGeom prst="roundRect">
            <a:avLst>
              <a:gd name="adj" fmla="val 54545"/>
            </a:avLst>
          </a:prstGeom>
          <a:solidFill>
            <a:srgbClr val="687A86"/>
          </a:solidFill>
          <a:ln w="12700">
            <a:solidFill>
              <a:srgbClr val="687A86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404104" y="431596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NO_SEAL</a:t>
            </a:r>
            <a:endParaRPr lang="en-US" sz="810" dirty="0"/>
          </a:p>
        </p:txBody>
      </p:sp>
      <p:sp>
        <p:nvSpPr>
          <p:cNvPr id="129" name="Shape 127"/>
          <p:cNvSpPr/>
          <p:nvPr/>
        </p:nvSpPr>
        <p:spPr>
          <a:xfrm>
            <a:off x="6455664" y="4315968"/>
            <a:ext cx="932688" cy="201168"/>
          </a:xfrm>
          <a:prstGeom prst="roundRect">
            <a:avLst>
              <a:gd name="adj" fmla="val 54545"/>
            </a:avLst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455664" y="431596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UNSURE</a:t>
            </a:r>
            <a:endParaRPr lang="en-US" sz="810" dirty="0"/>
          </a:p>
        </p:txBody>
      </p:sp>
      <p:sp>
        <p:nvSpPr>
          <p:cNvPr id="131" name="Shape 129"/>
          <p:cNvSpPr/>
          <p:nvPr/>
        </p:nvSpPr>
        <p:spPr>
          <a:xfrm>
            <a:off x="7525512" y="4416552"/>
            <a:ext cx="640080" cy="0"/>
          </a:xfrm>
          <a:prstGeom prst="line">
            <a:avLst/>
          </a:prstGeom>
          <a:noFill/>
          <a:ln w="19050">
            <a:solidFill>
              <a:srgbClr val="8EA8B7"/>
            </a:solidFill>
            <a:prstDash val="solid"/>
            <a:tailEnd type="triangle"/>
          </a:ln>
        </p:spPr>
      </p:sp>
      <p:sp>
        <p:nvSpPr>
          <p:cNvPr id="132" name="Shape 130"/>
          <p:cNvSpPr/>
          <p:nvPr/>
        </p:nvSpPr>
        <p:spPr>
          <a:xfrm>
            <a:off x="8293608" y="4315968"/>
            <a:ext cx="713232" cy="201168"/>
          </a:xfrm>
          <a:prstGeom prst="roundRect">
            <a:avLst>
              <a:gd name="adj" fmla="val 54545"/>
            </a:avLst>
          </a:prstGeom>
          <a:solidFill>
            <a:srgbClr val="C95454"/>
          </a:solidFill>
          <a:ln w="12700">
            <a:solidFill>
              <a:srgbClr val="C9545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293608" y="431596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人工闭环</a:t>
            </a:r>
            <a:endParaRPr lang="en-US" sz="830" dirty="0"/>
          </a:p>
        </p:txBody>
      </p:sp>
      <p:sp>
        <p:nvSpPr>
          <p:cNvPr id="134" name="Text 132"/>
          <p:cNvSpPr/>
          <p:nvPr/>
        </p:nvSpPr>
        <p:spPr>
          <a:xfrm>
            <a:off x="9134856" y="42885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review_server 人工审核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457200" y="4718304"/>
            <a:ext cx="7699248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0160">
            <a:solidFill>
              <a:srgbClr val="D9E1E5"/>
            </a:solidFill>
            <a:prstDash val="solid"/>
          </a:ln>
          <a:effectLst>
            <a:outerShdw sx="100000" sy="100000" kx="0" ky="0" algn="bl" rotWithShape="0" blurRad="31750" dist="12700" dir="2700000">
              <a:srgbClr val="82909A">
                <a:alpha val="14000"/>
              </a:srgbClr>
            </a:outerShdw>
          </a:effectLst>
        </p:spPr>
      </p:sp>
      <p:sp>
        <p:nvSpPr>
          <p:cNvPr id="136" name="Shape 134"/>
          <p:cNvSpPr/>
          <p:nvPr/>
        </p:nvSpPr>
        <p:spPr>
          <a:xfrm>
            <a:off x="612648" y="4882896"/>
            <a:ext cx="841248" cy="237744"/>
          </a:xfrm>
          <a:prstGeom prst="roundRect">
            <a:avLst>
              <a:gd name="adj" fmla="val 46154"/>
            </a:avLst>
          </a:prstGeom>
          <a:solidFill>
            <a:srgbClr val="0E8A80"/>
          </a:solidFill>
          <a:ln w="12700">
            <a:solidFill>
              <a:srgbClr val="0E8A8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12648" y="488289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classify_v5</a:t>
            </a:r>
            <a:endParaRPr lang="en-US" sz="880" dirty="0"/>
          </a:p>
        </p:txBody>
      </p:sp>
      <p:sp>
        <p:nvSpPr>
          <p:cNvPr id="138" name="Text 136"/>
          <p:cNvSpPr/>
          <p:nvPr/>
        </p:nvSpPr>
        <p:spPr>
          <a:xfrm>
            <a:off x="1591056" y="48463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三分类阈值规则</a:t>
            </a:r>
            <a:endParaRPr lang="en-US" sz="1500" dirty="0"/>
          </a:p>
        </p:txBody>
      </p:sp>
      <p:sp>
        <p:nvSpPr>
          <p:cNvPr id="139" name="Text 137"/>
          <p:cNvSpPr/>
          <p:nvPr/>
        </p:nvSpPr>
        <p:spPr>
          <a:xfrm>
            <a:off x="4224528" y="4882896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不是多数投票，而是按分数区间组织模型协同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12648" y="5230368"/>
            <a:ext cx="7388352" cy="187452"/>
          </a:xfrm>
          <a:prstGeom prst="roundRect">
            <a:avLst>
              <a:gd name="adj" fmla="val 9756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22376" y="5230368"/>
            <a:ext cx="3383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V2 ≥ 0.25  或  L ≥ 0.25</a:t>
            </a:r>
            <a:endParaRPr lang="en-US" sz="825" dirty="0"/>
          </a:p>
        </p:txBody>
      </p:sp>
      <p:sp>
        <p:nvSpPr>
          <p:cNvPr id="142" name="Shape 140"/>
          <p:cNvSpPr/>
          <p:nvPr/>
        </p:nvSpPr>
        <p:spPr>
          <a:xfrm>
            <a:off x="4178808" y="5246827"/>
            <a:ext cx="850392" cy="155448"/>
          </a:xfrm>
          <a:prstGeom prst="roundRect">
            <a:avLst>
              <a:gd name="adj" fmla="val 70588"/>
            </a:avLst>
          </a:prstGeom>
          <a:solidFill>
            <a:srgbClr val="E2F2E9"/>
          </a:solidFill>
          <a:ln w="12700">
            <a:solidFill>
              <a:srgbClr val="E2F2E9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178808" y="5246827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6A2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HAS_SEAL</a:t>
            </a:r>
            <a:endParaRPr lang="en-US" sz="740" dirty="0"/>
          </a:p>
        </p:txBody>
      </p:sp>
      <p:sp>
        <p:nvSpPr>
          <p:cNvPr id="144" name="Text 142"/>
          <p:cNvSpPr/>
          <p:nvPr/>
        </p:nvSpPr>
        <p:spPr>
          <a:xfrm>
            <a:off x="5166360" y="5230368"/>
            <a:ext cx="267004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layout 高分直接终结，无需其他模型</a:t>
            </a:r>
            <a:endParaRPr lang="en-US" sz="810" dirty="0"/>
          </a:p>
        </p:txBody>
      </p:sp>
      <p:sp>
        <p:nvSpPr>
          <p:cNvPr id="145" name="Shape 143"/>
          <p:cNvSpPr/>
          <p:nvPr/>
        </p:nvSpPr>
        <p:spPr>
          <a:xfrm>
            <a:off x="612648" y="5436108"/>
            <a:ext cx="7388352" cy="187452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22376" y="5436108"/>
            <a:ext cx="3383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V2 / L ≥ 0.12  + det / geom 确认 或强 blob</a:t>
            </a:r>
            <a:endParaRPr lang="en-US" sz="825" dirty="0"/>
          </a:p>
        </p:txBody>
      </p:sp>
      <p:sp>
        <p:nvSpPr>
          <p:cNvPr id="147" name="Shape 145"/>
          <p:cNvSpPr/>
          <p:nvPr/>
        </p:nvSpPr>
        <p:spPr>
          <a:xfrm>
            <a:off x="4178808" y="5452567"/>
            <a:ext cx="850392" cy="155448"/>
          </a:xfrm>
          <a:prstGeom prst="roundRect">
            <a:avLst>
              <a:gd name="adj" fmla="val 70588"/>
            </a:avLst>
          </a:prstGeom>
          <a:solidFill>
            <a:srgbClr val="E2F2E9"/>
          </a:solidFill>
          <a:ln w="12700">
            <a:solidFill>
              <a:srgbClr val="E2F2E9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4178808" y="5452567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6A2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HAS_SEAL</a:t>
            </a:r>
            <a:endParaRPr lang="en-US" sz="740" dirty="0"/>
          </a:p>
        </p:txBody>
      </p:sp>
      <p:sp>
        <p:nvSpPr>
          <p:cNvPr id="149" name="Text 147"/>
          <p:cNvSpPr/>
          <p:nvPr/>
        </p:nvSpPr>
        <p:spPr>
          <a:xfrm>
            <a:off x="5166360" y="5436108"/>
            <a:ext cx="267004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中分区间需辅助特征确认</a:t>
            </a:r>
            <a:endParaRPr lang="en-US" sz="810" dirty="0"/>
          </a:p>
        </p:txBody>
      </p:sp>
      <p:sp>
        <p:nvSpPr>
          <p:cNvPr id="150" name="Shape 148"/>
          <p:cNvSpPr/>
          <p:nvPr/>
        </p:nvSpPr>
        <p:spPr>
          <a:xfrm>
            <a:off x="612648" y="5641848"/>
            <a:ext cx="7388352" cy="187452"/>
          </a:xfrm>
          <a:prstGeom prst="roundRect">
            <a:avLst>
              <a:gd name="adj" fmla="val 9756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722376" y="5641848"/>
            <a:ext cx="3383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V2 / L &lt; 0.15  + det 全否决 + 无 blob</a:t>
            </a:r>
            <a:endParaRPr lang="en-US" sz="825" dirty="0"/>
          </a:p>
        </p:txBody>
      </p:sp>
      <p:sp>
        <p:nvSpPr>
          <p:cNvPr id="152" name="Shape 150"/>
          <p:cNvSpPr/>
          <p:nvPr/>
        </p:nvSpPr>
        <p:spPr>
          <a:xfrm>
            <a:off x="4178808" y="5658307"/>
            <a:ext cx="850392" cy="155448"/>
          </a:xfrm>
          <a:prstGeom prst="roundRect">
            <a:avLst>
              <a:gd name="adj" fmla="val 70588"/>
            </a:avLst>
          </a:prstGeom>
          <a:solidFill>
            <a:srgbClr val="EDF1F3"/>
          </a:solidFill>
          <a:ln w="12700">
            <a:solidFill>
              <a:srgbClr val="EDF1F3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178808" y="5658307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NO_SEAL</a:t>
            </a:r>
            <a:endParaRPr lang="en-US" sz="740" dirty="0"/>
          </a:p>
        </p:txBody>
      </p:sp>
      <p:sp>
        <p:nvSpPr>
          <p:cNvPr id="154" name="Text 152"/>
          <p:cNvSpPr/>
          <p:nvPr/>
        </p:nvSpPr>
        <p:spPr>
          <a:xfrm>
            <a:off x="5166360" y="5641848"/>
            <a:ext cx="267004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多路信号一致否决，确信无印章</a:t>
            </a:r>
            <a:endParaRPr lang="en-US" sz="810" dirty="0"/>
          </a:p>
        </p:txBody>
      </p:sp>
      <p:sp>
        <p:nvSpPr>
          <p:cNvPr id="155" name="Shape 153"/>
          <p:cNvSpPr/>
          <p:nvPr/>
        </p:nvSpPr>
        <p:spPr>
          <a:xfrm>
            <a:off x="612648" y="5847588"/>
            <a:ext cx="7388352" cy="187452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722376" y="5847588"/>
            <a:ext cx="3383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V2 / L &lt; 0.15  + 无强辅助特征</a:t>
            </a:r>
            <a:endParaRPr lang="en-US" sz="825" dirty="0"/>
          </a:p>
        </p:txBody>
      </p:sp>
      <p:sp>
        <p:nvSpPr>
          <p:cNvPr id="157" name="Shape 155"/>
          <p:cNvSpPr/>
          <p:nvPr/>
        </p:nvSpPr>
        <p:spPr>
          <a:xfrm>
            <a:off x="4178808" y="5864047"/>
            <a:ext cx="850392" cy="155448"/>
          </a:xfrm>
          <a:prstGeom prst="roundRect">
            <a:avLst>
              <a:gd name="adj" fmla="val 70588"/>
            </a:avLst>
          </a:prstGeom>
          <a:solidFill>
            <a:srgbClr val="EDF1F3"/>
          </a:solidFill>
          <a:ln w="12700">
            <a:solidFill>
              <a:srgbClr val="EDF1F3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178808" y="5864047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NO_SEAL</a:t>
            </a:r>
            <a:endParaRPr lang="en-US" sz="740" dirty="0"/>
          </a:p>
        </p:txBody>
      </p:sp>
      <p:sp>
        <p:nvSpPr>
          <p:cNvPr id="159" name="Text 157"/>
          <p:cNvSpPr/>
          <p:nvPr/>
        </p:nvSpPr>
        <p:spPr>
          <a:xfrm>
            <a:off x="5166360" y="5847588"/>
            <a:ext cx="267004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低分软否决</a:t>
            </a:r>
            <a:endParaRPr lang="en-US" sz="810" dirty="0"/>
          </a:p>
        </p:txBody>
      </p:sp>
      <p:sp>
        <p:nvSpPr>
          <p:cNvPr id="160" name="Shape 158"/>
          <p:cNvSpPr/>
          <p:nvPr/>
        </p:nvSpPr>
        <p:spPr>
          <a:xfrm>
            <a:off x="612648" y="6053328"/>
            <a:ext cx="7388352" cy="187452"/>
          </a:xfrm>
          <a:prstGeom prst="roundRect">
            <a:avLst>
              <a:gd name="adj" fmla="val 9756"/>
            </a:avLst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722376" y="6053328"/>
            <a:ext cx="3383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2031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其他组合</a:t>
            </a:r>
            <a:endParaRPr lang="en-US" sz="825" dirty="0"/>
          </a:p>
        </p:txBody>
      </p:sp>
      <p:sp>
        <p:nvSpPr>
          <p:cNvPr id="162" name="Shape 160"/>
          <p:cNvSpPr/>
          <p:nvPr/>
        </p:nvSpPr>
        <p:spPr>
          <a:xfrm>
            <a:off x="4178808" y="6069787"/>
            <a:ext cx="850392" cy="155448"/>
          </a:xfrm>
          <a:prstGeom prst="roundRect">
            <a:avLst>
              <a:gd name="adj" fmla="val 70588"/>
            </a:avLst>
          </a:prstGeom>
          <a:solidFill>
            <a:srgbClr val="FBE9D8"/>
          </a:solidFill>
          <a:ln w="12700">
            <a:solidFill>
              <a:srgbClr val="FBE9D8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178808" y="6069787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88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UNSURE</a:t>
            </a:r>
            <a:endParaRPr lang="en-US" sz="740" dirty="0"/>
          </a:p>
        </p:txBody>
      </p:sp>
      <p:sp>
        <p:nvSpPr>
          <p:cNvPr id="164" name="Text 162"/>
          <p:cNvSpPr/>
          <p:nvPr/>
        </p:nvSpPr>
        <p:spPr>
          <a:xfrm>
            <a:off x="5166360" y="6053328"/>
            <a:ext cx="267004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不确定样本升级至 Stage 2 / 3</a:t>
            </a:r>
            <a:endParaRPr lang="en-US" sz="810" dirty="0"/>
          </a:p>
        </p:txBody>
      </p:sp>
      <p:sp>
        <p:nvSpPr>
          <p:cNvPr id="165" name="Shape 163"/>
          <p:cNvSpPr/>
          <p:nvPr/>
        </p:nvSpPr>
        <p:spPr>
          <a:xfrm>
            <a:off x="8321040" y="4718304"/>
            <a:ext cx="3410712" cy="1627632"/>
          </a:xfrm>
          <a:prstGeom prst="roundRect">
            <a:avLst>
              <a:gd name="adj" fmla="val 5056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  <a:effectLst>
            <a:outerShdw sx="100000" sy="100000" kx="0" ky="0" algn="bl" rotWithShape="0" blurRad="31750" dist="12700" dir="2700000">
              <a:srgbClr val="82909A">
                <a:alpha val="14000"/>
              </a:srgbClr>
            </a:outerShdw>
          </a:effectLst>
        </p:spPr>
      </p:sp>
      <p:sp>
        <p:nvSpPr>
          <p:cNvPr id="166" name="Shape 164"/>
          <p:cNvSpPr/>
          <p:nvPr/>
        </p:nvSpPr>
        <p:spPr>
          <a:xfrm>
            <a:off x="8485632" y="4882896"/>
            <a:ext cx="841248" cy="237744"/>
          </a:xfrm>
          <a:prstGeom prst="roundRect">
            <a:avLst>
              <a:gd name="adj" fmla="val 46154"/>
            </a:avLst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8485632" y="488289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工作与思考</a:t>
            </a:r>
            <a:endParaRPr lang="en-US" sz="860" dirty="0"/>
          </a:p>
        </p:txBody>
      </p:sp>
      <p:sp>
        <p:nvSpPr>
          <p:cNvPr id="168" name="Text 166"/>
          <p:cNvSpPr/>
          <p:nvPr/>
        </p:nvSpPr>
        <p:spPr>
          <a:xfrm>
            <a:off x="9482328" y="481888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数百种组合</a:t>
            </a:r>
            <a:endParaRPr lang="en-US" sz="1950" dirty="0"/>
          </a:p>
        </p:txBody>
      </p:sp>
      <p:sp>
        <p:nvSpPr>
          <p:cNvPr id="169" name="Text 167"/>
          <p:cNvSpPr/>
          <p:nvPr/>
        </p:nvSpPr>
        <p:spPr>
          <a:xfrm>
            <a:off x="9482328" y="513892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BFD0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阈值 × 模型信号实验筛选</a:t>
            </a:r>
            <a:endParaRPr lang="en-US" sz="850" dirty="0"/>
          </a:p>
        </p:txBody>
      </p:sp>
      <p:sp>
        <p:nvSpPr>
          <p:cNvPr id="170" name="Shape 168"/>
          <p:cNvSpPr/>
          <p:nvPr/>
        </p:nvSpPr>
        <p:spPr>
          <a:xfrm>
            <a:off x="8485632" y="5440680"/>
            <a:ext cx="274320" cy="182880"/>
          </a:xfrm>
          <a:prstGeom prst="roundRect">
            <a:avLst>
              <a:gd name="adj" fmla="val 60000"/>
            </a:avLst>
          </a:prstGeom>
          <a:solidFill>
            <a:srgbClr val="0E8A80"/>
          </a:solidFill>
          <a:ln w="12700">
            <a:solidFill>
              <a:srgbClr val="0E8A8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8485632" y="54406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750" dirty="0"/>
          </a:p>
        </p:txBody>
      </p:sp>
      <p:sp>
        <p:nvSpPr>
          <p:cNvPr id="172" name="Text 170"/>
          <p:cNvSpPr/>
          <p:nvPr/>
        </p:nvSpPr>
        <p:spPr>
          <a:xfrm>
            <a:off x="8842248" y="54132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高分直判</a:t>
            </a:r>
            <a:endParaRPr lang="en-US" sz="870" dirty="0"/>
          </a:p>
        </p:txBody>
      </p:sp>
      <p:sp>
        <p:nvSpPr>
          <p:cNvPr id="173" name="Text 171"/>
          <p:cNvSpPr/>
          <p:nvPr/>
        </p:nvSpPr>
        <p:spPr>
          <a:xfrm>
            <a:off x="8842248" y="5586984"/>
            <a:ext cx="1060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FD0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减少后续模型与 VLM 成本</a:t>
            </a:r>
            <a:endParaRPr lang="en-US" sz="730" dirty="0"/>
          </a:p>
        </p:txBody>
      </p:sp>
      <p:sp>
        <p:nvSpPr>
          <p:cNvPr id="174" name="Shape 172"/>
          <p:cNvSpPr/>
          <p:nvPr/>
        </p:nvSpPr>
        <p:spPr>
          <a:xfrm>
            <a:off x="10021824" y="5440680"/>
            <a:ext cx="274320" cy="182880"/>
          </a:xfrm>
          <a:prstGeom prst="roundRect">
            <a:avLst>
              <a:gd name="adj" fmla="val 60000"/>
            </a:avLst>
          </a:prstGeom>
          <a:solidFill>
            <a:srgbClr val="0E8A80"/>
          </a:solidFill>
          <a:ln w="12700">
            <a:solidFill>
              <a:srgbClr val="0E8A8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021824" y="54406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750" dirty="0"/>
          </a:p>
        </p:txBody>
      </p:sp>
      <p:sp>
        <p:nvSpPr>
          <p:cNvPr id="176" name="Text 174"/>
          <p:cNvSpPr/>
          <p:nvPr/>
        </p:nvSpPr>
        <p:spPr>
          <a:xfrm>
            <a:off x="10378440" y="54132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中分互证</a:t>
            </a:r>
            <a:endParaRPr lang="en-US" sz="870" dirty="0"/>
          </a:p>
        </p:txBody>
      </p:sp>
      <p:sp>
        <p:nvSpPr>
          <p:cNvPr id="177" name="Text 175"/>
          <p:cNvSpPr/>
          <p:nvPr/>
        </p:nvSpPr>
        <p:spPr>
          <a:xfrm>
            <a:off x="10378440" y="5586984"/>
            <a:ext cx="1060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FD0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layout 与 det / blob 交叉确认</a:t>
            </a:r>
            <a:endParaRPr lang="en-US" sz="730" dirty="0"/>
          </a:p>
        </p:txBody>
      </p:sp>
      <p:sp>
        <p:nvSpPr>
          <p:cNvPr id="178" name="Shape 176"/>
          <p:cNvSpPr/>
          <p:nvPr/>
        </p:nvSpPr>
        <p:spPr>
          <a:xfrm>
            <a:off x="8485632" y="5833872"/>
            <a:ext cx="274320" cy="182880"/>
          </a:xfrm>
          <a:prstGeom prst="roundRect">
            <a:avLst>
              <a:gd name="adj" fmla="val 60000"/>
            </a:avLst>
          </a:prstGeom>
          <a:solidFill>
            <a:srgbClr val="0E8A80"/>
          </a:solidFill>
          <a:ln w="12700">
            <a:solidFill>
              <a:srgbClr val="0E8A8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8485632" y="58338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750" dirty="0"/>
          </a:p>
        </p:txBody>
      </p:sp>
      <p:sp>
        <p:nvSpPr>
          <p:cNvPr id="180" name="Text 178"/>
          <p:cNvSpPr/>
          <p:nvPr/>
        </p:nvSpPr>
        <p:spPr>
          <a:xfrm>
            <a:off x="8842248" y="58064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边界升级</a:t>
            </a:r>
            <a:endParaRPr lang="en-US" sz="870" dirty="0"/>
          </a:p>
        </p:txBody>
      </p:sp>
      <p:sp>
        <p:nvSpPr>
          <p:cNvPr id="181" name="Text 179"/>
          <p:cNvSpPr/>
          <p:nvPr/>
        </p:nvSpPr>
        <p:spPr>
          <a:xfrm>
            <a:off x="8842248" y="5980176"/>
            <a:ext cx="1060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FD0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不确定样本进入切块和 VLM</a:t>
            </a:r>
            <a:endParaRPr lang="en-US" sz="730" dirty="0"/>
          </a:p>
        </p:txBody>
      </p:sp>
      <p:sp>
        <p:nvSpPr>
          <p:cNvPr id="182" name="Shape 180"/>
          <p:cNvSpPr/>
          <p:nvPr/>
        </p:nvSpPr>
        <p:spPr>
          <a:xfrm>
            <a:off x="10021824" y="5833872"/>
            <a:ext cx="274320" cy="182880"/>
          </a:xfrm>
          <a:prstGeom prst="roundRect">
            <a:avLst>
              <a:gd name="adj" fmla="val 60000"/>
            </a:avLst>
          </a:prstGeom>
          <a:solidFill>
            <a:srgbClr val="0E8A80"/>
          </a:solidFill>
          <a:ln w="12700">
            <a:solidFill>
              <a:srgbClr val="0E8A8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10021824" y="58338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750" dirty="0"/>
          </a:p>
        </p:txBody>
      </p:sp>
      <p:sp>
        <p:nvSpPr>
          <p:cNvPr id="184" name="Text 182"/>
          <p:cNvSpPr/>
          <p:nvPr/>
        </p:nvSpPr>
        <p:spPr>
          <a:xfrm>
            <a:off x="10378440" y="58064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第四路信号</a:t>
            </a:r>
            <a:endParaRPr lang="en-US" sz="870" dirty="0"/>
          </a:p>
        </p:txBody>
      </p:sp>
      <p:sp>
        <p:nvSpPr>
          <p:cNvPr id="185" name="Text 183"/>
          <p:cNvSpPr/>
          <p:nvPr/>
        </p:nvSpPr>
        <p:spPr>
          <a:xfrm>
            <a:off x="10378440" y="5980176"/>
            <a:ext cx="1060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BFD0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 blob 提升彩色印章召回</a:t>
            </a:r>
            <a:endParaRPr lang="en-US" sz="730" dirty="0"/>
          </a:p>
        </p:txBody>
      </p:sp>
      <p:sp>
        <p:nvSpPr>
          <p:cNvPr id="186" name="Text 184"/>
          <p:cNvSpPr/>
          <p:nvPr/>
        </p:nvSpPr>
        <p:spPr>
          <a:xfrm>
            <a:off x="8494776" y="6153912"/>
            <a:ext cx="3044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i="1" dirty="0">
                <a:solidFill>
                  <a:srgbClr val="D7E4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 blob：纯 OpenCV HSV，对红 / 蓝 / 黄印章召回高；黑白印章不适用。</a:t>
            </a:r>
            <a:endParaRPr lang="en-US" sz="770" dirty="0"/>
          </a:p>
        </p:txBody>
      </p:sp>
      <p:sp>
        <p:nvSpPr>
          <p:cNvPr id="187" name="Text 185"/>
          <p:cNvSpPr/>
          <p:nvPr/>
        </p:nvSpPr>
        <p:spPr>
          <a:xfrm>
            <a:off x="475488" y="6547104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77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流程组件：seal_classify_online · run_0804 S2 · run_vlm_unsure_0804_v2 · review_server</a:t>
            </a:r>
            <a:endParaRPr lang="en-US" sz="800" dirty="0"/>
          </a:p>
        </p:txBody>
      </p:sp>
      <p:sp>
        <p:nvSpPr>
          <p:cNvPr id="188" name="Text 186"/>
          <p:cNvSpPr/>
          <p:nvPr/>
        </p:nvSpPr>
        <p:spPr>
          <a:xfrm>
            <a:off x="9171432" y="6547104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7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三模型协同 + CV 辅助 + VLM 兜底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财付通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印章检测三阶段协同方案</dc:title>
  <dc:subject>多模型印章检测三阶段协同流程与分类阈值规则</dc:subject>
  <dc:creator>印章检测项目</dc:creator>
  <cp:lastModifiedBy>印章检测项目</cp:lastModifiedBy>
  <cp:revision>1</cp:revision>
  <dcterms:created xsi:type="dcterms:W3CDTF">2026-08-18T10:00:40Z</dcterms:created>
  <dcterms:modified xsi:type="dcterms:W3CDTF">2026-08-18T10:00:40Z</dcterms:modified>
</cp:coreProperties>
</file>