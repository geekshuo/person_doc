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2612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75488" y="15544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文书类型识别｜从 OCR 流水线到 Bad Case 闭环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93776" y="5760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C8D7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白名单优先保障性能，VL 兜底覆盖困难样本，人工反馈持续反哺规则</a:t>
            </a:r>
            <a:endParaRPr lang="en-US" sz="1070" dirty="0"/>
          </a:p>
        </p:txBody>
      </p:sp>
      <p:sp>
        <p:nvSpPr>
          <p:cNvPr id="5" name="Shape 3"/>
          <p:cNvSpPr/>
          <p:nvPr/>
        </p:nvSpPr>
        <p:spPr>
          <a:xfrm>
            <a:off x="8375904" y="201168"/>
            <a:ext cx="1024128" cy="283464"/>
          </a:xfrm>
          <a:prstGeom prst="roundRect">
            <a:avLst>
              <a:gd name="adj" fmla="val 38710"/>
            </a:avLst>
          </a:prstGeom>
          <a:solidFill>
            <a:srgbClr val="19A89D"/>
          </a:solidFill>
          <a:ln w="12700">
            <a:solidFill>
              <a:srgbClr val="19A89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375904" y="201168"/>
            <a:ext cx="10241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 类白名单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9509760" y="201168"/>
            <a:ext cx="1234440" cy="283464"/>
          </a:xfrm>
          <a:prstGeom prst="roundRect">
            <a:avLst>
              <a:gd name="adj" fmla="val 38710"/>
            </a:avLst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509760" y="201168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OCR ≈269ms / 条</a:t>
            </a:r>
            <a:endParaRPr lang="en-US" sz="910" dirty="0"/>
          </a:p>
        </p:txBody>
      </p:sp>
      <p:sp>
        <p:nvSpPr>
          <p:cNvPr id="9" name="Shape 7"/>
          <p:cNvSpPr/>
          <p:nvPr/>
        </p:nvSpPr>
        <p:spPr>
          <a:xfrm>
            <a:off x="10853928" y="201168"/>
            <a:ext cx="914400" cy="283464"/>
          </a:xfrm>
          <a:prstGeom prst="roundRect">
            <a:avLst>
              <a:gd name="adj" fmla="val 38710"/>
            </a:avLst>
          </a:prstGeom>
          <a:solidFill>
            <a:srgbClr val="7563A8"/>
          </a:solidFill>
          <a:ln w="12700">
            <a:solidFill>
              <a:srgbClr val="7563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0853928" y="201168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VL </a:t>
            </a:r>
            <a:r>
              <a:rPr lang="en-US" sz="880" b="1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≈1.26s </a:t>
            </a:r>
            <a:r>
              <a:rPr lang="en-US" sz="8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 条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7818120" y="5943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dirty="0">
                <a:solidFill>
                  <a:srgbClr val="D9E5E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核心工作：围绕真实 Bad Case 完善预处理、归一化、容错与匹配策略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75488" y="1078992"/>
            <a:ext cx="822960" cy="246888"/>
          </a:xfrm>
          <a:prstGeom prst="roundRect">
            <a:avLst>
              <a:gd name="adj" fmla="val 44444"/>
            </a:avLst>
          </a:prstGeom>
          <a:solidFill>
            <a:srgbClr val="0E8A80"/>
          </a:solidFill>
          <a:ln w="12700">
            <a:solidFill>
              <a:srgbClr val="0E8A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75488" y="107899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处理流水线</a:t>
            </a:r>
            <a:endParaRPr lang="en-US" sz="890" dirty="0"/>
          </a:p>
        </p:txBody>
      </p:sp>
      <p:sp>
        <p:nvSpPr>
          <p:cNvPr id="14" name="Text 12"/>
          <p:cNvSpPr/>
          <p:nvPr/>
        </p:nvSpPr>
        <p:spPr>
          <a:xfrm>
            <a:off x="1435608" y="10515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快速路径解决大多数样本，困难样本升级到 VL 与人工审核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475488" y="1444752"/>
            <a:ext cx="1133856" cy="1197864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D9E1E5"/>
            </a:solidFill>
            <a:prstDash val="solid"/>
          </a:ln>
          <a:effectLst>
            <a:outerShdw blurRad="31750" dist="12700" dir="2700000" algn="bl" rotWithShape="0">
              <a:srgbClr val="82909A">
                <a:alpha val="1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75488" y="1444752"/>
            <a:ext cx="1133856" cy="91440"/>
          </a:xfrm>
          <a:prstGeom prst="rect">
            <a:avLst/>
          </a:prstGeom>
          <a:solidFill>
            <a:srgbClr val="1D3B53"/>
          </a:solidFill>
          <a:ln w="12700">
            <a:solidFill>
              <a:srgbClr val="1D3B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94360" y="1618488"/>
            <a:ext cx="347472" cy="219456"/>
          </a:xfrm>
          <a:prstGeom prst="roundRect">
            <a:avLst>
              <a:gd name="adj" fmla="val 50000"/>
            </a:avLst>
          </a:prstGeom>
          <a:solidFill>
            <a:srgbClr val="E4EEF5"/>
          </a:solidFill>
          <a:ln w="12700">
            <a:solidFill>
              <a:srgbClr val="E4EE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94360" y="161848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D3B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594360" y="1883664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原始输入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594360" y="2130552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1D3B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0801.csv</a:t>
            </a:r>
            <a:endParaRPr lang="en-US" sz="790" dirty="0"/>
          </a:p>
        </p:txBody>
      </p:sp>
      <p:sp>
        <p:nvSpPr>
          <p:cNvPr id="21" name="Text 19"/>
          <p:cNvSpPr/>
          <p:nvPr/>
        </p:nvSpPr>
        <p:spPr>
          <a:xfrm>
            <a:off x="594360" y="2322576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文件路径 / 文书记录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641348" y="2039112"/>
            <a:ext cx="137160" cy="0"/>
          </a:xfrm>
          <a:prstGeom prst="line">
            <a:avLst/>
          </a:prstGeom>
          <a:noFill/>
          <a:ln w="20320">
            <a:solidFill>
              <a:srgbClr val="1D3B53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1792224" y="1444752"/>
            <a:ext cx="1408176" cy="1197864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10160">
            <a:solidFill>
              <a:srgbClr val="D9E1E5"/>
            </a:solidFill>
            <a:prstDash val="solid"/>
          </a:ln>
          <a:effectLst>
            <a:outerShdw blurRad="31750" dist="12700" dir="2700000" algn="bl" rotWithShape="0">
              <a:srgbClr val="82909A">
                <a:alpha val="1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792224" y="1444752"/>
            <a:ext cx="1408176" cy="91440"/>
          </a:xfrm>
          <a:prstGeom prst="rect">
            <a:avLst/>
          </a:prstGeom>
          <a:solidFill>
            <a:srgbClr val="0E8A80"/>
          </a:solidFill>
          <a:ln w="12700">
            <a:solidFill>
              <a:srgbClr val="0E8A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1911096" y="1618488"/>
            <a:ext cx="347472" cy="219456"/>
          </a:xfrm>
          <a:prstGeom prst="roundRect">
            <a:avLst>
              <a:gd name="adj" fmla="val 50000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911096" y="161848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E8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911096" y="1883664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文件下载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1911096" y="213055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0E8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download API</a:t>
            </a:r>
            <a:endParaRPr lang="en-US" sz="790" dirty="0"/>
          </a:p>
        </p:txBody>
      </p:sp>
      <p:sp>
        <p:nvSpPr>
          <p:cNvPr id="29" name="Text 27"/>
          <p:cNvSpPr/>
          <p:nvPr/>
        </p:nvSpPr>
        <p:spPr>
          <a:xfrm>
            <a:off x="1911096" y="2322576"/>
            <a:ext cx="11704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鉴权请求 → Base64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≈367ms / 条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32404" y="2039112"/>
            <a:ext cx="137160" cy="0"/>
          </a:xfrm>
          <a:prstGeom prst="line">
            <a:avLst/>
          </a:prstGeom>
          <a:noFill/>
          <a:ln w="20320">
            <a:solidFill>
              <a:srgbClr val="1D3B53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3383280" y="1444752"/>
            <a:ext cx="1481328" cy="1197864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10160">
            <a:solidFill>
              <a:srgbClr val="D9E1E5"/>
            </a:solidFill>
            <a:prstDash val="solid"/>
          </a:ln>
          <a:effectLst>
            <a:outerShdw blurRad="31750" dist="12700" dir="2700000" algn="bl" rotWithShape="0">
              <a:srgbClr val="82909A">
                <a:alpha val="1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3383280" y="1444752"/>
            <a:ext cx="1481328" cy="91440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3502152" y="1618488"/>
            <a:ext cx="347472" cy="219456"/>
          </a:xfrm>
          <a:prstGeom prst="roundRect">
            <a:avLst>
              <a:gd name="adj" fmla="val 50000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3502152" y="161848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9A89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3502152" y="1883664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v6 OCR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3502152" y="2130552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19A89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PP-OCRv6 medium</a:t>
            </a:r>
            <a:endParaRPr lang="en-US" sz="790" dirty="0"/>
          </a:p>
        </p:txBody>
      </p:sp>
      <p:sp>
        <p:nvSpPr>
          <p:cNvPr id="37" name="Text 35"/>
          <p:cNvSpPr/>
          <p:nvPr/>
        </p:nvSpPr>
        <p:spPr>
          <a:xfrm>
            <a:off x="3502152" y="2322576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关闭旋转检测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XPU 单 worker ≈269ms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96612" y="2039112"/>
            <a:ext cx="137160" cy="0"/>
          </a:xfrm>
          <a:prstGeom prst="line">
            <a:avLst/>
          </a:prstGeom>
          <a:noFill/>
          <a:ln w="20320">
            <a:solidFill>
              <a:srgbClr val="1D3B53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5047488" y="1444752"/>
            <a:ext cx="1901952" cy="1197864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10160">
            <a:solidFill>
              <a:srgbClr val="D9E1E5"/>
            </a:solidFill>
            <a:prstDash val="solid"/>
          </a:ln>
          <a:effectLst>
            <a:outerShdw blurRad="31750" dist="12700" dir="2700000" algn="bl" rotWithShape="0">
              <a:srgbClr val="82909A">
                <a:alpha val="1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5047488" y="1444752"/>
            <a:ext cx="1901952" cy="91440"/>
          </a:xfrm>
          <a:prstGeom prst="rect">
            <a:avLst/>
          </a:prstGeom>
          <a:solidFill>
            <a:srgbClr val="36A269"/>
          </a:solidFill>
          <a:ln w="12700">
            <a:solidFill>
              <a:srgbClr val="36A26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5166360" y="1618488"/>
            <a:ext cx="347472" cy="219456"/>
          </a:xfrm>
          <a:prstGeom prst="roundRect">
            <a:avLst>
              <a:gd name="adj" fmla="val 50000"/>
            </a:avLst>
          </a:prstGeom>
          <a:solidFill>
            <a:srgbClr val="E2F2E9"/>
          </a:solidFill>
          <a:ln w="12700">
            <a:solidFill>
              <a:srgbClr val="E2F2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5166360" y="161848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36A2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5166360" y="1883664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cls_wl 分类</a:t>
            </a:r>
            <a:endParaRPr lang="en-US" sz="1120" dirty="0"/>
          </a:p>
        </p:txBody>
      </p:sp>
      <p:sp>
        <p:nvSpPr>
          <p:cNvPr id="44" name="Text 42"/>
          <p:cNvSpPr/>
          <p:nvPr/>
        </p:nvSpPr>
        <p:spPr>
          <a:xfrm>
            <a:off x="5166360" y="213055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36A2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最长匹配优先</a:t>
            </a:r>
            <a:endParaRPr lang="en-US" sz="790" dirty="0"/>
          </a:p>
        </p:txBody>
      </p:sp>
      <p:sp>
        <p:nvSpPr>
          <p:cNvPr id="45" name="Text 43"/>
          <p:cNvSpPr/>
          <p:nvPr/>
        </p:nvSpPr>
        <p:spPr>
          <a:xfrm>
            <a:off x="5166360" y="2322576"/>
            <a:ext cx="1664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归一化 + 编辑距离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锚点顺序匹配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981444" y="2039112"/>
            <a:ext cx="137160" cy="0"/>
          </a:xfrm>
          <a:prstGeom prst="line">
            <a:avLst/>
          </a:prstGeom>
          <a:noFill/>
          <a:ln w="20320">
            <a:solidFill>
              <a:srgbClr val="1D3B53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7132320" y="1444752"/>
            <a:ext cx="1600200" cy="1197864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10160">
            <a:solidFill>
              <a:srgbClr val="D9E1E5"/>
            </a:solidFill>
            <a:prstDash val="solid"/>
          </a:ln>
          <a:effectLst>
            <a:outerShdw blurRad="31750" dist="12700" dir="2700000" algn="bl" rotWithShape="0">
              <a:srgbClr val="82909A">
                <a:alpha val="1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7132320" y="1444752"/>
            <a:ext cx="1600200" cy="91440"/>
          </a:xfrm>
          <a:prstGeom prst="rect">
            <a:avLst/>
          </a:prstGeom>
          <a:solidFill>
            <a:srgbClr val="7563A8"/>
          </a:solidFill>
          <a:ln w="12700">
            <a:solidFill>
              <a:srgbClr val="7563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7251192" y="1618488"/>
            <a:ext cx="347472" cy="219456"/>
          </a:xfrm>
          <a:prstGeom prst="roundRect">
            <a:avLst>
              <a:gd name="adj" fmla="val 50000"/>
            </a:avLst>
          </a:prstGeom>
          <a:solidFill>
            <a:srgbClr val="ECE8F5"/>
          </a:solidFill>
          <a:ln w="12700">
            <a:solidFill>
              <a:srgbClr val="ECE8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7251192" y="161848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7563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7251192" y="1883664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VL 1.6 兜底</a:t>
            </a:r>
            <a:endParaRPr lang="en-US" sz="1120" dirty="0"/>
          </a:p>
        </p:txBody>
      </p:sp>
      <p:sp>
        <p:nvSpPr>
          <p:cNvPr id="52" name="Text 50"/>
          <p:cNvSpPr/>
          <p:nvPr/>
        </p:nvSpPr>
        <p:spPr>
          <a:xfrm>
            <a:off x="7251192" y="2130552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7563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仅未命中调用</a:t>
            </a:r>
            <a:endParaRPr lang="en-US" sz="790" dirty="0"/>
          </a:p>
        </p:txBody>
      </p:sp>
      <p:sp>
        <p:nvSpPr>
          <p:cNvPr id="53" name="Text 51"/>
          <p:cNvSpPr/>
          <p:nvPr/>
        </p:nvSpPr>
        <p:spPr>
          <a:xfrm>
            <a:off x="7251192" y="2322576"/>
            <a:ext cx="1362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处理旋转 / 异常样本</a:t>
            </a:r>
            <a:endParaRPr lang="en-US" sz="800" dirty="0"/>
          </a:p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764524" y="2039112"/>
            <a:ext cx="137160" cy="0"/>
          </a:xfrm>
          <a:prstGeom prst="line">
            <a:avLst/>
          </a:prstGeom>
          <a:noFill/>
          <a:ln w="20320">
            <a:solidFill>
              <a:srgbClr val="1D3B53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8915400" y="1444752"/>
            <a:ext cx="1207008" cy="1197864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10160">
            <a:solidFill>
              <a:srgbClr val="D9E1E5"/>
            </a:solidFill>
            <a:prstDash val="solid"/>
          </a:ln>
          <a:effectLst>
            <a:outerShdw blurRad="31750" dist="12700" dir="2700000" algn="bl" rotWithShape="0">
              <a:srgbClr val="82909A">
                <a:alpha val="1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8915400" y="1444752"/>
            <a:ext cx="1207008" cy="91440"/>
          </a:xfrm>
          <a:prstGeom prst="rect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9034272" y="1618488"/>
            <a:ext cx="347472" cy="219456"/>
          </a:xfrm>
          <a:prstGeom prst="roundRect">
            <a:avLst>
              <a:gd name="adj" fmla="val 50000"/>
            </a:avLst>
          </a:prstGeom>
          <a:solidFill>
            <a:srgbClr val="FBE9D8"/>
          </a:solidFill>
          <a:ln w="12700">
            <a:solidFill>
              <a:srgbClr val="FBE9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9034272" y="161848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E88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820" dirty="0"/>
          </a:p>
        </p:txBody>
      </p:sp>
      <p:sp>
        <p:nvSpPr>
          <p:cNvPr id="59" name="Text 57"/>
          <p:cNvSpPr/>
          <p:nvPr/>
        </p:nvSpPr>
        <p:spPr>
          <a:xfrm>
            <a:off x="9034272" y="1883664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结果转换</a:t>
            </a:r>
            <a:endParaRPr lang="en-US" sz="1120" dirty="0"/>
          </a:p>
        </p:txBody>
      </p:sp>
      <p:sp>
        <p:nvSpPr>
          <p:cNvPr id="60" name="Text 58"/>
          <p:cNvSpPr/>
          <p:nvPr/>
        </p:nvSpPr>
        <p:spPr>
          <a:xfrm>
            <a:off x="9034272" y="2130552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E88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CSV</a:t>
            </a:r>
            <a:endParaRPr lang="en-US" sz="790" dirty="0"/>
          </a:p>
        </p:txBody>
      </p:sp>
      <p:sp>
        <p:nvSpPr>
          <p:cNvPr id="61" name="Text 59"/>
          <p:cNvSpPr/>
          <p:nvPr/>
        </p:nvSpPr>
        <p:spPr>
          <a:xfrm>
            <a:off x="9034272" y="2322576"/>
            <a:ext cx="9692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ocr_results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review_data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0154412" y="2039112"/>
            <a:ext cx="137160" cy="0"/>
          </a:xfrm>
          <a:prstGeom prst="line">
            <a:avLst/>
          </a:prstGeom>
          <a:noFill/>
          <a:ln w="20320">
            <a:solidFill>
              <a:srgbClr val="1D3B53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10305288" y="1444752"/>
            <a:ext cx="1417320" cy="1197864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10160">
            <a:solidFill>
              <a:srgbClr val="D9E1E5"/>
            </a:solidFill>
            <a:prstDash val="solid"/>
          </a:ln>
          <a:effectLst>
            <a:outerShdw blurRad="31750" dist="12700" dir="2700000" algn="bl" rotWithShape="0">
              <a:srgbClr val="82909A">
                <a:alpha val="1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10305288" y="1444752"/>
            <a:ext cx="1417320" cy="91440"/>
          </a:xfrm>
          <a:prstGeom prst="rect">
            <a:avLst/>
          </a:prstGeom>
          <a:solidFill>
            <a:srgbClr val="C95454"/>
          </a:solidFill>
          <a:ln w="12700">
            <a:solidFill>
              <a:srgbClr val="C954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10424160" y="1618488"/>
            <a:ext cx="347472" cy="219456"/>
          </a:xfrm>
          <a:prstGeom prst="roundRect">
            <a:avLst>
              <a:gd name="adj" fmla="val 50000"/>
            </a:avLst>
          </a:prstGeom>
          <a:solidFill>
            <a:srgbClr val="F8E4E4"/>
          </a:solidFill>
          <a:ln w="12700">
            <a:solidFill>
              <a:srgbClr val="F8E4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10424160" y="161848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95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820" dirty="0"/>
          </a:p>
        </p:txBody>
      </p:sp>
      <p:sp>
        <p:nvSpPr>
          <p:cNvPr id="67" name="Text 65"/>
          <p:cNvSpPr/>
          <p:nvPr/>
        </p:nvSpPr>
        <p:spPr>
          <a:xfrm>
            <a:off x="10424160" y="1883664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人工闭环</a:t>
            </a:r>
            <a:endParaRPr lang="en-US" sz="1120" dirty="0"/>
          </a:p>
        </p:txBody>
      </p:sp>
      <p:sp>
        <p:nvSpPr>
          <p:cNvPr id="68" name="Text 66"/>
          <p:cNvSpPr/>
          <p:nvPr/>
        </p:nvSpPr>
        <p:spPr>
          <a:xfrm>
            <a:off x="10424160" y="2130552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C95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review_server</a:t>
            </a:r>
            <a:endParaRPr lang="en-US" sz="790" dirty="0"/>
          </a:p>
        </p:txBody>
      </p:sp>
      <p:sp>
        <p:nvSpPr>
          <p:cNvPr id="69" name="Text 67"/>
          <p:cNvSpPr/>
          <p:nvPr/>
        </p:nvSpPr>
        <p:spPr>
          <a:xfrm>
            <a:off x="10424160" y="2322576"/>
            <a:ext cx="1179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 准确性｜L 类型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 备注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75488" y="2779776"/>
            <a:ext cx="1124712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E1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hape 69"/>
          <p:cNvSpPr/>
          <p:nvPr/>
        </p:nvSpPr>
        <p:spPr>
          <a:xfrm>
            <a:off x="603504" y="2852928"/>
            <a:ext cx="685800" cy="228600"/>
          </a:xfrm>
          <a:prstGeom prst="roundRect">
            <a:avLst>
              <a:gd name="adj" fmla="val 48000"/>
            </a:avLst>
          </a:prstGeom>
          <a:solidFill>
            <a:srgbClr val="FBE9D8"/>
          </a:solidFill>
          <a:ln w="12700">
            <a:solidFill>
              <a:srgbClr val="FBE9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603504" y="28529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8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关键取舍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1417320" y="2825496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关闭前置旋转检测：正常文档误判高</a:t>
            </a:r>
            <a:endParaRPr lang="en-US" sz="940" dirty="0"/>
          </a:p>
        </p:txBody>
      </p:sp>
      <p:sp>
        <p:nvSpPr>
          <p:cNvPr id="74" name="Shape 72"/>
          <p:cNvSpPr/>
          <p:nvPr/>
        </p:nvSpPr>
        <p:spPr>
          <a:xfrm>
            <a:off x="3977640" y="2971800"/>
            <a:ext cx="457200" cy="0"/>
          </a:xfrm>
          <a:prstGeom prst="line">
            <a:avLst/>
          </a:prstGeom>
          <a:noFill/>
          <a:ln w="17780">
            <a:solidFill>
              <a:srgbClr val="9AAAB4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Text 73"/>
          <p:cNvSpPr/>
          <p:nvPr/>
        </p:nvSpPr>
        <p:spPr>
          <a:xfrm>
            <a:off x="4553712" y="2825496"/>
            <a:ext cx="1965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7563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真正旋转文档由 VL 兜底</a:t>
            </a:r>
            <a:endParaRPr lang="en-US" sz="940" dirty="0"/>
          </a:p>
        </p:txBody>
      </p:sp>
      <p:sp>
        <p:nvSpPr>
          <p:cNvPr id="76" name="Text 74"/>
          <p:cNvSpPr/>
          <p:nvPr/>
        </p:nvSpPr>
        <p:spPr>
          <a:xfrm>
            <a:off x="6903720" y="2825496"/>
            <a:ext cx="2788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冻结 / 解除冻结混排统一归类，不按案号细分</a:t>
            </a:r>
            <a:endParaRPr lang="en-US" sz="940" dirty="0"/>
          </a:p>
        </p:txBody>
      </p:sp>
      <p:sp>
        <p:nvSpPr>
          <p:cNvPr id="77" name="Shape 75"/>
          <p:cNvSpPr/>
          <p:nvPr/>
        </p:nvSpPr>
        <p:spPr>
          <a:xfrm>
            <a:off x="10213848" y="2852928"/>
            <a:ext cx="1307592" cy="228600"/>
          </a:xfrm>
          <a:prstGeom prst="roundRect">
            <a:avLst>
              <a:gd name="adj" fmla="val 48000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Text 76"/>
          <p:cNvSpPr/>
          <p:nvPr/>
        </p:nvSpPr>
        <p:spPr>
          <a:xfrm>
            <a:off x="10213848" y="2852928"/>
            <a:ext cx="1307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E8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性能 × 准确率</a:t>
            </a:r>
            <a:endParaRPr lang="en-US" sz="860" dirty="0"/>
          </a:p>
        </p:txBody>
      </p:sp>
      <p:sp>
        <p:nvSpPr>
          <p:cNvPr id="79" name="Shape 77"/>
          <p:cNvSpPr/>
          <p:nvPr/>
        </p:nvSpPr>
        <p:spPr>
          <a:xfrm>
            <a:off x="475488" y="3337560"/>
            <a:ext cx="987552" cy="256032"/>
          </a:xfrm>
          <a:prstGeom prst="roundRect">
            <a:avLst>
              <a:gd name="adj" fmla="val 42857"/>
            </a:avLst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Text 78"/>
          <p:cNvSpPr/>
          <p:nvPr/>
        </p:nvSpPr>
        <p:spPr>
          <a:xfrm>
            <a:off x="475488" y="33375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Bad Case 修正</a:t>
            </a:r>
            <a:endParaRPr lang="en-US" sz="880" dirty="0"/>
          </a:p>
        </p:txBody>
      </p:sp>
      <p:sp>
        <p:nvSpPr>
          <p:cNvPr id="81" name="Text 79"/>
          <p:cNvSpPr/>
          <p:nvPr/>
        </p:nvSpPr>
        <p:spPr>
          <a:xfrm>
            <a:off x="1600200" y="3300984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从失败样本抽象通用机制，而不是逐条打补丁</a:t>
            </a:r>
            <a:endParaRPr lang="en-US" sz="1430" dirty="0"/>
          </a:p>
        </p:txBody>
      </p:sp>
      <p:sp>
        <p:nvSpPr>
          <p:cNvPr id="82" name="Text 80"/>
          <p:cNvSpPr/>
          <p:nvPr/>
        </p:nvSpPr>
        <p:spPr>
          <a:xfrm>
            <a:off x="8933688" y="3346704"/>
            <a:ext cx="27797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10" b="1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 → 根因 → 机制化修正</a:t>
            </a:r>
            <a:endParaRPr lang="en-US" sz="910" dirty="0"/>
          </a:p>
        </p:txBody>
      </p:sp>
      <p:sp>
        <p:nvSpPr>
          <p:cNvPr id="83" name="Shape 81"/>
          <p:cNvSpPr/>
          <p:nvPr/>
        </p:nvSpPr>
        <p:spPr>
          <a:xfrm>
            <a:off x="475488" y="3730752"/>
            <a:ext cx="358444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E1E5"/>
            </a:solidFill>
            <a:prstDash val="solid"/>
          </a:ln>
          <a:effectLst>
            <a:outerShdw blurRad="31750" dist="12700" dir="2700000" algn="bl" rotWithShape="0">
              <a:srgbClr val="82909A">
                <a:alpha val="1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4" name="Shape 82"/>
          <p:cNvSpPr/>
          <p:nvPr/>
        </p:nvSpPr>
        <p:spPr>
          <a:xfrm>
            <a:off x="475488" y="3730752"/>
            <a:ext cx="91440" cy="1051560"/>
          </a:xfrm>
          <a:prstGeom prst="rect">
            <a:avLst/>
          </a:prstGeom>
          <a:solidFill>
            <a:srgbClr val="1D3B53"/>
          </a:solidFill>
          <a:ln w="12700">
            <a:solidFill>
              <a:srgbClr val="1D3B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Shape 83"/>
          <p:cNvSpPr/>
          <p:nvPr/>
        </p:nvSpPr>
        <p:spPr>
          <a:xfrm>
            <a:off x="649224" y="3877056"/>
            <a:ext cx="347472" cy="219456"/>
          </a:xfrm>
          <a:prstGeom prst="roundRect">
            <a:avLst>
              <a:gd name="adj" fmla="val 50000"/>
            </a:avLst>
          </a:prstGeom>
          <a:solidFill>
            <a:srgbClr val="E4EEF5"/>
          </a:solidFill>
          <a:ln w="12700">
            <a:solidFill>
              <a:srgbClr val="E4EE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Text 84"/>
          <p:cNvSpPr/>
          <p:nvPr/>
        </p:nvSpPr>
        <p:spPr>
          <a:xfrm>
            <a:off x="649224" y="387705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D3B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20" dirty="0"/>
          </a:p>
        </p:txBody>
      </p:sp>
      <p:sp>
        <p:nvSpPr>
          <p:cNvPr id="87" name="Text 85"/>
          <p:cNvSpPr/>
          <p:nvPr/>
        </p:nvSpPr>
        <p:spPr>
          <a:xfrm>
            <a:off x="1106424" y="3840480"/>
            <a:ext cx="2798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多页 / 长宽比或图像大小异常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658368" y="4224528"/>
            <a:ext cx="320040" cy="0"/>
          </a:xfrm>
          <a:prstGeom prst="line">
            <a:avLst/>
          </a:prstGeom>
          <a:noFill/>
          <a:ln w="17780">
            <a:solidFill>
              <a:srgbClr val="1D3B53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Text 87"/>
          <p:cNvSpPr/>
          <p:nvPr/>
        </p:nvSpPr>
        <p:spPr>
          <a:xfrm>
            <a:off x="1097280" y="4151376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D3B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完善文件预处理</a:t>
            </a:r>
            <a:endParaRPr lang="en-US" sz="1020" dirty="0"/>
          </a:p>
        </p:txBody>
      </p:sp>
      <p:sp>
        <p:nvSpPr>
          <p:cNvPr id="90" name="Text 88"/>
          <p:cNvSpPr/>
          <p:nvPr/>
        </p:nvSpPr>
        <p:spPr>
          <a:xfrm>
            <a:off x="1097280" y="4398264"/>
            <a:ext cx="2807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页级渲染 · 图像切分 · 等比缩放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统一进入可推理尺寸范围</a:t>
            </a:r>
            <a:endParaRPr lang="en-US" sz="820" dirty="0"/>
          </a:p>
        </p:txBody>
      </p:sp>
      <p:sp>
        <p:nvSpPr>
          <p:cNvPr id="91" name="Shape 89"/>
          <p:cNvSpPr/>
          <p:nvPr/>
        </p:nvSpPr>
        <p:spPr>
          <a:xfrm>
            <a:off x="4215384" y="3730752"/>
            <a:ext cx="358444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E1E5"/>
            </a:solidFill>
            <a:prstDash val="solid"/>
          </a:ln>
          <a:effectLst>
            <a:outerShdw blurRad="31750" dist="12700" dir="2700000" algn="bl" rotWithShape="0">
              <a:srgbClr val="82909A">
                <a:alpha val="1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2" name="Shape 90"/>
          <p:cNvSpPr/>
          <p:nvPr/>
        </p:nvSpPr>
        <p:spPr>
          <a:xfrm>
            <a:off x="4215384" y="3730752"/>
            <a:ext cx="91440" cy="1051560"/>
          </a:xfrm>
          <a:prstGeom prst="rect">
            <a:avLst/>
          </a:prstGeom>
          <a:solidFill>
            <a:srgbClr val="0E8A80"/>
          </a:solidFill>
          <a:ln w="12700">
            <a:solidFill>
              <a:srgbClr val="0E8A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Shape 91"/>
          <p:cNvSpPr/>
          <p:nvPr/>
        </p:nvSpPr>
        <p:spPr>
          <a:xfrm>
            <a:off x="4389120" y="3877056"/>
            <a:ext cx="347472" cy="219456"/>
          </a:xfrm>
          <a:prstGeom prst="roundRect">
            <a:avLst>
              <a:gd name="adj" fmla="val 50000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Text 92"/>
          <p:cNvSpPr/>
          <p:nvPr/>
        </p:nvSpPr>
        <p:spPr>
          <a:xfrm>
            <a:off x="4389120" y="387705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E8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20" dirty="0"/>
          </a:p>
        </p:txBody>
      </p:sp>
      <p:sp>
        <p:nvSpPr>
          <p:cNvPr id="95" name="Text 93"/>
          <p:cNvSpPr/>
          <p:nvPr/>
        </p:nvSpPr>
        <p:spPr>
          <a:xfrm>
            <a:off x="4846320" y="3840480"/>
            <a:ext cx="2798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“商请→请”“的函→函”等表述差异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4398264" y="4224528"/>
            <a:ext cx="320040" cy="0"/>
          </a:xfrm>
          <a:prstGeom prst="line">
            <a:avLst/>
          </a:prstGeom>
          <a:noFill/>
          <a:ln w="17780">
            <a:solidFill>
              <a:srgbClr val="0E8A80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Text 95"/>
          <p:cNvSpPr/>
          <p:nvPr/>
        </p:nvSpPr>
        <p:spPr>
          <a:xfrm>
            <a:off x="4837176" y="4151376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E8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归一化与同义词等效</a:t>
            </a:r>
            <a:endParaRPr lang="en-US" sz="1020" dirty="0"/>
          </a:p>
        </p:txBody>
      </p:sp>
      <p:sp>
        <p:nvSpPr>
          <p:cNvPr id="98" name="Text 96"/>
          <p:cNvSpPr/>
          <p:nvPr/>
        </p:nvSpPr>
        <p:spPr>
          <a:xfrm>
            <a:off x="4837176" y="4398264"/>
            <a:ext cx="2807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繁转简 + ASCII 剥离 + 50+ 字映射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将合规文字差异收敛为同一标题</a:t>
            </a:r>
            <a:endParaRPr lang="en-US" sz="820" dirty="0"/>
          </a:p>
        </p:txBody>
      </p:sp>
      <p:sp>
        <p:nvSpPr>
          <p:cNvPr id="99" name="Shape 97"/>
          <p:cNvSpPr/>
          <p:nvPr/>
        </p:nvSpPr>
        <p:spPr>
          <a:xfrm>
            <a:off x="7955280" y="3730752"/>
            <a:ext cx="376732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E1E5"/>
            </a:solidFill>
            <a:prstDash val="solid"/>
          </a:ln>
          <a:effectLst>
            <a:outerShdw blurRad="31750" dist="12700" dir="2700000" algn="bl" rotWithShape="0">
              <a:srgbClr val="82909A">
                <a:alpha val="1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0" name="Shape 98"/>
          <p:cNvSpPr/>
          <p:nvPr/>
        </p:nvSpPr>
        <p:spPr>
          <a:xfrm>
            <a:off x="7955280" y="3730752"/>
            <a:ext cx="91440" cy="1051560"/>
          </a:xfrm>
          <a:prstGeom prst="rect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Shape 99"/>
          <p:cNvSpPr/>
          <p:nvPr/>
        </p:nvSpPr>
        <p:spPr>
          <a:xfrm>
            <a:off x="8129016" y="3877056"/>
            <a:ext cx="347472" cy="219456"/>
          </a:xfrm>
          <a:prstGeom prst="roundRect">
            <a:avLst>
              <a:gd name="adj" fmla="val 50000"/>
            </a:avLst>
          </a:prstGeom>
          <a:solidFill>
            <a:srgbClr val="FBE9D8"/>
          </a:solidFill>
          <a:ln w="12700">
            <a:solidFill>
              <a:srgbClr val="FBE9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" name="Text 100"/>
          <p:cNvSpPr/>
          <p:nvPr/>
        </p:nvSpPr>
        <p:spPr>
          <a:xfrm>
            <a:off x="8129016" y="387705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E88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20" dirty="0"/>
          </a:p>
        </p:txBody>
      </p:sp>
      <p:sp>
        <p:nvSpPr>
          <p:cNvPr id="103" name="Text 101"/>
          <p:cNvSpPr/>
          <p:nvPr/>
        </p:nvSpPr>
        <p:spPr>
          <a:xfrm>
            <a:off x="8586216" y="3840480"/>
            <a:ext cx="29809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标题错别字 / OCR 识别不准确</a:t>
            </a:r>
            <a:endParaRPr lang="en-US" sz="1050" dirty="0"/>
          </a:p>
        </p:txBody>
      </p:sp>
      <p:sp>
        <p:nvSpPr>
          <p:cNvPr id="104" name="Shape 102"/>
          <p:cNvSpPr/>
          <p:nvPr/>
        </p:nvSpPr>
        <p:spPr>
          <a:xfrm>
            <a:off x="8138160" y="4224528"/>
            <a:ext cx="320040" cy="0"/>
          </a:xfrm>
          <a:prstGeom prst="line">
            <a:avLst/>
          </a:prstGeom>
          <a:noFill/>
          <a:ln w="17780">
            <a:solidFill>
              <a:srgbClr val="E8863A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Text 103"/>
          <p:cNvSpPr/>
          <p:nvPr/>
        </p:nvSpPr>
        <p:spPr>
          <a:xfrm>
            <a:off x="8577072" y="4151376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E88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自适应编辑距离容错</a:t>
            </a:r>
            <a:endParaRPr lang="en-US" sz="1020" dirty="0"/>
          </a:p>
        </p:txBody>
      </p:sp>
      <p:sp>
        <p:nvSpPr>
          <p:cNvPr id="106" name="Text 104"/>
          <p:cNvSpPr/>
          <p:nvPr/>
        </p:nvSpPr>
        <p:spPr>
          <a:xfrm>
            <a:off x="8577072" y="4398264"/>
            <a:ext cx="29900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≤6 字精确；7–12 字 k=1；13–20 字 k=2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&gt;20 字 k=3｜band DP + n-gram 锚点</a:t>
            </a:r>
            <a:endParaRPr lang="en-US" sz="820" dirty="0"/>
          </a:p>
        </p:txBody>
      </p:sp>
      <p:sp>
        <p:nvSpPr>
          <p:cNvPr id="107" name="Shape 105"/>
          <p:cNvSpPr/>
          <p:nvPr/>
        </p:nvSpPr>
        <p:spPr>
          <a:xfrm>
            <a:off x="475488" y="4946904"/>
            <a:ext cx="358444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E1E5"/>
            </a:solidFill>
            <a:prstDash val="solid"/>
          </a:ln>
          <a:effectLst>
            <a:outerShdw blurRad="31750" dist="12700" dir="2700000" algn="bl" rotWithShape="0">
              <a:srgbClr val="82909A">
                <a:alpha val="1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8" name="Shape 106"/>
          <p:cNvSpPr/>
          <p:nvPr/>
        </p:nvSpPr>
        <p:spPr>
          <a:xfrm>
            <a:off x="475488" y="4946904"/>
            <a:ext cx="91440" cy="1051560"/>
          </a:xfrm>
          <a:prstGeom prst="rect">
            <a:avLst/>
          </a:prstGeom>
          <a:solidFill>
            <a:srgbClr val="7563A8"/>
          </a:solidFill>
          <a:ln w="12700">
            <a:solidFill>
              <a:srgbClr val="7563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Shape 107"/>
          <p:cNvSpPr/>
          <p:nvPr/>
        </p:nvSpPr>
        <p:spPr>
          <a:xfrm>
            <a:off x="649224" y="5093208"/>
            <a:ext cx="347472" cy="219456"/>
          </a:xfrm>
          <a:prstGeom prst="roundRect">
            <a:avLst>
              <a:gd name="adj" fmla="val 50000"/>
            </a:avLst>
          </a:prstGeom>
          <a:solidFill>
            <a:srgbClr val="ECE8F5"/>
          </a:solidFill>
          <a:ln w="12700">
            <a:solidFill>
              <a:srgbClr val="ECE8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Text 108"/>
          <p:cNvSpPr/>
          <p:nvPr/>
        </p:nvSpPr>
        <p:spPr>
          <a:xfrm>
            <a:off x="649224" y="509320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7563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20" dirty="0"/>
          </a:p>
        </p:txBody>
      </p:sp>
      <p:sp>
        <p:nvSpPr>
          <p:cNvPr id="111" name="Text 109"/>
          <p:cNvSpPr/>
          <p:nvPr/>
        </p:nvSpPr>
        <p:spPr>
          <a:xfrm>
            <a:off x="1106424" y="5056632"/>
            <a:ext cx="2798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文书旋转但内容清晰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>
            <a:off x="658368" y="5440680"/>
            <a:ext cx="320040" cy="0"/>
          </a:xfrm>
          <a:prstGeom prst="line">
            <a:avLst/>
          </a:prstGeom>
          <a:noFill/>
          <a:ln w="17780">
            <a:solidFill>
              <a:srgbClr val="7563A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Text 111"/>
          <p:cNvSpPr/>
          <p:nvPr/>
        </p:nvSpPr>
        <p:spPr>
          <a:xfrm>
            <a:off x="1097280" y="5367528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7563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旋转样本升级兜底</a:t>
            </a:r>
            <a:endParaRPr lang="en-US" sz="1020" dirty="0"/>
          </a:p>
        </p:txBody>
      </p:sp>
      <p:sp>
        <p:nvSpPr>
          <p:cNvPr id="114" name="Text 112"/>
          <p:cNvSpPr/>
          <p:nvPr/>
        </p:nvSpPr>
        <p:spPr>
          <a:xfrm>
            <a:off x="1097280" y="5614416"/>
            <a:ext cx="2807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前置旋转模型误判高，已从主链路关闭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困难样本交给 VL 1.6 处理</a:t>
            </a:r>
            <a:endParaRPr lang="en-US" sz="820" dirty="0"/>
          </a:p>
        </p:txBody>
      </p:sp>
      <p:sp>
        <p:nvSpPr>
          <p:cNvPr id="115" name="Shape 113"/>
          <p:cNvSpPr/>
          <p:nvPr/>
        </p:nvSpPr>
        <p:spPr>
          <a:xfrm>
            <a:off x="4215384" y="4946904"/>
            <a:ext cx="358444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E1E5"/>
            </a:solidFill>
            <a:prstDash val="solid"/>
          </a:ln>
          <a:effectLst>
            <a:outerShdw blurRad="31750" dist="12700" dir="2700000" algn="bl" rotWithShape="0">
              <a:srgbClr val="82909A">
                <a:alpha val="1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6" name="Shape 114"/>
          <p:cNvSpPr/>
          <p:nvPr/>
        </p:nvSpPr>
        <p:spPr>
          <a:xfrm>
            <a:off x="4215384" y="4946904"/>
            <a:ext cx="91440" cy="1051560"/>
          </a:xfrm>
          <a:prstGeom prst="rect">
            <a:avLst/>
          </a:prstGeom>
          <a:solidFill>
            <a:srgbClr val="36A269"/>
          </a:solidFill>
          <a:ln w="12700">
            <a:solidFill>
              <a:srgbClr val="36A26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Shape 115"/>
          <p:cNvSpPr/>
          <p:nvPr/>
        </p:nvSpPr>
        <p:spPr>
          <a:xfrm>
            <a:off x="4389120" y="5093208"/>
            <a:ext cx="347472" cy="219456"/>
          </a:xfrm>
          <a:prstGeom prst="roundRect">
            <a:avLst>
              <a:gd name="adj" fmla="val 50000"/>
            </a:avLst>
          </a:prstGeom>
          <a:solidFill>
            <a:srgbClr val="E2F2E9"/>
          </a:solidFill>
          <a:ln w="12700">
            <a:solidFill>
              <a:srgbClr val="E2F2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Text 116"/>
          <p:cNvSpPr/>
          <p:nvPr/>
        </p:nvSpPr>
        <p:spPr>
          <a:xfrm>
            <a:off x="4389120" y="509320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36A2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820" dirty="0"/>
          </a:p>
        </p:txBody>
      </p:sp>
      <p:sp>
        <p:nvSpPr>
          <p:cNvPr id="119" name="Text 117"/>
          <p:cNvSpPr/>
          <p:nvPr/>
        </p:nvSpPr>
        <p:spPr>
          <a:xfrm>
            <a:off x="4846320" y="5056632"/>
            <a:ext cx="2798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多图横排 / 水印插入标题</a:t>
            </a:r>
            <a:endParaRPr lang="en-US" sz="1050" dirty="0"/>
          </a:p>
        </p:txBody>
      </p:sp>
      <p:sp>
        <p:nvSpPr>
          <p:cNvPr id="120" name="Shape 118"/>
          <p:cNvSpPr/>
          <p:nvPr/>
        </p:nvSpPr>
        <p:spPr>
          <a:xfrm>
            <a:off x="4398264" y="5440680"/>
            <a:ext cx="320040" cy="0"/>
          </a:xfrm>
          <a:prstGeom prst="line">
            <a:avLst/>
          </a:prstGeom>
          <a:noFill/>
          <a:ln w="17780">
            <a:solidFill>
              <a:srgbClr val="36A2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1" name="Text 119"/>
          <p:cNvSpPr/>
          <p:nvPr/>
        </p:nvSpPr>
        <p:spPr>
          <a:xfrm>
            <a:off x="4837176" y="5367528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36A2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锚点顺序匹配</a:t>
            </a:r>
            <a:endParaRPr lang="en-US" sz="1020" dirty="0"/>
          </a:p>
        </p:txBody>
      </p:sp>
      <p:sp>
        <p:nvSpPr>
          <p:cNvPr id="122" name="Text 120"/>
          <p:cNvSpPr/>
          <p:nvPr/>
        </p:nvSpPr>
        <p:spPr>
          <a:xfrm>
            <a:off x="4837176" y="5614416"/>
            <a:ext cx="2807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长标题切成 2–4 个锚点（每段 ≥4 字）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按序出现且间隔 ≤30 字即可命中</a:t>
            </a:r>
            <a:endParaRPr lang="en-US" sz="820" dirty="0"/>
          </a:p>
        </p:txBody>
      </p:sp>
      <p:sp>
        <p:nvSpPr>
          <p:cNvPr id="123" name="Shape 121"/>
          <p:cNvSpPr/>
          <p:nvPr/>
        </p:nvSpPr>
        <p:spPr>
          <a:xfrm>
            <a:off x="7955280" y="4946904"/>
            <a:ext cx="376732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E1E5"/>
            </a:solidFill>
            <a:prstDash val="solid"/>
          </a:ln>
          <a:effectLst>
            <a:outerShdw blurRad="31750" dist="12700" dir="2700000" algn="bl" rotWithShape="0">
              <a:srgbClr val="82909A">
                <a:alpha val="14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4" name="Shape 122"/>
          <p:cNvSpPr/>
          <p:nvPr/>
        </p:nvSpPr>
        <p:spPr>
          <a:xfrm>
            <a:off x="7955280" y="4946904"/>
            <a:ext cx="91440" cy="1051560"/>
          </a:xfrm>
          <a:prstGeom prst="rect">
            <a:avLst/>
          </a:prstGeom>
          <a:solidFill>
            <a:srgbClr val="C95454"/>
          </a:solidFill>
          <a:ln w="12700">
            <a:solidFill>
              <a:srgbClr val="C954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" name="Shape 123"/>
          <p:cNvSpPr/>
          <p:nvPr/>
        </p:nvSpPr>
        <p:spPr>
          <a:xfrm>
            <a:off x="8129016" y="5093208"/>
            <a:ext cx="347472" cy="219456"/>
          </a:xfrm>
          <a:prstGeom prst="roundRect">
            <a:avLst>
              <a:gd name="adj" fmla="val 50000"/>
            </a:avLst>
          </a:prstGeom>
          <a:solidFill>
            <a:srgbClr val="F8E4E4"/>
          </a:solidFill>
          <a:ln w="12700">
            <a:solidFill>
              <a:srgbClr val="F8E4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Text 124"/>
          <p:cNvSpPr/>
          <p:nvPr/>
        </p:nvSpPr>
        <p:spPr>
          <a:xfrm>
            <a:off x="8129016" y="509320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95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820" dirty="0"/>
          </a:p>
        </p:txBody>
      </p:sp>
      <p:sp>
        <p:nvSpPr>
          <p:cNvPr id="127" name="Text 125"/>
          <p:cNvSpPr/>
          <p:nvPr/>
        </p:nvSpPr>
        <p:spPr>
          <a:xfrm>
            <a:off x="8586216" y="5056632"/>
            <a:ext cx="29809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长标题被短标题抢先命中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8138160" y="5440680"/>
            <a:ext cx="320040" cy="0"/>
          </a:xfrm>
          <a:prstGeom prst="line">
            <a:avLst/>
          </a:prstGeom>
          <a:noFill/>
          <a:ln w="17780">
            <a:solidFill>
              <a:srgbClr val="C95454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9" name="Text 127"/>
          <p:cNvSpPr/>
          <p:nvPr/>
        </p:nvSpPr>
        <p:spPr>
          <a:xfrm>
            <a:off x="8577072" y="5367528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C95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最长匹配优先</a:t>
            </a:r>
            <a:endParaRPr lang="en-US" sz="1020" dirty="0"/>
          </a:p>
        </p:txBody>
      </p:sp>
      <p:sp>
        <p:nvSpPr>
          <p:cNvPr id="130" name="Text 128"/>
          <p:cNvSpPr/>
          <p:nvPr/>
        </p:nvSpPr>
        <p:spPr>
          <a:xfrm>
            <a:off x="8577072" y="5614416"/>
            <a:ext cx="29900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模糊匹配与锚点匹配同时收集候选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返回归一化长度最长的白名单标题</a:t>
            </a:r>
            <a:endParaRPr lang="en-US" sz="820" dirty="0"/>
          </a:p>
        </p:txBody>
      </p:sp>
      <p:sp>
        <p:nvSpPr>
          <p:cNvPr id="131" name="Shape 129"/>
          <p:cNvSpPr/>
          <p:nvPr/>
        </p:nvSpPr>
        <p:spPr>
          <a:xfrm>
            <a:off x="475488" y="6181344"/>
            <a:ext cx="11247120" cy="274320"/>
          </a:xfrm>
          <a:prstGeom prst="roundRect">
            <a:avLst>
              <a:gd name="adj" fmla="val 20000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Shape 130"/>
          <p:cNvSpPr/>
          <p:nvPr/>
        </p:nvSpPr>
        <p:spPr>
          <a:xfrm>
            <a:off x="612648" y="6217920"/>
            <a:ext cx="694944" cy="201168"/>
          </a:xfrm>
          <a:prstGeom prst="roundRect">
            <a:avLst>
              <a:gd name="adj" fmla="val 54545"/>
            </a:avLst>
          </a:prstGeom>
          <a:solidFill>
            <a:srgbClr val="19A89D"/>
          </a:solidFill>
          <a:ln w="12700">
            <a:solidFill>
              <a:srgbClr val="19A89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" name="Text 131"/>
          <p:cNvSpPr/>
          <p:nvPr/>
        </p:nvSpPr>
        <p:spPr>
          <a:xfrm>
            <a:off x="612648" y="621792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机制沉淀</a:t>
            </a:r>
            <a:endParaRPr lang="en-US" sz="810" dirty="0"/>
          </a:p>
        </p:txBody>
      </p:sp>
      <p:sp>
        <p:nvSpPr>
          <p:cNvPr id="134" name="Text 132"/>
          <p:cNvSpPr/>
          <p:nvPr/>
        </p:nvSpPr>
        <p:spPr>
          <a:xfrm>
            <a:off x="1444752" y="6199632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预处理增强</a:t>
            </a:r>
            <a:endParaRPr lang="en-US" sz="920" dirty="0"/>
          </a:p>
        </p:txBody>
      </p:sp>
      <p:sp>
        <p:nvSpPr>
          <p:cNvPr id="135" name="Shape 133"/>
          <p:cNvSpPr/>
          <p:nvPr/>
        </p:nvSpPr>
        <p:spPr>
          <a:xfrm>
            <a:off x="2468880" y="6318504"/>
            <a:ext cx="365760" cy="0"/>
          </a:xfrm>
          <a:prstGeom prst="line">
            <a:avLst/>
          </a:prstGeom>
          <a:noFill/>
          <a:ln w="16510">
            <a:solidFill>
              <a:srgbClr val="8EA8B7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Text 134"/>
          <p:cNvSpPr/>
          <p:nvPr/>
        </p:nvSpPr>
        <p:spPr>
          <a:xfrm>
            <a:off x="2953512" y="6199632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语义归一化</a:t>
            </a:r>
            <a:endParaRPr lang="en-US" sz="920" dirty="0"/>
          </a:p>
        </p:txBody>
      </p:sp>
      <p:sp>
        <p:nvSpPr>
          <p:cNvPr id="137" name="Shape 135"/>
          <p:cNvSpPr/>
          <p:nvPr/>
        </p:nvSpPr>
        <p:spPr>
          <a:xfrm>
            <a:off x="4005072" y="6318504"/>
            <a:ext cx="365760" cy="0"/>
          </a:xfrm>
          <a:prstGeom prst="line">
            <a:avLst/>
          </a:prstGeom>
          <a:noFill/>
          <a:ln w="16510">
            <a:solidFill>
              <a:srgbClr val="8EA8B7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Text 136"/>
          <p:cNvSpPr/>
          <p:nvPr/>
        </p:nvSpPr>
        <p:spPr>
          <a:xfrm>
            <a:off x="4489704" y="619963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容错匹配</a:t>
            </a:r>
            <a:endParaRPr lang="en-US" sz="920" dirty="0"/>
          </a:p>
        </p:txBody>
      </p:sp>
      <p:sp>
        <p:nvSpPr>
          <p:cNvPr id="139" name="Shape 137"/>
          <p:cNvSpPr/>
          <p:nvPr/>
        </p:nvSpPr>
        <p:spPr>
          <a:xfrm>
            <a:off x="5394960" y="6318504"/>
            <a:ext cx="365760" cy="0"/>
          </a:xfrm>
          <a:prstGeom prst="line">
            <a:avLst/>
          </a:prstGeom>
          <a:noFill/>
          <a:ln w="16510">
            <a:solidFill>
              <a:srgbClr val="8EA8B7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Text 138"/>
          <p:cNvSpPr/>
          <p:nvPr/>
        </p:nvSpPr>
        <p:spPr>
          <a:xfrm>
            <a:off x="5879592" y="6199632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最长候选决策</a:t>
            </a:r>
            <a:endParaRPr lang="en-US" sz="920" dirty="0"/>
          </a:p>
        </p:txBody>
      </p:sp>
      <p:sp>
        <p:nvSpPr>
          <p:cNvPr id="141" name="Shape 139"/>
          <p:cNvSpPr/>
          <p:nvPr/>
        </p:nvSpPr>
        <p:spPr>
          <a:xfrm>
            <a:off x="7123176" y="6318504"/>
            <a:ext cx="365760" cy="0"/>
          </a:xfrm>
          <a:prstGeom prst="line">
            <a:avLst/>
          </a:prstGeom>
          <a:noFill/>
          <a:ln w="16510">
            <a:solidFill>
              <a:srgbClr val="8EA8B7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Text 140"/>
          <p:cNvSpPr/>
          <p:nvPr/>
        </p:nvSpPr>
        <p:spPr>
          <a:xfrm>
            <a:off x="7607808" y="619963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VL 困难样本兜底</a:t>
            </a:r>
            <a:endParaRPr lang="en-US" sz="920" dirty="0"/>
          </a:p>
        </p:txBody>
      </p:sp>
      <p:sp>
        <p:nvSpPr>
          <p:cNvPr id="143" name="Shape 141"/>
          <p:cNvSpPr/>
          <p:nvPr/>
        </p:nvSpPr>
        <p:spPr>
          <a:xfrm>
            <a:off x="9061704" y="6318504"/>
            <a:ext cx="365760" cy="0"/>
          </a:xfrm>
          <a:prstGeom prst="line">
            <a:avLst/>
          </a:prstGeom>
          <a:noFill/>
          <a:ln w="16510">
            <a:solidFill>
              <a:srgbClr val="8EA8B7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4" name="Text 142"/>
          <p:cNvSpPr/>
          <p:nvPr/>
        </p:nvSpPr>
        <p:spPr>
          <a:xfrm>
            <a:off x="9546336" y="6199632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人工反馈闭环</a:t>
            </a:r>
            <a:endParaRPr lang="en-US" sz="920" dirty="0"/>
          </a:p>
        </p:txBody>
      </p:sp>
      <p:sp>
        <p:nvSpPr>
          <p:cNvPr id="145" name="Text 143"/>
          <p:cNvSpPr/>
          <p:nvPr/>
        </p:nvSpPr>
        <p:spPr>
          <a:xfrm>
            <a:off x="10698480" y="6217920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C8D7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审核端规则同源</a:t>
            </a:r>
            <a:endParaRPr lang="en-US" sz="740" dirty="0"/>
          </a:p>
        </p:txBody>
      </p:sp>
      <p:sp>
        <p:nvSpPr>
          <p:cNvPr id="147" name="Text 145"/>
          <p:cNvSpPr/>
          <p:nvPr/>
        </p:nvSpPr>
        <p:spPr>
          <a:xfrm>
            <a:off x="9418320" y="6583680"/>
            <a:ext cx="2304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70" dirty="0">
                <a:solidFill>
                  <a:srgbClr val="6677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白名单优先 · VL 兜底 · 人工反哺</a:t>
            </a:r>
            <a:endParaRPr lang="en-US" sz="7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251</Words>
  <Application>Microsoft Macintosh PowerPoint</Application>
  <PresentationFormat>宽屏</PresentationFormat>
  <Paragraphs>89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PingFang SC</vt:lpstr>
      <vt:lpstr>Arial</vt:lpstr>
      <vt:lpstr>Office Theme</vt:lpstr>
      <vt:lpstr>PowerPoint 演示文稿</vt:lpstr>
    </vt:vector>
  </TitlesOfParts>
  <Company>财付通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文书类型识别｜从OCR流水线到Bad Case闭环</dc:title>
  <dc:subject>OCR文书分类处理流水线与Bad Case修正</dc:subject>
  <dc:creator>文书类型识别项目</dc:creator>
  <cp:lastModifiedBy>T210709</cp:lastModifiedBy>
  <cp:revision>2</cp:revision>
  <dcterms:created xsi:type="dcterms:W3CDTF">2026-08-18T11:33:57Z</dcterms:created>
  <dcterms:modified xsi:type="dcterms:W3CDTF">2026-08-18T11:41:08Z</dcterms:modified>
</cp:coreProperties>
</file>