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05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75488" y="1463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查冻扣电话号码合规校验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3776" y="539496"/>
            <a:ext cx="7086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D7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一套方案，两类问题：先判断“像不像可用号码”，再探索“是否属于该法院”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458200" y="182880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458200" y="182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合理性｜已落地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9902952" y="182880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902952" y="182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有效性｜已开发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339328" y="557784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D9E5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千万级司法单据 / 日｜判无效必须 100% 准确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8912" y="1024128"/>
            <a:ext cx="7114032" cy="5413248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0160">
            <a:solidFill>
              <a:srgbClr val="BFDCD7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772400" y="1024128"/>
            <a:ext cx="3977640" cy="541324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BCDB1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8912" y="1024128"/>
            <a:ext cx="7114032" cy="713232"/>
          </a:xfrm>
          <a:prstGeom prst="roundRect">
            <a:avLst>
              <a:gd name="adj" fmla="val 12821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3504" y="1197864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03504" y="11978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1133856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合理性校验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3438144" y="1161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D7F0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号码是否“看起来可用”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879592" y="1197864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D8F1ED"/>
          </a:solidFill>
          <a:ln w="12700">
            <a:solidFill>
              <a:srgbClr val="D8F1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79592" y="119786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已应用于业务判断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0" y="102412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936992" y="1197864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936992" y="11978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96528" y="1133856"/>
            <a:ext cx="1783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有效性校验</a:t>
            </a:r>
            <a:endParaRPr lang="en-US" sz="2050" dirty="0"/>
          </a:p>
        </p:txBody>
      </p:sp>
      <p:sp>
        <p:nvSpPr>
          <p:cNvPr id="23" name="Shape 21"/>
          <p:cNvSpPr/>
          <p:nvPr/>
        </p:nvSpPr>
        <p:spPr>
          <a:xfrm>
            <a:off x="10360152" y="1197864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360152" y="11978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已开发｜暂不阻断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21792" y="1901952"/>
            <a:ext cx="694944" cy="237744"/>
          </a:xfrm>
          <a:prstGeom prst="roundRect">
            <a:avLst>
              <a:gd name="adj" fmla="val 4615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792" y="19019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判断目标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1444752" y="18653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格式混乱、缺 / 错区号、乱填或粘连时，能否提取并形成可用号码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4224" y="1901952"/>
            <a:ext cx="694944" cy="237744"/>
          </a:xfrm>
          <a:prstGeom prst="roundRect">
            <a:avLst>
              <a:gd name="adj" fmla="val 46154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64224" y="19019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技术取舍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370832" y="2176272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硬规则替代 LLM：低成本、无幻觉、结果可解释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21792" y="2496312"/>
            <a:ext cx="1545336" cy="1298448"/>
          </a:xfrm>
          <a:prstGeom prst="roundRect">
            <a:avLst>
              <a:gd name="adj" fmla="val 5634"/>
            </a:avLst>
          </a:prstGeom>
          <a:solidFill>
            <a:srgbClr val="F9FBFB"/>
          </a:solidFill>
          <a:ln w="1016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21792" y="2496312"/>
            <a:ext cx="1545336" cy="91440"/>
          </a:xfrm>
          <a:prstGeom prst="rect">
            <a:avLst/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31520" y="2679192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31520" y="26791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152144" y="263347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输入与清洗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749808" y="3035808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千万级业务单据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国际前缀 / 前导零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特殊分隔符归一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189988" y="3136392"/>
            <a:ext cx="109728" cy="0"/>
          </a:xfrm>
          <a:prstGeom prst="line">
            <a:avLst/>
          </a:prstGeom>
          <a:noFill/>
          <a:ln w="21590">
            <a:solidFill>
              <a:srgbClr val="0E8A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2322576" y="2496312"/>
            <a:ext cx="1545336" cy="1298448"/>
          </a:xfrm>
          <a:prstGeom prst="roundRect">
            <a:avLst>
              <a:gd name="adj" fmla="val 5634"/>
            </a:avLst>
          </a:prstGeom>
          <a:solidFill>
            <a:srgbClr val="F9FBFB"/>
          </a:solidFill>
          <a:ln w="1016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322576" y="2496312"/>
            <a:ext cx="1545336" cy="91440"/>
          </a:xfrm>
          <a:prstGeom prst="rect">
            <a:avLst/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2432304" y="2679192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2432304" y="26791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852928" y="263347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规则解析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2450592" y="3035808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白名单 + 号码库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20+ 有序分支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位数不足前置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3890772" y="3136392"/>
            <a:ext cx="109728" cy="0"/>
          </a:xfrm>
          <a:prstGeom prst="line">
            <a:avLst/>
          </a:prstGeom>
          <a:noFill/>
          <a:ln w="21590">
            <a:solidFill>
              <a:srgbClr val="0E8A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023360" y="2496312"/>
            <a:ext cx="1545336" cy="1298448"/>
          </a:xfrm>
          <a:prstGeom prst="roundRect">
            <a:avLst>
              <a:gd name="adj" fmla="val 5634"/>
            </a:avLst>
          </a:prstGeom>
          <a:solidFill>
            <a:srgbClr val="F9FBFB"/>
          </a:solidFill>
          <a:ln w="1016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023360" y="2496312"/>
            <a:ext cx="1545336" cy="9144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133088" y="2679192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133088" y="26791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9A8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553712" y="263347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提取与修复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4151376" y="3035808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/ 分机 / 多号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档可信度切分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候选不唯一不猜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91556" y="3136392"/>
            <a:ext cx="109728" cy="0"/>
          </a:xfrm>
          <a:prstGeom prst="line">
            <a:avLst/>
          </a:prstGeom>
          <a:noFill/>
          <a:ln w="21590">
            <a:solidFill>
              <a:srgbClr val="0E8A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724144" y="2496312"/>
            <a:ext cx="1545336" cy="1298448"/>
          </a:xfrm>
          <a:prstGeom prst="roundRect">
            <a:avLst>
              <a:gd name="adj" fmla="val 5634"/>
            </a:avLst>
          </a:prstGeom>
          <a:solidFill>
            <a:srgbClr val="F9FBFB"/>
          </a:solidFill>
          <a:ln w="1016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724144" y="2496312"/>
            <a:ext cx="1545336" cy="91440"/>
          </a:xfrm>
          <a:prstGeom prst="rect">
            <a:avLst/>
          </a:prstGeom>
          <a:solidFill>
            <a:srgbClr val="36A269"/>
          </a:solidFill>
          <a:ln w="12700">
            <a:solidFill>
              <a:srgbClr val="36A2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833872" y="2679192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833872" y="26791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254496" y="2633472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地域增强裁决</a:t>
            </a:r>
            <a:endParaRPr lang="en-US" sz="1140" dirty="0"/>
          </a:p>
        </p:txBody>
      </p:sp>
      <p:sp>
        <p:nvSpPr>
          <p:cNvPr id="57" name="Text 55"/>
          <p:cNvSpPr/>
          <p:nvPr/>
        </p:nvSpPr>
        <p:spPr>
          <a:xfrm>
            <a:off x="5852160" y="3035808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法院名推断区号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条硬约束收紧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确认无效才拦截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621792" y="3950208"/>
            <a:ext cx="6748272" cy="338328"/>
          </a:xfrm>
          <a:prstGeom prst="roundRect">
            <a:avLst>
              <a:gd name="adj" fmla="val 1621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49808" y="4014216"/>
            <a:ext cx="658368" cy="210312"/>
          </a:xfrm>
          <a:prstGeom prst="roundRect">
            <a:avLst>
              <a:gd name="adj" fmla="val 52174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49808" y="4014216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核心原则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1554480" y="3986784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能放过的都放过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52344" y="3986784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99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｜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999232" y="398678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唯一切法才允许修复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35424" y="3986784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99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｜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00600" y="398678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区号不一致仅提示，不反向改判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621792" y="4480560"/>
            <a:ext cx="841248" cy="246888"/>
          </a:xfrm>
          <a:prstGeom prst="roundRect">
            <a:avLst>
              <a:gd name="adj" fmla="val 4444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21792" y="44805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真实数据验证</a:t>
            </a:r>
            <a:endParaRPr lang="en-US" sz="860" dirty="0"/>
          </a:p>
        </p:txBody>
      </p:sp>
      <p:sp>
        <p:nvSpPr>
          <p:cNvPr id="68" name="Text 66"/>
          <p:cNvSpPr/>
          <p:nvPr/>
        </p:nvSpPr>
        <p:spPr>
          <a:xfrm>
            <a:off x="1600200" y="44439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278,407 条样本</a:t>
            </a:r>
            <a:endParaRPr lang="en-US" sz="1420" dirty="0"/>
          </a:p>
        </p:txBody>
      </p:sp>
      <p:sp>
        <p:nvSpPr>
          <p:cNvPr id="69" name="Text 67"/>
          <p:cNvSpPr/>
          <p:nvPr/>
        </p:nvSpPr>
        <p:spPr>
          <a:xfrm>
            <a:off x="6766560" y="44897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v2.1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621792" y="4864608"/>
            <a:ext cx="4023360" cy="338328"/>
          </a:xfrm>
          <a:prstGeom prst="roundRect">
            <a:avLst>
              <a:gd name="adj" fmla="val 16216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21792" y="4864608"/>
            <a:ext cx="3657600" cy="338328"/>
          </a:xfrm>
          <a:prstGeom prst="roundRect">
            <a:avLst>
              <a:gd name="adj" fmla="val 16216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95528" y="4892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253,362  合理性通过 / 放行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657600" y="4892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91.00%</a:t>
            </a:r>
            <a:endParaRPr lang="en-US" sz="1140" dirty="0"/>
          </a:p>
        </p:txBody>
      </p:sp>
      <p:sp>
        <p:nvSpPr>
          <p:cNvPr id="74" name="Shape 72"/>
          <p:cNvSpPr/>
          <p:nvPr/>
        </p:nvSpPr>
        <p:spPr>
          <a:xfrm>
            <a:off x="621792" y="5285232"/>
            <a:ext cx="4023360" cy="283464"/>
          </a:xfrm>
          <a:prstGeom prst="roundRect">
            <a:avLst>
              <a:gd name="adj" fmla="val 19355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621792" y="5285232"/>
            <a:ext cx="502920" cy="283464"/>
          </a:xfrm>
          <a:prstGeom prst="roundRect">
            <a:avLst>
              <a:gd name="adj" fmla="val 19355"/>
            </a:avLst>
          </a:prstGeom>
          <a:solidFill>
            <a:srgbClr val="C95454"/>
          </a:solidFill>
          <a:ln w="12700">
            <a:solidFill>
              <a:srgbClr val="C954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1298448" y="53218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25,045  确认无效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904488" y="53218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95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9.00%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828032" y="4864608"/>
            <a:ext cx="768096" cy="704088"/>
          </a:xfrm>
          <a:prstGeom prst="roundRect">
            <a:avLst>
              <a:gd name="adj" fmla="val 7792"/>
            </a:avLst>
          </a:prstGeom>
          <a:solidFill>
            <a:srgbClr val="F0F6F5"/>
          </a:solidFill>
          <a:ln w="12700">
            <a:solidFill>
              <a:srgbClr val="F0F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4873752" y="4956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88.31% → 91%</a:t>
            </a:r>
            <a:endParaRPr lang="en-US" sz="1040" dirty="0"/>
          </a:p>
        </p:txBody>
      </p:sp>
      <p:sp>
        <p:nvSpPr>
          <p:cNvPr id="80" name="Text 78"/>
          <p:cNvSpPr/>
          <p:nvPr/>
        </p:nvSpPr>
        <p:spPr>
          <a:xfrm>
            <a:off x="4873752" y="525780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误判率迭代降低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5678424" y="4864608"/>
            <a:ext cx="768096" cy="704088"/>
          </a:xfrm>
          <a:prstGeom prst="roundRect">
            <a:avLst>
              <a:gd name="adj" fmla="val 7792"/>
            </a:avLst>
          </a:prstGeom>
          <a:solidFill>
            <a:srgbClr val="F0F6F5"/>
          </a:solidFill>
          <a:ln w="12700">
            <a:solidFill>
              <a:srgbClr val="F0F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5724144" y="4956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63,723</a:t>
            </a:r>
            <a:endParaRPr lang="en-US" sz="1040" dirty="0"/>
          </a:p>
        </p:txBody>
      </p:sp>
      <p:sp>
        <p:nvSpPr>
          <p:cNvPr id="83" name="Text 81"/>
          <p:cNvSpPr/>
          <p:nvPr/>
        </p:nvSpPr>
        <p:spPr>
          <a:xfrm>
            <a:off x="5724144" y="525780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缺区号号码获保护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6528816" y="4864608"/>
            <a:ext cx="740664" cy="704088"/>
          </a:xfrm>
          <a:prstGeom prst="roundRect">
            <a:avLst>
              <a:gd name="adj" fmla="val 7792"/>
            </a:avLst>
          </a:prstGeom>
          <a:solidFill>
            <a:srgbClr val="FFF5EC"/>
          </a:solidFill>
          <a:ln w="12700">
            <a:solidFill>
              <a:srgbClr val="FFF5EC"/>
            </a:solidFill>
            <a:prstDash val="solid"/>
          </a:ln>
        </p:spPr>
        <p:txBody>
          <a:bodyPr/>
          <a:lstStyle/>
          <a:p>
            <a:endParaRPr lang="en-US" altLang="zh-CN" sz="740">
              <a:solidFill>
                <a:srgbClr val="60717E"/>
              </a:solidFill>
              <a:latin typeface="PingFang SC" pitchFamily="34" charset="0"/>
              <a:ea typeface="PingFang SC" pitchFamily="34" charset="-122"/>
            </a:endParaRPr>
          </a:p>
          <a:p>
            <a:pPr algn="ctr"/>
            <a:r>
              <a:rPr lang="en-US" altLang="zh-CN" sz="1040" b="1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</a:rPr>
              <a:t>1.23%</a:t>
            </a:r>
          </a:p>
          <a:p>
            <a:endParaRPr lang="en-US" altLang="zh-CN" sz="740">
              <a:solidFill>
                <a:srgbClr val="60717E"/>
              </a:solidFill>
              <a:latin typeface="PingFang SC" pitchFamily="34" charset="0"/>
              <a:ea typeface="PingFang SC" pitchFamily="34" charset="-122"/>
            </a:endParaRPr>
          </a:p>
          <a:p>
            <a:r>
              <a:rPr lang="zh-CN" altLang="en-US" sz="80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</a:rPr>
              <a:t>最新日均拦截</a:t>
            </a:r>
            <a:endParaRPr lang="zh-CN" altLang="en-US" sz="1400"/>
          </a:p>
        </p:txBody>
      </p:sp>
      <p:sp>
        <p:nvSpPr>
          <p:cNvPr id="86" name="Text 84"/>
          <p:cNvSpPr/>
          <p:nvPr/>
        </p:nvSpPr>
        <p:spPr>
          <a:xfrm>
            <a:off x="6574536" y="525780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”</a:t>
            </a:r>
            <a:endParaRPr lang="en-US" sz="740" dirty="0"/>
          </a:p>
        </p:txBody>
      </p:sp>
      <p:sp>
        <p:nvSpPr>
          <p:cNvPr id="87" name="Shape 85"/>
          <p:cNvSpPr/>
          <p:nvPr/>
        </p:nvSpPr>
        <p:spPr>
          <a:xfrm>
            <a:off x="621792" y="5742432"/>
            <a:ext cx="6748272" cy="384048"/>
          </a:xfrm>
          <a:prstGeom prst="roundRect">
            <a:avLst>
              <a:gd name="adj" fmla="val 14286"/>
            </a:avLst>
          </a:prstGeom>
          <a:solidFill>
            <a:srgbClr val="EEF7F5"/>
          </a:solidFill>
          <a:ln w="12700">
            <a:solidFill>
              <a:srgbClr val="EEF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 86"/>
          <p:cNvSpPr/>
          <p:nvPr/>
        </p:nvSpPr>
        <p:spPr>
          <a:xfrm>
            <a:off x="786384" y="5769864"/>
            <a:ext cx="6419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结论：合理性校验已经落地，解决“号码能否作为号码使用”的问题。</a:t>
            </a:r>
            <a:endParaRPr lang="en-US" sz="1040" dirty="0"/>
          </a:p>
        </p:txBody>
      </p:sp>
      <p:sp>
        <p:nvSpPr>
          <p:cNvPr id="89" name="Shape 87"/>
          <p:cNvSpPr/>
          <p:nvPr/>
        </p:nvSpPr>
        <p:spPr>
          <a:xfrm>
            <a:off x="7955280" y="1901952"/>
            <a:ext cx="694944" cy="237744"/>
          </a:xfrm>
          <a:prstGeom prst="roundRect">
            <a:avLst>
              <a:gd name="adj" fmla="val 46154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Text 88"/>
          <p:cNvSpPr/>
          <p:nvPr/>
        </p:nvSpPr>
        <p:spPr>
          <a:xfrm>
            <a:off x="7955280" y="19019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判断目标</a:t>
            </a:r>
            <a:endParaRPr lang="en-US" sz="860" dirty="0"/>
          </a:p>
        </p:txBody>
      </p:sp>
      <p:sp>
        <p:nvSpPr>
          <p:cNvPr id="91" name="Text 89"/>
          <p:cNvSpPr/>
          <p:nvPr/>
        </p:nvSpPr>
        <p:spPr>
          <a:xfrm>
            <a:off x="8778240" y="186537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这个可用号码，是否真实属于该法院？</a:t>
            </a:r>
            <a:endParaRPr lang="en-US" sz="1120" dirty="0"/>
          </a:p>
        </p:txBody>
      </p:sp>
      <p:sp>
        <p:nvSpPr>
          <p:cNvPr id="92" name="Text 90"/>
          <p:cNvSpPr/>
          <p:nvPr/>
        </p:nvSpPr>
        <p:spPr>
          <a:xfrm>
            <a:off x="7955280" y="2212848"/>
            <a:ext cx="35844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在合理性通过之后，进一步核验号码真实归属。两条技术路线均已完成代码开发。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955280" y="2715768"/>
            <a:ext cx="1719072" cy="1463040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>
            <a:off x="8083296" y="2834640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8083296" y="28346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A</a:t>
            </a:r>
            <a:endParaRPr lang="en-US" sz="830" dirty="0"/>
          </a:p>
        </p:txBody>
      </p:sp>
      <p:sp>
        <p:nvSpPr>
          <p:cNvPr id="96" name="Text 94"/>
          <p:cNvSpPr/>
          <p:nvPr/>
        </p:nvSpPr>
        <p:spPr>
          <a:xfrm>
            <a:off x="8083296" y="31363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虚拟拨号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083296" y="346557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5DD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¥0.025</a:t>
            </a:r>
            <a:endParaRPr lang="en-US" sz="1900" dirty="0"/>
          </a:p>
        </p:txBody>
      </p:sp>
      <p:sp>
        <p:nvSpPr>
          <p:cNvPr id="98" name="Text 96"/>
          <p:cNvSpPr/>
          <p:nvPr/>
        </p:nvSpPr>
        <p:spPr>
          <a:xfrm>
            <a:off x="8897112" y="3520440"/>
            <a:ext cx="301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7D8E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 条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083296" y="382219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E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自动外呼询问法院工作人员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7E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并结构化收集归属答案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9848088" y="2715768"/>
            <a:ext cx="1719072" cy="1463040"/>
          </a:xfrm>
          <a:prstGeom prst="roundRect">
            <a:avLst>
              <a:gd name="adj" fmla="val 5000"/>
            </a:avLst>
          </a:prstGeom>
          <a:solidFill>
            <a:srgbClr val="EAF5F3"/>
          </a:solidFill>
          <a:ln w="10160">
            <a:solidFill>
              <a:srgbClr val="CBE6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>
            <a:off x="9976104" y="2834640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9976104" y="283464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B</a:t>
            </a:r>
            <a:endParaRPr lang="en-US" sz="830" dirty="0"/>
          </a:p>
        </p:txBody>
      </p:sp>
      <p:sp>
        <p:nvSpPr>
          <p:cNvPr id="103" name="Text 101"/>
          <p:cNvSpPr/>
          <p:nvPr/>
        </p:nvSpPr>
        <p:spPr>
          <a:xfrm>
            <a:off x="9976104" y="3136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爬虫全网提取</a:t>
            </a:r>
            <a:endParaRPr lang="en-US" sz="1160" dirty="0"/>
          </a:p>
        </p:txBody>
      </p:sp>
      <p:sp>
        <p:nvSpPr>
          <p:cNvPr id="104" name="Text 102"/>
          <p:cNvSpPr/>
          <p:nvPr/>
        </p:nvSpPr>
        <p:spPr>
          <a:xfrm>
            <a:off x="9976104" y="34655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≈30%</a:t>
            </a:r>
            <a:endParaRPr lang="en-US" sz="1900" dirty="0"/>
          </a:p>
        </p:txBody>
      </p:sp>
      <p:sp>
        <p:nvSpPr>
          <p:cNvPr id="105" name="Text 103"/>
          <p:cNvSpPr/>
          <p:nvPr/>
        </p:nvSpPr>
        <p:spPr>
          <a:xfrm>
            <a:off x="10725912" y="3520440"/>
            <a:ext cx="6309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电话覆盖</a:t>
            </a:r>
            <a:endParaRPr lang="en-US" sz="880" dirty="0"/>
          </a:p>
        </p:txBody>
      </p:sp>
      <p:sp>
        <p:nvSpPr>
          <p:cNvPr id="106" name="Text 104"/>
          <p:cNvSpPr/>
          <p:nvPr/>
        </p:nvSpPr>
        <p:spPr>
          <a:xfrm>
            <a:off x="9976104" y="3822192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全网搜索 + AI 提取信息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法院与号码匹配｜成本 ¥0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955280" y="4370832"/>
            <a:ext cx="3611880" cy="1161288"/>
          </a:xfrm>
          <a:prstGeom prst="roundRect">
            <a:avLst>
              <a:gd name="adj" fmla="val 6299"/>
            </a:avLst>
          </a:prstGeom>
          <a:solidFill>
            <a:srgbClr val="FFF5EC"/>
          </a:solidFill>
          <a:ln w="10160">
            <a:solidFill>
              <a:srgbClr val="F2D4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>
            <a:off x="8092440" y="4498848"/>
            <a:ext cx="868680" cy="228600"/>
          </a:xfrm>
          <a:prstGeom prst="roundRect">
            <a:avLst>
              <a:gd name="adj" fmla="val 48000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107"/>
          <p:cNvSpPr/>
          <p:nvPr/>
        </p:nvSpPr>
        <p:spPr>
          <a:xfrm>
            <a:off x="8092440" y="449884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当前业务口径</a:t>
            </a:r>
            <a:endParaRPr lang="en-US" sz="840" dirty="0"/>
          </a:p>
        </p:txBody>
      </p:sp>
      <p:sp>
        <p:nvSpPr>
          <p:cNvPr id="110" name="Text 108"/>
          <p:cNvSpPr/>
          <p:nvPr/>
        </p:nvSpPr>
        <p:spPr>
          <a:xfrm>
            <a:off x="9125712" y="44531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不作为拦截依据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8092440" y="48554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未通过有效性校验，也应该继续放过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8092440" y="5184648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原因：当前仍以司法机构要求为第一准则，结果仅作技术储备和辅助证据。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7955280" y="5705856"/>
            <a:ext cx="3611880" cy="420624"/>
          </a:xfrm>
          <a:prstGeom prst="roundRect">
            <a:avLst>
              <a:gd name="adj" fmla="val 13043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Text 112"/>
          <p:cNvSpPr/>
          <p:nvPr/>
        </p:nvSpPr>
        <p:spPr>
          <a:xfrm>
            <a:off x="8092440" y="5742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结论：有效性校验已开发，但尚未应用于最终判断。</a:t>
            </a:r>
            <a:endParaRPr lang="en-US" sz="1010" dirty="0"/>
          </a:p>
        </p:txBody>
      </p:sp>
      <p:sp>
        <p:nvSpPr>
          <p:cNvPr id="117" name="Shape 115"/>
          <p:cNvSpPr/>
          <p:nvPr/>
        </p:nvSpPr>
        <p:spPr>
          <a:xfrm>
            <a:off x="7658100" y="1024127"/>
            <a:ext cx="0" cy="5413247"/>
          </a:xfrm>
          <a:prstGeom prst="line">
            <a:avLst/>
          </a:prstGeom>
          <a:noFill/>
          <a:ln w="13970">
            <a:solidFill>
              <a:srgbClr val="9AAAB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</Words>
  <Application>Microsoft Macintosh PowerPoint</Application>
  <PresentationFormat>宽屏</PresentationFormat>
  <Paragraphs>80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PingFang SC</vt:lpstr>
      <vt:lpstr>Arial</vt:lpstr>
      <vt:lpstr>Office Theme</vt:lpstr>
      <vt:lpstr>PowerPoint 演示文稿</vt:lpstr>
    </vt:vector>
  </TitlesOfParts>
  <Company>财付通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查冻扣电话号码合规校验｜合理性 × 有效性</dc:title>
  <dc:subject>查冻扣业务电话号码合理性与有效性校验</dc:subject>
  <dc:creator>号码合规校验项目</dc:creator>
  <cp:lastModifiedBy>T210709</cp:lastModifiedBy>
  <cp:revision>2</cp:revision>
  <dcterms:created xsi:type="dcterms:W3CDTF">2026-08-18T17:00:13Z</dcterms:created>
  <dcterms:modified xsi:type="dcterms:W3CDTF">2026-08-18T17:13:40Z</dcterms:modified>
</cp:coreProperties>
</file>