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2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各位评委老师好，我是彭硕，华中科技大学网络空间安全专业的硕士，所在的团队是可疑与评级模型团队。今天我答辩的主题是</a:t>
            </a:r>
            <a:r>
              <a:rPr lang="en-US" dirty="0"/>
              <a:t>"</a:t>
            </a:r>
            <a:r>
              <a:rPr lang="zh-CN" dirty="0"/>
              <a:t>从模型可用到业务可信</a:t>
            </a:r>
            <a:r>
              <a:rPr lang="en-US" dirty="0"/>
              <a:t>"</a:t>
            </a:r>
            <a:r>
              <a:rPr lang="zh-CN" dirty="0"/>
              <a:t>，</a:t>
            </a:r>
            <a:endParaRPr dirty="0"/>
          </a:p>
        </p:txBody>
      </p:sp>
      <p:sp>
        <p:nvSpPr>
          <p:cNvPr id="2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F197D-F38D-44A1-AB91-036FD639EC85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备注占位符 27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我的汇报分五个部分：先简单自我介绍，然后是主要工作总结，接着是具体实现路径</a:t>
            </a:r>
            <a:r>
              <a:rPr lang="en-US" dirty="0"/>
              <a:t>——</a:t>
            </a:r>
            <a:r>
              <a:rPr lang="zh-CN" dirty="0"/>
              <a:t>其中清晰度五级评估是我这次的重点，再聊聊我在</a:t>
            </a:r>
            <a:r>
              <a:rPr lang="en-US" dirty="0"/>
              <a:t> AI </a:t>
            </a:r>
            <a:r>
              <a:rPr lang="zh-CN" dirty="0"/>
              <a:t>实践上的一些思考，最后是总结与展望。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备注占位符 29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先简单介绍下我自己。我的经历其实是一条</a:t>
            </a:r>
            <a:r>
              <a:rPr lang="en-US" dirty="0"/>
              <a:t>"</a:t>
            </a:r>
            <a:r>
              <a:rPr lang="zh-CN" dirty="0"/>
              <a:t>训练、数据、业务</a:t>
            </a:r>
            <a:r>
              <a:rPr lang="en-US" dirty="0"/>
              <a:t>"</a:t>
            </a:r>
            <a:r>
              <a:rPr lang="zh-CN" dirty="0"/>
              <a:t>的能力演进路径，分三个阶段。第一段在京东</a:t>
            </a:r>
            <a:r>
              <a:rPr lang="en-US" dirty="0"/>
              <a:t> AI </a:t>
            </a:r>
            <a:r>
              <a:rPr lang="zh-CN" dirty="0"/>
              <a:t>安全部，做多模态大模型后训练，解决的是</a:t>
            </a:r>
            <a:r>
              <a:rPr lang="en-US" dirty="0"/>
              <a:t>"</a:t>
            </a:r>
            <a:r>
              <a:rPr lang="zh-CN" dirty="0"/>
              <a:t>怎么把模型训出来</a:t>
            </a:r>
            <a:r>
              <a:rPr lang="en-US" dirty="0"/>
              <a:t>"</a:t>
            </a:r>
            <a:r>
              <a:rPr lang="zh-CN" dirty="0"/>
              <a:t>的问题。第二段在京东零售</a:t>
            </a:r>
            <a:r>
              <a:rPr lang="en-US" dirty="0"/>
              <a:t> AIGC</a:t>
            </a:r>
            <a:r>
              <a:rPr lang="zh-CN" dirty="0"/>
              <a:t>模型团队，做数据与评测方向，关注的是</a:t>
            </a:r>
            <a:r>
              <a:rPr lang="en-US" dirty="0"/>
              <a:t>"</a:t>
            </a:r>
            <a:r>
              <a:rPr lang="zh-CN" dirty="0"/>
              <a:t>怎么构造可靠数据、怎么评价模型</a:t>
            </a:r>
            <a:r>
              <a:rPr lang="en-US" dirty="0"/>
              <a:t>"</a:t>
            </a:r>
            <a:r>
              <a:rPr lang="zh-CN" dirty="0"/>
              <a:t>。第三段就是现在在腾讯风控，做业务落地，包括任务定义、决策路由和人审闭环，回答的是</a:t>
            </a:r>
            <a:r>
              <a:rPr lang="en-US" dirty="0"/>
              <a:t>"</a:t>
            </a:r>
            <a:r>
              <a:rPr lang="zh-CN" dirty="0"/>
              <a:t>怎么让模型真正成为稳定的业务能力</a:t>
            </a:r>
            <a:r>
              <a:rPr lang="en-US" dirty="0"/>
              <a:t>"</a:t>
            </a:r>
            <a:r>
              <a:rPr lang="zh-CN" dirty="0"/>
              <a:t>。可以说前两段经历是打基础，这一段是真正面向业务结果负责。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备注占位符 31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我在腾讯主要负责的是</a:t>
            </a:r>
            <a:r>
              <a:rPr lang="en-US" dirty="0"/>
              <a:t>AI</a:t>
            </a:r>
            <a:r>
              <a:rPr lang="zh-CN" dirty="0"/>
              <a:t>审单能力的建设。在这个场景中、司法请求方提交四类材料：裁定书、协助执行通知书、工作证、以及结构化字段（电话号码、账号等），经有权中台系统统一接收、分发，进入下方校验处理链路。我聚焦其中四个子任务：电话号码校验、印章检测、文书类型检测和清晰度检测，</a:t>
            </a:r>
            <a:r>
              <a:rPr lang="en-US" dirty="0"/>
              <a:t>PPT </a:t>
            </a:r>
            <a:r>
              <a:rPr lang="zh-CN" dirty="0"/>
              <a:t>上红框标出来的就是我的工作覆盖面。
这个业务最大的挑战在于数据极度不均衡：问题文书占比不到</a:t>
            </a:r>
            <a:r>
              <a:rPr lang="en-US" dirty="0"/>
              <a:t> 5%</a:t>
            </a:r>
            <a:r>
              <a:rPr lang="zh-CN" dirty="0"/>
              <a:t>，也就是说，我们必须保证</a:t>
            </a:r>
            <a:r>
              <a:rPr lang="en-US" dirty="0"/>
              <a:t> 95% </a:t>
            </a:r>
            <a:r>
              <a:rPr lang="zh-CN" dirty="0"/>
              <a:t>以上的正常文书不能被误拦，同时还要尽可能提高拦截率。所以整条链路的设计原则都是</a:t>
            </a:r>
            <a:r>
              <a:rPr lang="en-US" dirty="0"/>
              <a:t>"</a:t>
            </a:r>
            <a:r>
              <a:rPr lang="zh-CN" dirty="0"/>
              <a:t>宁可放过、不可错拦</a:t>
            </a:r>
            <a:r>
              <a:rPr lang="en-US" dirty="0"/>
              <a:t>"</a:t>
            </a:r>
            <a:r>
              <a:rPr lang="zh-CN" dirty="0"/>
              <a:t>。
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备注占位符 33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经过四到五轮迭代后，目前前三个任务在最新数万条数据集上，各个任务对接产品经理标注确认的精准率都接近</a:t>
            </a:r>
            <a:r>
              <a:rPr lang="en-US" dirty="0"/>
              <a:t> 100%</a:t>
            </a:r>
            <a:r>
              <a:rPr lang="zh-CN" dirty="0"/>
              <a:t>；整体来说离线模型已经就绪，因为开发排期的原因还在等待接入。右下角这个漏斗是预计的线上拒单量：日均输入约</a:t>
            </a:r>
            <a:r>
              <a:rPr lang="en-US" dirty="0"/>
              <a:t> 38.8 </a:t>
            </a:r>
            <a:r>
              <a:rPr lang="zh-CN" dirty="0"/>
              <a:t>万条，拒单</a:t>
            </a:r>
            <a:r>
              <a:rPr lang="en-US" dirty="0"/>
              <a:t>9.84%</a:t>
            </a:r>
            <a:r>
              <a:rPr lang="zh-CN" dirty="0"/>
              <a:t>。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备注占位符 35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下面逐个讲实现。第一个是电话号码校验，
挑战在于法院传入的号码写法五花八门，但判</a:t>
            </a:r>
            <a:r>
              <a:rPr lang="en-US" dirty="0"/>
              <a:t>"</a:t>
            </a:r>
            <a:r>
              <a:rPr lang="zh-CN" dirty="0"/>
              <a:t>无效</a:t>
            </a:r>
            <a:r>
              <a:rPr lang="en-US" dirty="0"/>
              <a:t>"</a:t>
            </a:r>
            <a:r>
              <a:rPr lang="zh-CN" dirty="0"/>
              <a:t>必须</a:t>
            </a:r>
            <a:r>
              <a:rPr lang="en-US" dirty="0"/>
              <a:t> 100% </a:t>
            </a:r>
            <a:r>
              <a:rPr lang="zh-CN" dirty="0"/>
              <a:t>正确。我把它拆成两个问题。问题一：这串数字是不是一个可用的号码？注意判断标准不是“能不能打通”，不是</a:t>
            </a:r>
            <a:r>
              <a:rPr lang="en-US" dirty="0"/>
              <a:t>"</a:t>
            </a:r>
            <a:r>
              <a:rPr lang="zh-CN" dirty="0"/>
              <a:t>像不像号码</a:t>
            </a:r>
            <a:r>
              <a:rPr lang="en-US" dirty="0"/>
              <a:t>"</a:t>
            </a:r>
            <a:r>
              <a:rPr lang="zh-CN" dirty="0"/>
              <a:t>。但是此处不能使用大模型，因为要保证低成本、无幻觉、结果可解释。这里我用的是规则流水线判断，主要靠正则表达式实现。经过了多轮迭代，设定了二十多条规则组合、在</a:t>
            </a:r>
            <a:r>
              <a:rPr lang="en-US" dirty="0"/>
              <a:t> 27.8 </a:t>
            </a:r>
            <a:r>
              <a:rPr lang="zh-CN" dirty="0"/>
              <a:t>万条样本上验证，确认无效</a:t>
            </a:r>
            <a:r>
              <a:rPr lang="en-US" dirty="0"/>
              <a:t> 25,045 </a:t>
            </a:r>
            <a:r>
              <a:rPr lang="zh-CN" dirty="0"/>
              <a:t>条，占</a:t>
            </a:r>
            <a:r>
              <a:rPr lang="en-US" dirty="0"/>
              <a:t> 9%</a:t>
            </a:r>
            <a:r>
              <a:rPr lang="zh-CN" dirty="0"/>
              <a:t>；为降低误判，放行率也提升从</a:t>
            </a:r>
            <a:r>
              <a:rPr lang="en-US" dirty="0"/>
              <a:t> 88.31% </a:t>
            </a:r>
            <a:r>
              <a:rPr lang="zh-CN" dirty="0"/>
              <a:t>提升到</a:t>
            </a:r>
            <a:r>
              <a:rPr lang="en-US" dirty="0"/>
              <a:t> 91%</a:t>
            </a:r>
            <a:r>
              <a:rPr lang="zh-CN" dirty="0"/>
              <a:t>。</a:t>
            </a:r>
            <a:r>
              <a:rPr lang="en-US" dirty="0"/>
              <a:t>
</a:t>
            </a:r>
            <a:r>
              <a:rPr lang="zh-CN" dirty="0"/>
              <a:t>问题二：这个号码真的属于该法院吗？这个规则做不到，我预研了两条</a:t>
            </a:r>
            <a:r>
              <a:rPr lang="en-US" dirty="0"/>
              <a:t> AI </a:t>
            </a:r>
            <a:r>
              <a:rPr lang="zh-CN" dirty="0"/>
              <a:t>路线：一条是</a:t>
            </a:r>
            <a:r>
              <a:rPr lang="en-US" dirty="0"/>
              <a:t> Agent </a:t>
            </a:r>
            <a:r>
              <a:rPr lang="zh-CN" dirty="0"/>
              <a:t>虚拟拨号，另一条是</a:t>
            </a:r>
            <a:r>
              <a:rPr lang="en-US" dirty="0"/>
              <a:t> AI </a:t>
            </a:r>
            <a:r>
              <a:rPr lang="zh-CN" dirty="0"/>
              <a:t>爬虫全网提取法院公开电话做匹配。不过当前有效性校验只作技术储备，不参与拦截。我的判断就是：</a:t>
            </a:r>
            <a:r>
              <a:rPr lang="en-US" dirty="0"/>
              <a:t>"</a:t>
            </a:r>
            <a:r>
              <a:rPr lang="zh-CN" dirty="0"/>
              <a:t>像不像号码</a:t>
            </a:r>
            <a:r>
              <a:rPr lang="en-US" dirty="0"/>
              <a:t>"</a:t>
            </a:r>
            <a:r>
              <a:rPr lang="zh-CN" dirty="0"/>
              <a:t>必须零误拦，所以交给规则；</a:t>
            </a:r>
            <a:r>
              <a:rPr lang="en-US" dirty="0"/>
              <a:t>"</a:t>
            </a:r>
            <a:r>
              <a:rPr lang="zh-CN" dirty="0"/>
              <a:t>属不属于法院</a:t>
            </a:r>
            <a:r>
              <a:rPr lang="en-US" dirty="0"/>
              <a:t>"</a:t>
            </a:r>
            <a:r>
              <a:rPr lang="zh-CN" dirty="0"/>
              <a:t>规则做不到，交给</a:t>
            </a:r>
            <a:r>
              <a:rPr lang="en-US" dirty="0"/>
              <a:t> AI</a:t>
            </a:r>
            <a:r>
              <a:rPr lang="zh-CN" dirty="0"/>
              <a:t>。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备注占位符 37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第二个是印章检测。挑战是印章可能极浅、极小、非红色，而单条耗时需要控制在</a:t>
            </a:r>
            <a:r>
              <a:rPr lang="en-US" dirty="0"/>
              <a:t> 3 </a:t>
            </a:r>
            <a:r>
              <a:rPr lang="zh-CN" dirty="0"/>
              <a:t>秒以内。</a:t>
            </a:r>
            <a:r>
              <a:rPr lang="en-US" dirty="0"/>
              <a:t>
</a:t>
            </a:r>
            <a:r>
              <a:rPr lang="zh-CN" dirty="0"/>
              <a:t>我的方案是一个三级漏斗：第一级，三个轻量模型做三分类；第二级，八块切分重跑；第三级，仍不确定的样本才进</a:t>
            </a:r>
            <a:r>
              <a:rPr lang="en-US" dirty="0"/>
              <a:t> VLM </a:t>
            </a:r>
            <a:r>
              <a:rPr lang="zh-CN" dirty="0"/>
              <a:t>复核；</a:t>
            </a:r>
            <a:r>
              <a:rPr lang="en-US" dirty="0"/>
              <a:t>
</a:t>
            </a:r>
            <a:r>
              <a:rPr lang="zh-CN" dirty="0"/>
              <a:t>这里的关键思考有两点：一是不强迫单一模型覆盖全部样本</a:t>
            </a:r>
            <a:r>
              <a:rPr lang="en-US" dirty="0"/>
              <a:t>——</a:t>
            </a:r>
            <a:r>
              <a:rPr lang="zh-CN" dirty="0"/>
              <a:t>高分直判、中分互证、边界升级，绝大多数样本由轻量模型判断，疑难样本才交给</a:t>
            </a:r>
            <a:r>
              <a:rPr lang="en-US" dirty="0"/>
              <a:t> VLM</a:t>
            </a:r>
            <a:r>
              <a:rPr lang="zh-CN" dirty="0"/>
              <a:t>，算力花在信息增益最高的样本上；二是多模型聚合不能依靠简单的多数投票，是从数百种</a:t>
            </a:r>
            <a:r>
              <a:rPr lang="en-US" dirty="0"/>
              <a:t>"</a:t>
            </a:r>
            <a:r>
              <a:rPr lang="zh-CN" dirty="0"/>
              <a:t>分数乘信号</a:t>
            </a:r>
            <a:r>
              <a:rPr lang="en-US" dirty="0"/>
              <a:t>"</a:t>
            </a:r>
            <a:r>
              <a:rPr lang="zh-CN" dirty="0"/>
              <a:t>组合的实验里筛出来的。最终效果：万条最新数据集精准率</a:t>
            </a:r>
            <a:r>
              <a:rPr lang="en-US" dirty="0"/>
              <a:t> 100%</a:t>
            </a:r>
            <a:r>
              <a:rPr lang="zh-CN" dirty="0"/>
              <a:t>，抽检召回率</a:t>
            </a:r>
            <a:r>
              <a:rPr lang="en-US" dirty="0"/>
              <a:t> 100%</a:t>
            </a:r>
            <a:r>
              <a:rPr lang="zh-CN" dirty="0"/>
              <a:t>，主处理链路单条耗时在</a:t>
            </a:r>
            <a:r>
              <a:rPr lang="en-US" dirty="0"/>
              <a:t> 3 </a:t>
            </a:r>
            <a:r>
              <a:rPr lang="zh-CN" dirty="0"/>
              <a:t>秒硬约束内（实际不到一秒），预计日均拦截</a:t>
            </a:r>
            <a:r>
              <a:rPr lang="en-US" dirty="0"/>
              <a:t> 12,034 </a:t>
            </a:r>
            <a:r>
              <a:rPr lang="zh-CN" dirty="0"/>
              <a:t>条。</a:t>
            </a: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备注占位符 39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文书类型处理机制与印章类似，主要是对异常</a:t>
            </a:r>
            <a:r>
              <a:rPr lang="en-US" dirty="0"/>
              <a:t>case</a:t>
            </a:r>
            <a:r>
              <a:rPr lang="zh-CN" dirty="0"/>
              <a:t>做宽容处理，这里也不再赘述</a:t>
            </a:r>
            <a:endParaRPr dirty="0"/>
          </a:p>
          <a:p>
            <a:endParaRPr lang="zh-CN" dirty="0"/>
          </a:p>
          <a:p>
            <a:r>
              <a:rPr lang="zh-CN" dirty="0"/>
              <a:t>第三个是文书类型识别，要识别</a:t>
            </a:r>
            <a:r>
              <a:rPr lang="en-US" dirty="0"/>
              <a:t> 27 </a:t>
            </a:r>
            <a:r>
              <a:rPr lang="zh-CN" dirty="0"/>
              <a:t>类高频白名单。挑战包括错别字、多字少字需要宽容、多图并排导致</a:t>
            </a:r>
            <a:r>
              <a:rPr lang="en-US" dirty="0"/>
              <a:t> OCR </a:t>
            </a:r>
            <a:r>
              <a:rPr lang="zh-CN" dirty="0"/>
              <a:t>结果不连续、删除线、旋转文书等等。</a:t>
            </a:r>
            <a:r>
              <a:rPr lang="en-US" dirty="0"/>
              <a:t>
</a:t>
            </a:r>
            <a:r>
              <a:rPr lang="zh-CN" dirty="0"/>
              <a:t>方案同样是分级：先用</a:t>
            </a:r>
            <a:r>
              <a:rPr lang="en-US" dirty="0"/>
              <a:t> PP-OCRv6 </a:t>
            </a:r>
            <a:r>
              <a:rPr lang="zh-CN" dirty="0"/>
              <a:t>做识别，单条约</a:t>
            </a:r>
            <a:r>
              <a:rPr lang="en-US" dirty="0"/>
              <a:t> 269 </a:t>
            </a:r>
            <a:r>
              <a:rPr lang="zh-CN" dirty="0"/>
              <a:t>毫秒；然后走白名单分类，用归一化加编辑距离加锚点顺序匹配；没命中或异常的才交给</a:t>
            </a:r>
            <a:r>
              <a:rPr lang="en-US" dirty="0"/>
              <a:t> VL </a:t>
            </a:r>
            <a:r>
              <a:rPr lang="zh-CN" dirty="0"/>
              <a:t>大模型兜底，单条约</a:t>
            </a:r>
            <a:r>
              <a:rPr lang="en-US" dirty="0"/>
              <a:t> 1.26 </a:t>
            </a:r>
            <a:r>
              <a:rPr lang="zh-CN" dirty="0"/>
              <a:t>秒；最后人工闭环，错误类型沉淀下来反哺规则和白名单。</a:t>
            </a:r>
            <a:r>
              <a:rPr lang="en-US" dirty="0"/>
              <a:t>
</a:t>
            </a:r>
            <a:r>
              <a:rPr lang="zh-CN" dirty="0"/>
              <a:t>我的思考是：每条规则要对应一种稳定的</a:t>
            </a:r>
            <a:r>
              <a:rPr lang="en-US" dirty="0"/>
              <a:t> OCR </a:t>
            </a:r>
            <a:r>
              <a:rPr lang="zh-CN" dirty="0"/>
              <a:t>失败模式，而不是逐条打补丁。比如归一化治错字、锚点顺序治水印插入和错序、最长匹配防止短标题被抢占。编辑距离也是自适应的：</a:t>
            </a:r>
            <a:r>
              <a:rPr lang="en-US" dirty="0"/>
              <a:t>6 </a:t>
            </a:r>
            <a:r>
              <a:rPr lang="zh-CN" dirty="0"/>
              <a:t>个字以内要求精确，</a:t>
            </a:r>
            <a:r>
              <a:rPr lang="en-US" dirty="0"/>
              <a:t>7 </a:t>
            </a:r>
            <a:r>
              <a:rPr lang="zh-CN" dirty="0"/>
              <a:t>到</a:t>
            </a:r>
            <a:r>
              <a:rPr lang="en-US" dirty="0"/>
              <a:t> 12 </a:t>
            </a:r>
            <a:r>
              <a:rPr lang="zh-CN" dirty="0"/>
              <a:t>字允许错</a:t>
            </a:r>
            <a:r>
              <a:rPr lang="en-US" dirty="0"/>
              <a:t> 1 </a:t>
            </a:r>
            <a:r>
              <a:rPr lang="zh-CN" dirty="0"/>
              <a:t>个，</a:t>
            </a:r>
            <a:r>
              <a:rPr lang="en-US" dirty="0"/>
              <a:t>13 </a:t>
            </a:r>
            <a:r>
              <a:rPr lang="zh-CN" dirty="0"/>
              <a:t>到</a:t>
            </a:r>
            <a:r>
              <a:rPr lang="en-US" dirty="0"/>
              <a:t> 20 </a:t>
            </a:r>
            <a:r>
              <a:rPr lang="zh-CN" dirty="0"/>
              <a:t>字允许错</a:t>
            </a:r>
            <a:r>
              <a:rPr lang="en-US" dirty="0"/>
              <a:t> 2 </a:t>
            </a:r>
            <a:r>
              <a:rPr lang="zh-CN" dirty="0"/>
              <a:t>个，</a:t>
            </a:r>
            <a:r>
              <a:rPr lang="en-US" dirty="0"/>
              <a:t>20 </a:t>
            </a:r>
            <a:r>
              <a:rPr lang="zh-CN" dirty="0"/>
              <a:t>字以上允许错</a:t>
            </a:r>
            <a:r>
              <a:rPr lang="en-US" dirty="0"/>
              <a:t> 3 </a:t>
            </a:r>
            <a:r>
              <a:rPr lang="zh-CN" dirty="0"/>
              <a:t>个</a:t>
            </a:r>
            <a:r>
              <a:rPr lang="en-US" dirty="0"/>
              <a:t>——</a:t>
            </a:r>
            <a:r>
              <a:rPr lang="zh-CN" dirty="0"/>
              <a:t>短标题防误吸附，长标题允许更多噪声。效果上，五批评测准确率</a:t>
            </a:r>
            <a:r>
              <a:rPr lang="en-US" dirty="0"/>
              <a:t> 100%</a:t>
            </a:r>
            <a:r>
              <a:rPr lang="zh-CN" dirty="0"/>
              <a:t>，主链路单条耗时</a:t>
            </a:r>
            <a:r>
              <a:rPr lang="en-US" dirty="0"/>
              <a:t> 0.28 </a:t>
            </a:r>
            <a:r>
              <a:rPr lang="zh-CN" dirty="0"/>
              <a:t>秒，预计日均拦截</a:t>
            </a:r>
            <a:r>
              <a:rPr lang="en-US" dirty="0"/>
              <a:t> 4,697 </a:t>
            </a:r>
            <a:r>
              <a:rPr lang="zh-CN" dirty="0"/>
              <a:t>条</a:t>
            </a: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第四个是清晰度检测，这是漏斗占比最高、</a:t>
            </a:r>
            <a:r>
              <a:rPr lang="en-US" dirty="0"/>
              <a:t>ROI </a:t>
            </a:r>
            <a:r>
              <a:rPr lang="zh-CN" dirty="0"/>
              <a:t>最高的核心任务，也是我这次的重点。所以如果能把模糊样本前置检出，能大幅给下游减负。
在这个任务上，</a:t>
            </a:r>
            <a:r>
              <a:rPr sz="1300" b="1" dirty="0" err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我的方案：重定义规则（二分类</a:t>
            </a:r>
            <a:r>
              <a:rPr sz="1300" b="1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300" b="1" dirty="0" err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五档序数分类</a:t>
            </a:r>
            <a:r>
              <a:rPr sz="1300" b="1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），</a:t>
            </a:r>
            <a:r>
              <a:rPr lang="zh-CN" sz="1300" b="1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</a:t>
            </a:r>
            <a:r>
              <a:rPr lang="en-US" sz="1300" b="1" dirty="0" err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xgboost</a:t>
            </a:r>
            <a:r>
              <a:rPr sz="1300" b="1" dirty="0" err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改用</a:t>
            </a:r>
            <a:r>
              <a:rPr sz="1300" b="1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Qwen3.5-9B </a:t>
            </a:r>
            <a:r>
              <a:rPr sz="1300" b="1" dirty="0" err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并</a:t>
            </a:r>
            <a:r>
              <a:rPr sz="1300" b="1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1" dirty="0" err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LoRA</a:t>
            </a:r>
            <a:r>
              <a:rPr sz="1300" b="1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1" dirty="0" err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微</a:t>
            </a:r>
            <a:r>
              <a:rPr lang="zh-CN" altLang="en-US" sz="1300" b="1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，来得到效果更好的判别模型</a:t>
            </a:r>
            <a:r>
              <a:rPr sz="1300" b="1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
</a:t>
            </a:r>
            <a:r>
              <a:rPr lang="zh-CN" dirty="0"/>
              <a:t>原方案是</a:t>
            </a:r>
            <a:r>
              <a:rPr lang="en-US" dirty="0"/>
              <a:t> </a:t>
            </a:r>
            <a:r>
              <a:rPr lang="en-US" dirty="0" err="1"/>
              <a:t>XGBoost</a:t>
            </a:r>
            <a:r>
              <a:rPr lang="en-US" dirty="0"/>
              <a:t> </a:t>
            </a:r>
            <a:r>
              <a:rPr lang="zh-CN" dirty="0"/>
              <a:t>二分类模型，测试数据集准确率</a:t>
            </a:r>
            <a:r>
              <a:rPr sz="1400" b="1" dirty="0">
                <a:solidFill>
                  <a:srgbClr val="495057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-apple-system"/>
                <a:ea typeface="-apple-system"/>
              </a:rPr>
              <a:t>94.9%</a:t>
            </a:r>
            <a:r>
              <a:rPr lang="zh-CN" dirty="0"/>
              <a:t>。但是我在真实实践中发现，它在一些边界</a:t>
            </a:r>
            <a:r>
              <a:rPr lang="en-US" dirty="0"/>
              <a:t>case</a:t>
            </a:r>
            <a:r>
              <a:rPr lang="zh-CN" dirty="0"/>
              <a:t>上准确率很低，这是因为清晰和模糊没有公认的界定标准，真实样本并不是非黑即白的，以及人可能会受先验影响，自动剔除水印、纹路、反光这些干扰，在这些中间</a:t>
            </a:r>
            <a:r>
              <a:rPr lang="en-US" dirty="0"/>
              <a:t>case</a:t>
            </a:r>
            <a:r>
              <a:rPr lang="zh-CN" dirty="0"/>
              <a:t>上，</a:t>
            </a:r>
            <a:r>
              <a:rPr lang="en-US" dirty="0" err="1"/>
              <a:t>XGBoost</a:t>
            </a:r>
            <a:r>
              <a:rPr lang="en-US" dirty="0"/>
              <a:t> </a:t>
            </a:r>
            <a:r>
              <a:rPr lang="zh-CN" dirty="0"/>
              <a:t>和与安管对齐后的数据的一致性只有</a:t>
            </a:r>
            <a:r>
              <a:rPr lang="en-US" dirty="0"/>
              <a:t> 23%</a:t>
            </a:r>
            <a:r>
              <a:rPr lang="zh-CN" dirty="0"/>
              <a:t>，因此我判断二分类标出来的数据质量是训不出可用模型的。因此要转为多分类问题，至于怎么转呢，我做了几种尝试。</a:t>
            </a:r>
            <a:r>
              <a:rPr lang="en-US" dirty="0"/>
              <a:t>
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备注占位符 3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所以我做了系统性的探索，一共验证了五类替代方案</a:t>
            </a:r>
            <a:r>
              <a:rPr lang="zh-CN" altLang="en-US" dirty="0"/>
              <a:t>，都没有得到较好的效果</a:t>
            </a:r>
            <a:r>
              <a:rPr lang="zh-CN" dirty="0"/>
              <a:t>：</a:t>
            </a:r>
            <a:r>
              <a:rPr lang="en-US" dirty="0" err="1"/>
              <a:t>XGBoost</a:t>
            </a:r>
            <a:r>
              <a:rPr lang="en-US" dirty="0"/>
              <a:t> </a:t>
            </a:r>
            <a:r>
              <a:rPr lang="zh-CN" dirty="0"/>
              <a:t>打分直接五分类，但它有个致命问题：得分呈强双峰分布，中间档样本极少，根本没法直接切分。；</a:t>
            </a:r>
            <a:r>
              <a:rPr lang="en-US" dirty="0"/>
              <a:t>CLIP </a:t>
            </a:r>
            <a:r>
              <a:rPr lang="zh-CN" dirty="0"/>
              <a:t>零样本只有</a:t>
            </a:r>
            <a:r>
              <a:rPr lang="en-US" dirty="0"/>
              <a:t> 64.5%</a:t>
            </a:r>
            <a:r>
              <a:rPr lang="zh-CN" dirty="0"/>
              <a:t>，因为</a:t>
            </a:r>
            <a:r>
              <a:rPr lang="en-US" dirty="0"/>
              <a:t> CLIP </a:t>
            </a:r>
            <a:r>
              <a:rPr lang="zh-CN" dirty="0"/>
              <a:t>训练目标是图文语义匹配，不是质量评估，清晰和模糊的</a:t>
            </a:r>
            <a:r>
              <a:rPr lang="en-US" dirty="0"/>
              <a:t> cosine </a:t>
            </a:r>
            <a:r>
              <a:rPr lang="zh-CN" dirty="0"/>
              <a:t>相似度差异只有</a:t>
            </a:r>
            <a:r>
              <a:rPr lang="en-US" dirty="0"/>
              <a:t> 0.006</a:t>
            </a:r>
            <a:r>
              <a:rPr lang="zh-CN" dirty="0"/>
              <a:t>；</a:t>
            </a:r>
            <a:r>
              <a:rPr lang="en-US" dirty="0"/>
              <a:t>CLIP </a:t>
            </a:r>
            <a:r>
              <a:rPr lang="zh-CN" dirty="0"/>
              <a:t>特征加线性分类头能到</a:t>
            </a:r>
            <a:r>
              <a:rPr lang="en-US" dirty="0"/>
              <a:t> 98.36%</a:t>
            </a:r>
            <a:r>
              <a:rPr lang="zh-CN" dirty="0"/>
              <a:t>，但这是个陷阱</a:t>
            </a:r>
            <a:r>
              <a:rPr lang="en-US" dirty="0"/>
              <a:t>——</a:t>
            </a:r>
            <a:r>
              <a:rPr lang="zh-CN" dirty="0"/>
              <a:t>高分只是拟合了弱监督标签，在</a:t>
            </a:r>
            <a:r>
              <a:rPr lang="en-US" dirty="0"/>
              <a:t> 82 </a:t>
            </a:r>
            <a:r>
              <a:rPr lang="zh-CN" dirty="0"/>
              <a:t>条和</a:t>
            </a:r>
            <a:r>
              <a:rPr lang="en-US" dirty="0"/>
              <a:t> </a:t>
            </a:r>
            <a:r>
              <a:rPr lang="en-US" dirty="0" err="1"/>
              <a:t>XGBoost</a:t>
            </a:r>
            <a:r>
              <a:rPr lang="en-US" dirty="0"/>
              <a:t> </a:t>
            </a:r>
            <a:r>
              <a:rPr lang="zh-CN" dirty="0"/>
              <a:t>分歧的</a:t>
            </a:r>
            <a:r>
              <a:rPr lang="en-US" dirty="0"/>
              <a:t> case </a:t>
            </a:r>
            <a:r>
              <a:rPr lang="zh-CN" dirty="0"/>
              <a:t>上只有</a:t>
            </a:r>
            <a:r>
              <a:rPr lang="en-US" dirty="0"/>
              <a:t> 29.7% </a:t>
            </a:r>
            <a:r>
              <a:rPr lang="zh-CN" dirty="0"/>
              <a:t>正确，说明纯</a:t>
            </a:r>
            <a:r>
              <a:rPr lang="en-US" dirty="0"/>
              <a:t> CLIP </a:t>
            </a:r>
            <a:r>
              <a:rPr lang="zh-CN" dirty="0"/>
              <a:t>特征缺少</a:t>
            </a:r>
            <a:r>
              <a:rPr lang="en-US" dirty="0"/>
              <a:t> OCR </a:t>
            </a:r>
            <a:r>
              <a:rPr lang="zh-CN" dirty="0"/>
              <a:t>质量信息；</a:t>
            </a:r>
            <a:r>
              <a:rPr lang="en-US" dirty="0"/>
              <a:t>Qwen3-VL-235B </a:t>
            </a:r>
            <a:r>
              <a:rPr lang="zh-CN" dirty="0"/>
              <a:t>直接评分只有</a:t>
            </a:r>
            <a:r>
              <a:rPr lang="en-US" dirty="0"/>
              <a:t> 26%</a:t>
            </a:r>
            <a:r>
              <a:rPr lang="zh-CN" dirty="0"/>
              <a:t>，它能读出字就判清晰，从不给</a:t>
            </a:r>
            <a:r>
              <a:rPr lang="en-US" dirty="0"/>
              <a:t> 4 </a:t>
            </a:r>
            <a:r>
              <a:rPr lang="zh-CN" dirty="0"/>
              <a:t>分</a:t>
            </a:r>
            <a:r>
              <a:rPr lang="en-US" dirty="0"/>
              <a:t> 5 </a:t>
            </a:r>
            <a:r>
              <a:rPr lang="zh-CN" dirty="0"/>
              <a:t>分，做不了绝对评分；</a:t>
            </a:r>
            <a:r>
              <a:rPr lang="en-US" dirty="0"/>
              <a:t>VLM </a:t>
            </a:r>
            <a:r>
              <a:rPr lang="zh-CN" dirty="0"/>
              <a:t>两两对比能分辨相对差异，但不适合绝对评分，成本也太高。最后通过文献调研定位到一个关键结论：</a:t>
            </a:r>
            <a:r>
              <a:rPr lang="en-US" dirty="0"/>
              <a:t>OCR </a:t>
            </a:r>
            <a:r>
              <a:rPr lang="zh-CN" dirty="0"/>
              <a:t>置信度是文档质量评估最关键的特征。我对</a:t>
            </a:r>
            <a:r>
              <a:rPr lang="en-US" dirty="0"/>
              <a:t> 1000 </a:t>
            </a:r>
            <a:r>
              <a:rPr lang="zh-CN" dirty="0"/>
              <a:t>条数据做了实测，考虑能不能给出一套人工可辨、机器可识别的分类标准</a:t>
            </a: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备注占位符 5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最终，考虑</a:t>
            </a:r>
            <a:r>
              <a:rPr lang="en-US" altLang="zh-CN" dirty="0"/>
              <a:t>OCR</a:t>
            </a:r>
            <a:r>
              <a:rPr lang="zh-CN" altLang="en-US" dirty="0"/>
              <a:t>置信度这个重要指标，</a:t>
            </a:r>
            <a:r>
              <a:rPr lang="zh-CN" dirty="0"/>
              <a:t>我把</a:t>
            </a:r>
            <a:r>
              <a:rPr lang="en-US" dirty="0"/>
              <a:t>“</a:t>
            </a:r>
            <a:r>
              <a:rPr lang="zh-CN" dirty="0"/>
              <a:t>可辨识度</a:t>
            </a:r>
            <a:r>
              <a:rPr lang="en-US" dirty="0"/>
              <a:t>”</a:t>
            </a:r>
            <a:r>
              <a:rPr lang="zh-CN" dirty="0"/>
              <a:t>拆成两个可计算的因子：不可辨比例，加上可辨文字的清晰程度，定义了从</a:t>
            </a:r>
            <a:r>
              <a:rPr lang="en-US" dirty="0"/>
              <a:t> Level 1 </a:t>
            </a:r>
            <a:r>
              <a:rPr lang="zh-CN" dirty="0"/>
              <a:t>完全清晰到</a:t>
            </a:r>
            <a:r>
              <a:rPr lang="en-US" dirty="0"/>
              <a:t> Level 5 </a:t>
            </a:r>
            <a:r>
              <a:rPr lang="zh-CN" dirty="0"/>
              <a:t>完全无法辨认的五级标准，用</a:t>
            </a:r>
            <a:r>
              <a:rPr lang="en-US" dirty="0"/>
              <a:t> 10%</a:t>
            </a:r>
            <a:r>
              <a:rPr lang="zh-CN" dirty="0"/>
              <a:t>、</a:t>
            </a:r>
            <a:r>
              <a:rPr lang="en-US" dirty="0"/>
              <a:t>50%</a:t>
            </a:r>
            <a:r>
              <a:rPr lang="zh-CN" dirty="0"/>
              <a:t>、</a:t>
            </a:r>
            <a:r>
              <a:rPr lang="en-US" dirty="0"/>
              <a:t>90% </a:t>
            </a:r>
            <a:r>
              <a:rPr lang="zh-CN" dirty="0"/>
              <a:t>的不可辨认比例来划分档位。同时定了边界规则：</a:t>
            </a:r>
            <a:r>
              <a:rPr lang="zh-CN" altLang="en-US" dirty="0"/>
              <a:t>比如</a:t>
            </a:r>
            <a:r>
              <a:rPr lang="zh-CN" dirty="0"/>
              <a:t>印章、签名、手写部分的模糊不计入，只看正文印刷文字</a:t>
            </a:r>
            <a:r>
              <a:rPr lang="zh-CN" altLang="en-US" dirty="0"/>
              <a:t>等等</a:t>
            </a:r>
            <a:r>
              <a:rPr lang="zh-CN" dirty="0"/>
              <a:t>；表格线边框断裂不算模糊；</a:t>
            </a:r>
            <a:r>
              <a:rPr lang="en-US" dirty="0"/>
              <a:t>"</a:t>
            </a:r>
            <a:r>
              <a:rPr lang="zh-CN" dirty="0"/>
              <a:t>能根据上下文猜出来但笔画看不清</a:t>
            </a:r>
            <a:r>
              <a:rPr lang="en-US" dirty="0"/>
              <a:t>"</a:t>
            </a:r>
            <a:r>
              <a:rPr lang="zh-CN" dirty="0"/>
              <a:t>算不可辨认；空白页、严重遮挡这些特殊情况单独判别，不污染标签。一句话，用逐行</a:t>
            </a:r>
            <a:r>
              <a:rPr lang="en-US" dirty="0"/>
              <a:t> OCR </a:t>
            </a:r>
            <a:r>
              <a:rPr lang="zh-CN" dirty="0"/>
              <a:t>置信度把</a:t>
            </a:r>
            <a:r>
              <a:rPr lang="en-US" dirty="0"/>
              <a:t>"</a:t>
            </a:r>
            <a:r>
              <a:rPr lang="zh-CN" dirty="0"/>
              <a:t>清晰模糊</a:t>
            </a:r>
            <a:r>
              <a:rPr lang="en-US" dirty="0"/>
              <a:t>"</a:t>
            </a:r>
            <a:r>
              <a:rPr lang="zh-CN" dirty="0"/>
              <a:t>这个模糊的概念，锚定成可操作、可标注的五级标准。</a:t>
            </a:r>
            <a:r>
              <a:rPr lang="en-US" dirty="0"/>
              <a:t>
</a:t>
            </a: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备注占位符 7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第二，规则预标注。现实约束是只有一名标注人员，所以必须用规则低成本初标，人工只复核边界样本。流程是：先逐行提取</a:t>
            </a:r>
            <a:r>
              <a:rPr lang="en-US" dirty="0"/>
              <a:t> OCR </a:t>
            </a:r>
            <a:r>
              <a:rPr lang="zh-CN" dirty="0"/>
              <a:t>置信度、字数、面积，用轻量印章检测排除干扰；然后按字数和面积加权算不可读比例，定</a:t>
            </a:r>
            <a:r>
              <a:rPr lang="en-US" dirty="0"/>
              <a:t> Level 3 </a:t>
            </a:r>
            <a:r>
              <a:rPr lang="zh-CN" dirty="0"/>
              <a:t>到</a:t>
            </a:r>
            <a:r>
              <a:rPr lang="en-US" dirty="0"/>
              <a:t> 5</a:t>
            </a:r>
            <a:r>
              <a:rPr lang="zh-CN" dirty="0"/>
              <a:t>；再用拉普拉斯方差和边缘强度区分</a:t>
            </a:r>
            <a:r>
              <a:rPr lang="en-US" dirty="0"/>
              <a:t> Level 1 </a:t>
            </a:r>
            <a:r>
              <a:rPr lang="zh-CN" dirty="0"/>
              <a:t>和</a:t>
            </a:r>
            <a:r>
              <a:rPr lang="en-US" dirty="0"/>
              <a:t> 2</a:t>
            </a:r>
            <a:r>
              <a:rPr lang="zh-CN" dirty="0"/>
              <a:t>。这里有个细节：</a:t>
            </a:r>
            <a:r>
              <a:rPr lang="en-US" dirty="0"/>
              <a:t>OCR </a:t>
            </a:r>
            <a:r>
              <a:rPr lang="zh-CN" dirty="0"/>
              <a:t>置信度低是一种模糊证据，但</a:t>
            </a:r>
            <a:r>
              <a:rPr lang="en-US" dirty="0"/>
              <a:t> OCR </a:t>
            </a:r>
            <a:r>
              <a:rPr lang="zh-CN" dirty="0"/>
              <a:t>完全漏检是更强的证据，所以我用</a:t>
            </a:r>
            <a:r>
              <a:rPr lang="en-US" dirty="0"/>
              <a:t> Otsu </a:t>
            </a:r>
            <a:r>
              <a:rPr lang="zh-CN" dirty="0"/>
              <a:t>二值化加连通域分析显式计算漏检比例，最多补偿</a:t>
            </a:r>
            <a:r>
              <a:rPr lang="en-US" dirty="0"/>
              <a:t> 2 </a:t>
            </a:r>
            <a:r>
              <a:rPr lang="zh-CN" dirty="0"/>
              <a:t>级。规则产出的是伪标签，价值在于低成本初标加高置信筛选，印章、手写体、生僻字造成的偏差交人工复核纠正。</a:t>
            </a:r>
            <a:r>
              <a:rPr lang="en-US" dirty="0"/>
              <a:t>
</a:t>
            </a: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第三，数据构建。我用</a:t>
            </a:r>
            <a:r>
              <a:rPr lang="en-US" dirty="0"/>
              <a:t> AI </a:t>
            </a:r>
            <a:r>
              <a:rPr lang="zh-CN" dirty="0"/>
              <a:t>辅助开发了一个标注平台，有判别原因展示、检索、缩放、快捷键，异常随时反馈、阈值即时调整，比共享</a:t>
            </a:r>
            <a:r>
              <a:rPr lang="en-US" dirty="0"/>
              <a:t> Excel </a:t>
            </a:r>
            <a:r>
              <a:rPr lang="zh-CN" dirty="0"/>
              <a:t>效率提升</a:t>
            </a:r>
            <a:r>
              <a:rPr lang="en-US" dirty="0"/>
              <a:t> 5 </a:t>
            </a:r>
            <a:r>
              <a:rPr lang="zh-CN" dirty="0"/>
              <a:t>倍以上，最终一个人完成了</a:t>
            </a:r>
            <a:r>
              <a:rPr lang="en-US" dirty="0"/>
              <a:t> 13,133 </a:t>
            </a:r>
            <a:r>
              <a:rPr lang="zh-CN" dirty="0"/>
              <a:t>条人工确认标签。训练集</a:t>
            </a:r>
            <a:r>
              <a:rPr lang="en-US" dirty="0"/>
              <a:t> 9,850 </a:t>
            </a:r>
            <a:r>
              <a:rPr lang="zh-CN" dirty="0"/>
              <a:t>条，测试集</a:t>
            </a:r>
            <a:r>
              <a:rPr lang="en-US" dirty="0"/>
              <a:t> 3,283 </a:t>
            </a:r>
            <a:r>
              <a:rPr lang="zh-CN" dirty="0"/>
              <a:t>条。训练集做了平方根反频率过采样，防止模型偏好输出低档位；标签上用了序数高斯标签平滑，既保留序数结构，又把标注的不确定性显式注入监督信号，抑制预标签噪声的过拟合。</a:t>
            </a: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备注占位符 11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模型上，我选了</a:t>
            </a:r>
            <a:r>
              <a:rPr lang="en-US" dirty="0"/>
              <a:t> Qwen3.5-9B </a:t>
            </a:r>
            <a:r>
              <a:rPr lang="zh-CN" dirty="0"/>
              <a:t>这个先进的小参数量原生多模态大模型做</a:t>
            </a:r>
            <a:r>
              <a:rPr lang="en-US" dirty="0"/>
              <a:t> </a:t>
            </a:r>
            <a:r>
              <a:rPr lang="en-US" dirty="0" err="1"/>
              <a:t>LoRA</a:t>
            </a:r>
            <a:r>
              <a:rPr lang="en-US" dirty="0"/>
              <a:t> </a:t>
            </a:r>
            <a:r>
              <a:rPr lang="zh-CN" dirty="0"/>
              <a:t>微调。选</a:t>
            </a:r>
            <a:r>
              <a:rPr lang="en-US" dirty="0"/>
              <a:t> VLM </a:t>
            </a:r>
            <a:r>
              <a:rPr lang="zh-CN" dirty="0"/>
              <a:t>的原因是它能复用文字区域、字符结构、版面布局这些预训练知识，少量标注就能迁移学习，而且能理解五档是序数递进的，不是互斥的硬类别。我使用设定好的</a:t>
            </a:r>
            <a:r>
              <a:rPr lang="en-US" dirty="0"/>
              <a:t>prompt</a:t>
            </a:r>
            <a:r>
              <a:rPr lang="zh-CN" dirty="0"/>
              <a:t>模版，输出固定为</a:t>
            </a:r>
            <a:r>
              <a:rPr lang="en-US" dirty="0"/>
              <a:t>The quality of the image is"</a:t>
            </a:r>
            <a:r>
              <a:rPr lang="zh-CN" dirty="0"/>
              <a:t>，</a:t>
            </a:r>
            <a:r>
              <a:rPr lang="en-US" dirty="0"/>
              <a:t>Loss </a:t>
            </a:r>
            <a:r>
              <a:rPr lang="zh-CN" dirty="0"/>
              <a:t>设计是这句话句末</a:t>
            </a:r>
            <a:r>
              <a:rPr lang="en-US" dirty="0"/>
              <a:t> is </a:t>
            </a:r>
            <a:r>
              <a:rPr lang="zh-CN" dirty="0"/>
              <a:t>位置上</a:t>
            </a:r>
            <a:r>
              <a:rPr lang="en-US" dirty="0"/>
              <a:t> 5 </a:t>
            </a:r>
            <a:r>
              <a:rPr lang="zh-CN" dirty="0"/>
              <a:t>个类别</a:t>
            </a:r>
            <a:r>
              <a:rPr lang="en-US" dirty="0"/>
              <a:t> token </a:t>
            </a:r>
            <a:r>
              <a:rPr lang="zh-CN" dirty="0"/>
              <a:t>的</a:t>
            </a:r>
            <a:r>
              <a:rPr lang="en-US" dirty="0"/>
              <a:t> logits</a:t>
            </a:r>
            <a:r>
              <a:rPr lang="zh-CN" dirty="0"/>
              <a:t>，对软标签算交叉熵，等价于</a:t>
            </a:r>
            <a:r>
              <a:rPr lang="en-US" dirty="0"/>
              <a:t> KL </a:t>
            </a:r>
            <a:r>
              <a:rPr lang="zh-CN" dirty="0"/>
              <a:t>散度加一个常数。训练用</a:t>
            </a:r>
            <a:r>
              <a:rPr lang="en-US" dirty="0"/>
              <a:t> </a:t>
            </a:r>
            <a:r>
              <a:rPr lang="en-US" dirty="0" err="1"/>
              <a:t>ms</a:t>
            </a:r>
            <a:r>
              <a:rPr lang="en-US" dirty="0"/>
              <a:t>-swift </a:t>
            </a:r>
            <a:r>
              <a:rPr lang="zh-CN" dirty="0"/>
              <a:t>框架，</a:t>
            </a:r>
            <a:r>
              <a:rPr lang="en-US" dirty="0" err="1"/>
              <a:t>LoRA</a:t>
            </a:r>
            <a:r>
              <a:rPr lang="en-US" dirty="0"/>
              <a:t> rank 8</a:t>
            </a:r>
            <a:r>
              <a:rPr lang="zh-CN" dirty="0"/>
              <a:t>，学习率</a:t>
            </a:r>
            <a:r>
              <a:rPr lang="en-US" dirty="0"/>
              <a:t> 1e-4</a:t>
            </a:r>
            <a:r>
              <a:rPr lang="zh-CN" dirty="0"/>
              <a:t>，冻结视觉塔，一共</a:t>
            </a:r>
            <a:r>
              <a:rPr lang="en-US" dirty="0"/>
              <a:t> 2538 </a:t>
            </a:r>
            <a:r>
              <a:rPr lang="zh-CN" dirty="0"/>
              <a:t>步。</a:t>
            </a:r>
            <a:r>
              <a:rPr lang="en-US" dirty="0"/>
              <a:t>
</a:t>
            </a: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备注占位符 13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结果上，训练到</a:t>
            </a:r>
            <a:r>
              <a:rPr lang="en-US" dirty="0"/>
              <a:t> step 1200</a:t>
            </a:r>
            <a:r>
              <a:rPr lang="zh-CN" dirty="0"/>
              <a:t>、大约</a:t>
            </a:r>
            <a:r>
              <a:rPr lang="en-US" dirty="0"/>
              <a:t> 1.4 </a:t>
            </a:r>
            <a:r>
              <a:rPr lang="zh-CN" dirty="0"/>
              <a:t>个</a:t>
            </a:r>
            <a:r>
              <a:rPr lang="en-US" dirty="0"/>
              <a:t> epoch </a:t>
            </a:r>
            <a:r>
              <a:rPr lang="zh-CN" dirty="0"/>
              <a:t>时</a:t>
            </a:r>
            <a:r>
              <a:rPr lang="en-US" dirty="0"/>
              <a:t> Eval Loss </a:t>
            </a:r>
            <a:r>
              <a:rPr lang="zh-CN" dirty="0"/>
              <a:t>触底</a:t>
            </a:r>
            <a:r>
              <a:rPr lang="en-US" dirty="0"/>
              <a:t> 0.0757</a:t>
            </a:r>
            <a:r>
              <a:rPr lang="zh-CN" dirty="0"/>
              <a:t>，继续训就过拟合了，所以及时早停。在</a:t>
            </a:r>
            <a:r>
              <a:rPr lang="en-US" dirty="0"/>
              <a:t> 3283 </a:t>
            </a:r>
            <a:r>
              <a:rPr lang="zh-CN" dirty="0"/>
              <a:t>条测试集上：组内准确率</a:t>
            </a:r>
            <a:r>
              <a:rPr lang="en-US" dirty="0"/>
              <a:t> 99.82%——</a:t>
            </a:r>
            <a:r>
              <a:rPr lang="zh-CN" dirty="0"/>
              <a:t>组内的意思是前三档和后两档之间不互相跨档。业务上我们拟拒</a:t>
            </a:r>
            <a:r>
              <a:rPr lang="en-US" dirty="0"/>
              <a:t> Level 4 </a:t>
            </a:r>
            <a:r>
              <a:rPr lang="zh-CN" dirty="0"/>
              <a:t>和</a:t>
            </a:r>
            <a:r>
              <a:rPr lang="en-US" dirty="0"/>
              <a:t> 5</a:t>
            </a:r>
            <a:r>
              <a:rPr lang="zh-CN" dirty="0"/>
              <a:t>，所以重点看</a:t>
            </a:r>
            <a:r>
              <a:rPr lang="en-US" dirty="0"/>
              <a:t>"</a:t>
            </a:r>
            <a:r>
              <a:rPr lang="zh-CN" dirty="0"/>
              <a:t>好图判差</a:t>
            </a:r>
            <a:r>
              <a:rPr lang="en-US" dirty="0"/>
              <a:t>"</a:t>
            </a:r>
            <a:r>
              <a:rPr lang="zh-CN" dirty="0"/>
              <a:t>的前到后跨档，只有</a:t>
            </a:r>
            <a:r>
              <a:rPr lang="en-US" dirty="0"/>
              <a:t> 1 </a:t>
            </a:r>
            <a:r>
              <a:rPr lang="zh-CN" dirty="0"/>
              <a:t>条；后到前跨档也只有</a:t>
            </a:r>
            <a:r>
              <a:rPr lang="en-US" dirty="0"/>
              <a:t> 5 </a:t>
            </a:r>
            <a:r>
              <a:rPr lang="zh-CN" dirty="0"/>
              <a:t>条。</a:t>
            </a:r>
            <a:r>
              <a:rPr lang="en-US" dirty="0"/>
              <a:t>
</a:t>
            </a: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备注占位符 15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消融实验对比了四种方案。硬标签版本把预标签噪声当确定事实去拟合，绝对准确率跌到</a:t>
            </a:r>
            <a:r>
              <a:rPr lang="en-US" dirty="0"/>
              <a:t> 65%</a:t>
            </a:r>
            <a:r>
              <a:rPr lang="zh-CN" dirty="0"/>
              <a:t>，前到后跨档涨到</a:t>
            </a:r>
            <a:r>
              <a:rPr lang="en-US" dirty="0"/>
              <a:t> 25 </a:t>
            </a:r>
            <a:r>
              <a:rPr lang="zh-CN" dirty="0"/>
              <a:t>条，说明软标签确实有效。纯视觉头版本缺少</a:t>
            </a:r>
            <a:r>
              <a:rPr lang="en-US" dirty="0"/>
              <a:t>"</a:t>
            </a:r>
            <a:r>
              <a:rPr lang="zh-CN" dirty="0"/>
              <a:t>读字</a:t>
            </a:r>
            <a:r>
              <a:rPr lang="en-US" dirty="0"/>
              <a:t>"</a:t>
            </a:r>
            <a:r>
              <a:rPr lang="zh-CN" dirty="0"/>
              <a:t>能力，理解不了</a:t>
            </a:r>
            <a:r>
              <a:rPr lang="en-US" dirty="0"/>
              <a:t>"</a:t>
            </a:r>
            <a:r>
              <a:rPr lang="zh-CN" dirty="0"/>
              <a:t>表格线断裂不算模糊</a:t>
            </a:r>
            <a:r>
              <a:rPr lang="en-US" dirty="0"/>
              <a:t>"</a:t>
            </a:r>
            <a:r>
              <a:rPr lang="zh-CN" dirty="0"/>
              <a:t>这种语义规则，容易把印章水印误判成模糊，跨档</a:t>
            </a:r>
            <a:r>
              <a:rPr lang="en-US" dirty="0"/>
              <a:t> 30 </a:t>
            </a:r>
            <a:r>
              <a:rPr lang="zh-CN" dirty="0"/>
              <a:t>条，说明</a:t>
            </a:r>
            <a:r>
              <a:rPr lang="en-US" dirty="0"/>
              <a:t> LLM </a:t>
            </a:r>
            <a:r>
              <a:rPr lang="zh-CN" dirty="0"/>
              <a:t>的语义理解是必要的。综合看，软标签加</a:t>
            </a:r>
            <a:r>
              <a:rPr lang="en-US" dirty="0"/>
              <a:t> LLM </a:t>
            </a:r>
            <a:r>
              <a:rPr lang="zh-CN" dirty="0"/>
              <a:t>语义理解是最优方案。下一步计划是：模型替代规则做预标，人工只复核分歧样本，补</a:t>
            </a:r>
            <a:r>
              <a:rPr lang="en-US" dirty="0"/>
              <a:t> Level 4</a:t>
            </a:r>
            <a:r>
              <a:rPr lang="zh-CN" dirty="0"/>
              <a:t>、</a:t>
            </a:r>
            <a:r>
              <a:rPr lang="en-US" dirty="0"/>
              <a:t>5 </a:t>
            </a:r>
            <a:r>
              <a:rPr lang="zh-CN" dirty="0"/>
              <a:t>的长尾数据；落地采用两级路由</a:t>
            </a:r>
            <a:r>
              <a:rPr lang="en-US" dirty="0"/>
              <a:t>——</a:t>
            </a:r>
            <a:r>
              <a:rPr lang="zh-CN" dirty="0"/>
              <a:t>视觉头前置粗筛，</a:t>
            </a:r>
            <a:r>
              <a:rPr lang="en-US" dirty="0"/>
              <a:t>9B </a:t>
            </a:r>
            <a:r>
              <a:rPr lang="zh-CN" dirty="0"/>
              <a:t>模型主判，拒</a:t>
            </a:r>
            <a:r>
              <a:rPr lang="en-US" dirty="0"/>
              <a:t> Level 4/5</a:t>
            </a:r>
            <a:r>
              <a:rPr lang="zh-CN" dirty="0"/>
              <a:t>，</a:t>
            </a:r>
            <a:r>
              <a:rPr lang="en-US" dirty="0"/>
              <a:t>Level 3 </a:t>
            </a:r>
            <a:r>
              <a:rPr lang="zh-CN" dirty="0"/>
              <a:t>转人审，单卡就能部署。</a:t>
            </a: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备注占位符 17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讲完任务，再聊聊</a:t>
            </a:r>
            <a:r>
              <a:rPr lang="en-US" dirty="0"/>
              <a:t> AI </a:t>
            </a:r>
            <a:r>
              <a:rPr lang="zh-CN" dirty="0"/>
              <a:t>实践。我的定位是：</a:t>
            </a:r>
            <a:r>
              <a:rPr lang="en-US" dirty="0"/>
              <a:t>AI </a:t>
            </a:r>
            <a:r>
              <a:rPr lang="zh-CN" dirty="0"/>
              <a:t>是效率放大器，不是能力替代品。这次我在六个环节深度使用了</a:t>
            </a:r>
            <a:r>
              <a:rPr lang="en-US" dirty="0"/>
              <a:t> AI</a:t>
            </a:r>
            <a:r>
              <a:rPr lang="zh-CN" dirty="0"/>
              <a:t>：写训练代码、用</a:t>
            </a:r>
            <a:r>
              <a:rPr lang="en-US" dirty="0"/>
              <a:t> AI </a:t>
            </a:r>
            <a:r>
              <a:rPr lang="zh-CN" dirty="0"/>
              <a:t>编程全流程开发多套标注平台、文献调研、</a:t>
            </a:r>
            <a:r>
              <a:rPr lang="en-US" dirty="0"/>
              <a:t>bad case </a:t>
            </a:r>
            <a:r>
              <a:rPr lang="zh-CN" dirty="0"/>
              <a:t>归因分析、实验设计、训练监控。</a:t>
            </a:r>
            <a:br>
              <a:rPr dirty="0"/>
            </a:br>
            <a:r>
              <a:rPr lang="zh-CN" dirty="0"/>
              <a:t>沉淀下来六条经验，快速过一下：第一，可交互页面代替静态文档，</a:t>
            </a:r>
            <a:r>
              <a:rPr lang="en-US" dirty="0"/>
              <a:t>bad case </a:t>
            </a:r>
            <a:r>
              <a:rPr lang="zh-CN" dirty="0"/>
              <a:t>展示做成可筛选缩放的</a:t>
            </a:r>
            <a:r>
              <a:rPr lang="en-US" dirty="0"/>
              <a:t> HTML</a:t>
            </a:r>
            <a:r>
              <a:rPr lang="zh-CN" dirty="0"/>
              <a:t>，沟通效率远高于</a:t>
            </a:r>
            <a:r>
              <a:rPr lang="en-US" dirty="0"/>
              <a:t> markdown</a:t>
            </a:r>
            <a:r>
              <a:rPr lang="zh-CN" dirty="0"/>
              <a:t>；第二，维护个性化的</a:t>
            </a:r>
            <a:r>
              <a:rPr lang="en-US" dirty="0"/>
              <a:t> </a:t>
            </a:r>
            <a:r>
              <a:rPr lang="en-US" dirty="0" err="1"/>
              <a:t>memory.md</a:t>
            </a:r>
            <a:r>
              <a:rPr lang="zh-CN" dirty="0"/>
              <a:t>，把网络环境、工具用法、业务术语写进项目记忆，</a:t>
            </a:r>
            <a:r>
              <a:rPr lang="en-US" dirty="0"/>
              <a:t>AI </a:t>
            </a:r>
            <a:r>
              <a:rPr lang="zh-CN" dirty="0"/>
              <a:t>每次对话自带上下文；第三，上下文质量决定输出质量，喂错误日志原文、真实样例，输入越具体返工越少；第四，小步快跑，复杂任务拆成可独立运行的小模块，勤</a:t>
            </a:r>
            <a:r>
              <a:rPr lang="en-US" dirty="0"/>
              <a:t> commit </a:t>
            </a:r>
            <a:r>
              <a:rPr lang="zh-CN" dirty="0"/>
              <a:t>防改飞；第五，关键逻辑必须人工把关，标签对齐、指标口径这类地方</a:t>
            </a:r>
            <a:r>
              <a:rPr lang="en-US" dirty="0"/>
              <a:t> AI </a:t>
            </a:r>
            <a:r>
              <a:rPr lang="zh-CN" dirty="0"/>
              <a:t>容易埋隐蔽的坑；第六，</a:t>
            </a:r>
            <a:r>
              <a:rPr lang="en-US" dirty="0"/>
              <a:t>AI </a:t>
            </a:r>
            <a:r>
              <a:rPr lang="zh-CN" dirty="0"/>
              <a:t>负责广度，人负责判断</a:t>
            </a:r>
            <a:r>
              <a:rPr lang="en-US" dirty="0"/>
              <a:t>——</a:t>
            </a:r>
            <a:r>
              <a:rPr lang="zh-CN" dirty="0"/>
              <a:t>像</a:t>
            </a:r>
            <a:r>
              <a:rPr lang="en-US" dirty="0"/>
              <a:t>"</a:t>
            </a:r>
            <a:r>
              <a:rPr lang="zh-CN" dirty="0"/>
              <a:t>二分类改五分类</a:t>
            </a:r>
            <a:r>
              <a:rPr lang="en-US" dirty="0"/>
              <a:t>"</a:t>
            </a:r>
            <a:r>
              <a:rPr lang="zh-CN" dirty="0"/>
              <a:t>这种决策，依据的是对业务数据的理解，这个</a:t>
            </a:r>
            <a:r>
              <a:rPr lang="en-US" dirty="0"/>
              <a:t> AI </a:t>
            </a:r>
            <a:r>
              <a:rPr lang="zh-CN" dirty="0"/>
              <a:t>替代不了。</a:t>
            </a: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备注占位符 19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最后总结。做得好的地方有四个：一是思维转变，从盯离线指标到追求业务可信，我深刻体会到模型问题常常是任务定义问题；二是全链路视角，向上延伸到任务定义和数据标准，向下延伸到标注平台和人审闭环；三是数据质量优先，规则预标注加人工复核加平台化反馈，效率提升</a:t>
            </a:r>
            <a:r>
              <a:rPr lang="en-US" dirty="0"/>
              <a:t> 5 </a:t>
            </a:r>
            <a:r>
              <a:rPr lang="zh-CN" dirty="0"/>
              <a:t>倍，标签质量有机制保障；四是效果与成本平衡，单人完成标注，单卡可部署，推理满足</a:t>
            </a:r>
            <a:r>
              <a:rPr lang="en-US" dirty="0"/>
              <a:t> 3 </a:t>
            </a:r>
            <a:r>
              <a:rPr lang="zh-CN" dirty="0"/>
              <a:t>秒硬约束。</a:t>
            </a:r>
            <a:r>
              <a:rPr lang="en-US" dirty="0"/>
              <a:t>
</a:t>
            </a:r>
            <a:r>
              <a:rPr lang="zh-CN" dirty="0"/>
              <a:t>做得不好的我也坦诚讲三点：一是根因识别偏晚，前期在</a:t>
            </a:r>
            <a:r>
              <a:rPr lang="en-US" dirty="0"/>
              <a:t> </a:t>
            </a:r>
            <a:r>
              <a:rPr lang="en-US" dirty="0" err="1"/>
              <a:t>XGBoost</a:t>
            </a:r>
            <a:r>
              <a:rPr lang="en-US" dirty="0"/>
              <a:t> </a:t>
            </a:r>
            <a:r>
              <a:rPr lang="zh-CN" dirty="0"/>
              <a:t>阈值和</a:t>
            </a:r>
            <a:r>
              <a:rPr lang="en-US" dirty="0"/>
              <a:t> CLIP </a:t>
            </a:r>
            <a:r>
              <a:rPr lang="zh-CN" dirty="0"/>
              <a:t>零样本上试错较多，应该更早做任务定义推演；二是实验管理不够系统，记录分散，横向对比成本高；三是价值还没完全兑现，离线模型没接线上，拒单收益和误拦风险还没经过真实检验。</a:t>
            </a:r>
            <a:r>
              <a:rPr lang="en-US" dirty="0"/>
              <a:t>
</a:t>
            </a:r>
            <a:r>
              <a:rPr lang="zh-CN" dirty="0"/>
              <a:t>对应的提升计划：业务理解上，量化拒单率、误拦成本和人审工时，以业务</a:t>
            </a:r>
            <a:r>
              <a:rPr lang="en-US" dirty="0"/>
              <a:t> ROI </a:t>
            </a:r>
            <a:r>
              <a:rPr lang="zh-CN" dirty="0"/>
              <a:t>为锚做决策；工程落地上，补齐部署和推理加速短板，推动清晰度模型上线；数据闭环上，建立</a:t>
            </a:r>
            <a:r>
              <a:rPr lang="en-US" dirty="0"/>
              <a:t> bad case </a:t>
            </a:r>
            <a:r>
              <a:rPr lang="zh-CN" dirty="0"/>
              <a:t>回流机制；实验管理上，统一记录模板，保证可追溯。长期来看，我希望深耕多模态大模型在垂直业务场景的落地，从</a:t>
            </a:r>
            <a:r>
              <a:rPr lang="en-US" dirty="0"/>
              <a:t>"</a:t>
            </a:r>
            <a:r>
              <a:rPr lang="zh-CN" dirty="0"/>
              <a:t>训练模型的人</a:t>
            </a:r>
            <a:r>
              <a:rPr lang="en-US" dirty="0"/>
              <a:t>"</a:t>
            </a:r>
            <a:r>
              <a:rPr lang="zh-CN" dirty="0"/>
              <a:t>成长为</a:t>
            </a:r>
            <a:r>
              <a:rPr lang="en-US" dirty="0"/>
              <a:t>"</a:t>
            </a:r>
            <a:r>
              <a:rPr lang="zh-CN" dirty="0"/>
              <a:t>对业务结果负责的人</a:t>
            </a:r>
            <a:r>
              <a:rPr lang="en-US" dirty="0"/>
              <a:t>"</a:t>
            </a:r>
            <a:r>
              <a:rPr lang="zh-CN" dirty="0"/>
              <a:t>。</a:t>
            </a: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备注占位符 25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我的汇报到此结束，恳请各位评委老师批评指正，谢谢！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7DC6A6-BF1E-4CE5-B3E6-718B8EA0B82A}" type="datetime1">
              <a:rPr lang="en-US" altLang="zh-CN"/>
              <a:t>8/25/26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FC705DF-EB6A-4429-A9CF-8086C29D54D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B03108F-6D01-401F-BB83-A4EE273EE035}" type="datetime1">
              <a:rPr lang="en-US" altLang="zh-CN"/>
              <a:t>8/25/26</a:t>
            </a:fld>
            <a:endParaRPr 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2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18DFAB-279D-45FB-8988-01B47F34F95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5B006A-3E28-4231-AF04-14767498E664}" type="datetime1">
              <a:rPr lang="en-US" altLang="zh-CN"/>
              <a:t>8/25/26</a:t>
            </a:fld>
            <a:endParaRPr lang="zh-CN"/>
          </a:p>
        </p:txBody>
      </p:sp>
      <p:sp>
        <p:nvSpPr>
          <p:cNvPr id="23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24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8B94FA0-F740-4CDC-A935-5AEA919A98D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1F3BCCF-927F-4C14-9052-F5177C3C439D}" type="datetime1">
              <a:rPr lang="en-US" altLang="zh-CN"/>
              <a:t>8/25/26</a:t>
            </a:fld>
            <a:endParaRPr lang="zh-CN"/>
          </a:p>
        </p:txBody>
      </p:sp>
      <p:sp>
        <p:nvSpPr>
          <p:cNvPr id="30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1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08259AF-2A25-452C-AA5F-7B080E8C5A7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19FF268-CF0C-4595-A6A8-A0B1FC2FEB42}" type="datetime1">
              <a:rPr lang="en-US" altLang="zh-CN"/>
              <a:t>8/25/26</a:t>
            </a:fld>
            <a:endParaRPr lang="zh-CN"/>
          </a:p>
        </p:txBody>
      </p:sp>
      <p:sp>
        <p:nvSpPr>
          <p:cNvPr id="39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0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90A56-B7DA-460C-8F46-95BFAF0AF95F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05E0E50-3259-4429-AAEB-7BA10F2285FC}" type="datetime1">
              <a:rPr lang="en-US" altLang="zh-CN"/>
              <a:t>8/25/26</a:t>
            </a:fld>
            <a:endParaRPr lang="zh-CN"/>
          </a:p>
        </p:txBody>
      </p:sp>
      <p:sp>
        <p:nvSpPr>
          <p:cNvPr id="4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178EC5-58A4-4F44-B83C-34BE3E218AB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EF5456-EA9D-47AD-816E-BBFCE6D3FB5C}" type="datetime1">
              <a:rPr lang="en-US" altLang="zh-CN"/>
              <a:t>8/25/26</a:t>
            </a:fld>
            <a:endParaRPr lang="zh-CN"/>
          </a:p>
        </p:txBody>
      </p:sp>
      <p:sp>
        <p:nvSpPr>
          <p:cNvPr id="48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9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3199BA4-F8C4-48F6-BF3D-6D4BD834E81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DD0B665-21F2-4210-A0AB-1FF516ABB0EC}" type="datetime1">
              <a:rPr lang="en-US" altLang="zh-CN"/>
              <a:t>8/25/26</a:t>
            </a:fld>
            <a:endParaRPr lang="zh-CN"/>
          </a:p>
        </p:txBody>
      </p:sp>
      <p:sp>
        <p:nvSpPr>
          <p:cNvPr id="55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6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120986-D9F8-450A-8E8A-7B53A97B66E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60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233BD8-DB7E-4E6E-9456-6D1E77C88269}" type="datetime1">
              <a:rPr lang="en-US" altLang="zh-CN"/>
              <a:t>8/25/26</a:t>
            </a:fld>
            <a:endParaRPr lang="zh-CN"/>
          </a:p>
        </p:txBody>
      </p:sp>
      <p:sp>
        <p:nvSpPr>
          <p:cNvPr id="62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3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47CCC7F-E1A2-469B-A337-764C3DF07313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772B07E-4E44-4E95-89AF-F1EF6F4CC7EC}" type="datetime1">
              <a:rPr lang="en-US" altLang="zh-CN"/>
              <a:t>8/25/26</a:t>
            </a:fld>
            <a:endParaRPr lang="zh-CN"/>
          </a:p>
        </p:txBody>
      </p:sp>
      <p:sp>
        <p:nvSpPr>
          <p:cNvPr id="68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9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0D47AF7-089F-4725-8B45-DEA8A59F6C62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AA1729-FFEC-4670-BE57-9BB1B6CF1583}" type="datetime1">
              <a:rPr lang="en-US" altLang="zh-CN"/>
              <a:t>8/25/26</a:t>
            </a:fld>
            <a:endParaRPr 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7AACFD0-6D64-47CD-A483-D6FD45307366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本占位符 6"/>
          <p:cNvSpPr>
            <a:spLocks noGrp="1"/>
          </p:cNvSpPr>
          <p:nvPr>
            <p:ph type="body" idx="13"/>
          </p:nvPr>
        </p:nvSpPr>
        <p:spPr>
          <a:xfrm>
            <a:off x="508024" y="330257"/>
            <a:ext cx="11124869" cy="599545"/>
          </a:xfrm>
        </p:spPr>
        <p:txBody>
          <a:bodyPr/>
          <a:lstStyle>
            <a:lvl1pPr marL="0" indent="0">
              <a:buNone/>
              <a:defRPr sz="2025" b="1">
                <a:solidFill>
                  <a:srgbClr val="259DEE"/>
                </a:solidFill>
              </a:defRPr>
            </a:lvl1pPr>
            <a:lvl2pPr marL="41148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3pPr>
            <a:lvl4pPr marL="123528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4pPr>
            <a:lvl5pPr marL="164676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5pPr>
            <a:lvl6pPr marL="205824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6pPr>
            <a:lvl7pPr marL="246972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7pPr>
            <a:lvl8pPr marL="288120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8pPr>
            <a:lvl9pPr marL="329438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/>
          </a:p>
        </p:txBody>
      </p:sp>
    </p:spTree>
  </p:cSld>
  <p:clrMapOvr>
    <a:masterClrMapping/>
  </p:clrMapOvr>
  <p:transition advClick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文本占位符 6"/>
          <p:cNvSpPr>
            <a:spLocks noGrp="1"/>
          </p:cNvSpPr>
          <p:nvPr>
            <p:ph type="body" idx="13"/>
          </p:nvPr>
        </p:nvSpPr>
        <p:spPr>
          <a:xfrm>
            <a:off x="508024" y="330257"/>
            <a:ext cx="11124869" cy="904398"/>
          </a:xfrm>
        </p:spPr>
        <p:txBody>
          <a:bodyPr/>
          <a:lstStyle>
            <a:lvl1pPr marL="0" indent="0">
              <a:buNone/>
              <a:defRPr sz="2000" b="1">
                <a:solidFill>
                  <a:srgbClr val="259DEE"/>
                </a:solidFill>
              </a:defRPr>
            </a:lvl1pPr>
            <a:lvl2pPr marL="41148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3pPr>
            <a:lvl4pPr marL="123528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4pPr>
            <a:lvl5pPr marL="164676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5pPr>
            <a:lvl6pPr marL="205824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6pPr>
            <a:lvl7pPr marL="246972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7pPr>
            <a:lvl8pPr marL="288120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8pPr>
            <a:lvl9pPr marL="329438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/>
          </a:p>
        </p:txBody>
      </p:sp>
      <p:sp>
        <p:nvSpPr>
          <p:cNvPr id="74" name="内容占位符 7"/>
          <p:cNvSpPr>
            <a:spLocks noGrp="1"/>
          </p:cNvSpPr>
          <p:nvPr>
            <p:ph sz="half" idx="1"/>
          </p:nvPr>
        </p:nvSpPr>
        <p:spPr>
          <a:xfrm>
            <a:off x="508024" y="1083076"/>
            <a:ext cx="11124869" cy="4527918"/>
          </a:xfrm>
        </p:spPr>
        <p:txBody>
          <a:bodyPr/>
          <a:lstStyle>
            <a:lvl1pPr marL="0" indent="0"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/>
          </a:p>
          <a:p>
            <a:pPr lvl="1"/>
            <a:r>
              <a:rPr lang="zh-CN" altLang="en-US" noProof="1"/>
              <a:t>第二级</a:t>
            </a:r>
            <a:endParaRPr/>
          </a:p>
          <a:p>
            <a:pPr lvl="2"/>
            <a:r>
              <a:rPr lang="zh-CN" altLang="en-US" noProof="1"/>
              <a:t>第三级</a:t>
            </a:r>
            <a:endParaRPr/>
          </a:p>
          <a:p>
            <a:pPr lvl="3"/>
            <a:r>
              <a:rPr lang="zh-CN" altLang="en-US" noProof="1"/>
              <a:t>第四级</a:t>
            </a:r>
            <a:endParaRPr/>
          </a:p>
          <a:p>
            <a:pPr lvl="4"/>
            <a:r>
              <a:rPr lang="zh-CN" altLang="en-US" noProof="1"/>
              <a:t>第五级</a:t>
            </a:r>
            <a:endParaRPr/>
          </a:p>
        </p:txBody>
      </p:sp>
    </p:spTree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ADBE2-30DF-480B-A5CC-C216012A8DE2}" type="datetime1">
              <a:rPr lang="en-US" altLang="zh-CN"/>
              <a:t>8/25/26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9DED9-3562-4003-9ED4-F9F7C2DA97F0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Arial"/>
          <a:ea typeface="Microsoft YaHei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Arial"/>
          <a:ea typeface="Microsoft YaHei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Arial"/>
          <a:ea typeface="Microsoft YaHei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Arial"/>
          <a:ea typeface="Microsoft YaHei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838200" y="366184"/>
            <a:ext cx="10515600" cy="132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6684"/>
            <a:ext cx="10515600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6356350"/>
            <a:ext cx="2743200" cy="3661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5453A2-1481-445F-BF00-2B9BCB57E56B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图片 2" descr="11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144760" y="6461760"/>
            <a:ext cx="1517226" cy="2328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392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文本框 5"/>
          <p:cNvSpPr txBox="1"/>
          <p:nvPr/>
        </p:nvSpPr>
        <p:spPr>
          <a:xfrm>
            <a:off x="2023145" y="2039401"/>
            <a:ext cx="5669280" cy="1737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sz="3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FiT 实习生留用答辩</a:t>
            </a:r>
            <a:endParaRPr lang="en-US" altLang="zh-CN" sz="3200" b="1" dirty="0">
              <a:solidFill>
                <a:schemeClr val="bg1"/>
              </a:solidFill>
              <a:latin typeface="腾讯体 W7" panose="020C08030202040F0204" pitchFamily="34" charset="-122"/>
              <a:ea typeface="腾讯体 W7" panose="020C08030202040F0204" pitchFamily="34" charset="-122"/>
              <a:cs typeface="微软雅黑" panose="020B0503020204020204" charset="-122"/>
              <a:sym typeface="+mn-ea"/>
            </a:endParaRPr>
          </a:p>
          <a:p>
            <a:endParaRPr lang="en-US" altLang="zh-CN" sz="3200" b="1" dirty="0">
              <a:solidFill>
                <a:schemeClr val="bg1"/>
              </a:solidFill>
              <a:latin typeface="腾讯体 W7" panose="020C08030202040F0204" pitchFamily="34" charset="-122"/>
              <a:ea typeface="腾讯体 W7" panose="020C08030202040F0204" pitchFamily="34" charset="-122"/>
              <a:cs typeface="微软雅黑" panose="020B0503020204020204" charset="-122"/>
              <a:sym typeface="+mn-ea"/>
            </a:endParaRPr>
          </a:p>
          <a:p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答辩人：彭硕</a:t>
            </a:r>
            <a:endParaRPr/>
          </a:p>
        </p:txBody>
      </p:sp>
      <p:pic>
        <p:nvPicPr>
          <p:cNvPr id="143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525" y="-15594"/>
            <a:ext cx="3593782" cy="6874013"/>
          </a:xfrm>
          <a:prstGeom prst="rect">
            <a:avLst/>
          </a:prstGeom>
        </p:spPr>
      </p:pic>
      <p:grpSp>
        <p:nvGrpSpPr>
          <p:cNvPr id="144" name="组合 15"/>
          <p:cNvGrpSpPr/>
          <p:nvPr/>
        </p:nvGrpSpPr>
        <p:grpSpPr>
          <a:xfrm>
            <a:off x="338812" y="718114"/>
            <a:ext cx="62924" cy="5222224"/>
            <a:chOff x="253672" y="443646"/>
            <a:chExt cx="47195" cy="3916872"/>
          </a:xfrm>
        </p:grpSpPr>
        <p:sp>
          <p:nvSpPr>
            <p:cNvPr id="145" name="矩形 7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矩形 10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矩形 11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矩形 12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矩形 13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0" name="组合 16"/>
          <p:cNvGrpSpPr/>
          <p:nvPr/>
        </p:nvGrpSpPr>
        <p:grpSpPr>
          <a:xfrm>
            <a:off x="1632888" y="718114"/>
            <a:ext cx="62924" cy="5222224"/>
            <a:chOff x="253672" y="443646"/>
            <a:chExt cx="47195" cy="3916872"/>
          </a:xfrm>
        </p:grpSpPr>
        <p:sp>
          <p:nvSpPr>
            <p:cNvPr id="151" name="矩形 17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矩形 18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矩形 19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矩形 20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矩形 21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6" name="组合 22"/>
          <p:cNvGrpSpPr/>
          <p:nvPr/>
        </p:nvGrpSpPr>
        <p:grpSpPr>
          <a:xfrm>
            <a:off x="2926965" y="718114"/>
            <a:ext cx="62924" cy="5222224"/>
            <a:chOff x="253672" y="443646"/>
            <a:chExt cx="47195" cy="3916872"/>
          </a:xfrm>
        </p:grpSpPr>
        <p:sp>
          <p:nvSpPr>
            <p:cNvPr id="157" name="矩形 23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矩形 24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矩形 25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矩形 26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矩形 27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2" name="组合 28"/>
          <p:cNvGrpSpPr/>
          <p:nvPr/>
        </p:nvGrpSpPr>
        <p:grpSpPr>
          <a:xfrm>
            <a:off x="4221041" y="718114"/>
            <a:ext cx="62924" cy="5222224"/>
            <a:chOff x="253672" y="443646"/>
            <a:chExt cx="47195" cy="3916872"/>
          </a:xfrm>
        </p:grpSpPr>
        <p:sp>
          <p:nvSpPr>
            <p:cNvPr id="163" name="矩形 29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矩形 30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矩形 31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矩形 32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矩形 33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8" name="组合 40"/>
          <p:cNvGrpSpPr/>
          <p:nvPr/>
        </p:nvGrpSpPr>
        <p:grpSpPr>
          <a:xfrm>
            <a:off x="5515118" y="718114"/>
            <a:ext cx="62924" cy="5222224"/>
            <a:chOff x="253672" y="443646"/>
            <a:chExt cx="47195" cy="3916872"/>
          </a:xfrm>
        </p:grpSpPr>
        <p:sp>
          <p:nvSpPr>
            <p:cNvPr id="169" name="矩形 41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0" name="矩形 42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矩形 43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矩形 44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矩形 45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4" name="组合 46"/>
          <p:cNvGrpSpPr/>
          <p:nvPr/>
        </p:nvGrpSpPr>
        <p:grpSpPr>
          <a:xfrm>
            <a:off x="6809192" y="718114"/>
            <a:ext cx="62924" cy="5222224"/>
            <a:chOff x="253672" y="443646"/>
            <a:chExt cx="47195" cy="3916872"/>
          </a:xfrm>
        </p:grpSpPr>
        <p:sp>
          <p:nvSpPr>
            <p:cNvPr id="175" name="矩形 47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矩形 48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矩形 49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矩形 50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矩形 51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0" name="组合 58"/>
          <p:cNvGrpSpPr/>
          <p:nvPr/>
        </p:nvGrpSpPr>
        <p:grpSpPr>
          <a:xfrm>
            <a:off x="11461192" y="718114"/>
            <a:ext cx="62924" cy="5222224"/>
            <a:chOff x="253672" y="443646"/>
            <a:chExt cx="47195" cy="3916872"/>
          </a:xfrm>
        </p:grpSpPr>
        <p:sp>
          <p:nvSpPr>
            <p:cNvPr id="181" name="矩形 59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矩形 60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矩形 61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矩形 62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矩形 63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86" name="图片 1" descr="效果图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292" y="512861"/>
            <a:ext cx="2085232" cy="299704"/>
          </a:xfrm>
          <a:prstGeom prst="rect">
            <a:avLst/>
          </a:prstGeom>
        </p:spPr>
      </p:pic>
      <p:sp>
        <p:nvSpPr>
          <p:cNvPr id="187" name="TextBox 46"/>
          <p:cNvSpPr txBox="1"/>
          <p:nvPr/>
        </p:nvSpPr>
        <p:spPr>
          <a:xfrm>
            <a:off x="2020824" y="4114800"/>
            <a:ext cx="53035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从“模型可用”到“业务可信”</a:t>
            </a:r>
            <a:endParaRPr/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—— 司法风控单据智能校验实践</a:t>
            </a:r>
            <a:endParaRPr/>
          </a:p>
        </p:txBody>
      </p:sp>
      <p:sp>
        <p:nvSpPr>
          <p:cNvPr id="188" name="TextBox 47"/>
          <p:cNvSpPr txBox="1"/>
          <p:nvPr/>
        </p:nvSpPr>
        <p:spPr>
          <a:xfrm>
            <a:off x="2020824" y="580644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华中科技大学 · 网络空间安全 ｜ 腾讯 · 风控算法实习生</a:t>
            </a:r>
            <a:endParaRPr/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答辩内容目录</a:t>
            </a:r>
            <a:endParaRPr/>
          </a:p>
        </p:txBody>
      </p:sp>
      <p:sp>
        <p:nvSpPr>
          <p:cNvPr id="253" name="Rounded Rectangle 2"/>
          <p:cNvSpPr/>
          <p:nvPr/>
        </p:nvSpPr>
        <p:spPr>
          <a:xfrm>
            <a:off x="1463040" y="1691640"/>
            <a:ext cx="9235440" cy="749808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Rectangle 3"/>
          <p:cNvSpPr/>
          <p:nvPr/>
        </p:nvSpPr>
        <p:spPr>
          <a:xfrm>
            <a:off x="1463040" y="1691640"/>
            <a:ext cx="82296" cy="749808"/>
          </a:xfrm>
          <a:prstGeom prst="rect">
            <a:avLst/>
          </a:prstGeom>
          <a:solidFill>
            <a:srgbClr val="297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4"/>
          <p:cNvSpPr txBox="1"/>
          <p:nvPr/>
        </p:nvSpPr>
        <p:spPr>
          <a:xfrm>
            <a:off x="1783080" y="1810512"/>
            <a:ext cx="8229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/>
          </a:p>
        </p:txBody>
      </p:sp>
      <p:sp>
        <p:nvSpPr>
          <p:cNvPr id="256" name="TextBox 5"/>
          <p:cNvSpPr txBox="1"/>
          <p:nvPr/>
        </p:nvSpPr>
        <p:spPr>
          <a:xfrm>
            <a:off x="2743200" y="1773936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自我介绍</a:t>
            </a:r>
            <a:endParaRPr/>
          </a:p>
        </p:txBody>
      </p:sp>
      <p:sp>
        <p:nvSpPr>
          <p:cNvPr id="257" name="TextBox 6"/>
          <p:cNvSpPr txBox="1"/>
          <p:nvPr/>
        </p:nvSpPr>
        <p:spPr>
          <a:xfrm>
            <a:off x="2743200" y="2093976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近 11 个月连续多模态算法实践：从模型训练到业务负责</a:t>
            </a:r>
            <a:endParaRPr/>
          </a:p>
        </p:txBody>
      </p:sp>
      <p:sp>
        <p:nvSpPr>
          <p:cNvPr id="258" name="Rounded Rectangle 7"/>
          <p:cNvSpPr/>
          <p:nvPr/>
        </p:nvSpPr>
        <p:spPr>
          <a:xfrm>
            <a:off x="1463040" y="2606040"/>
            <a:ext cx="9235440" cy="749808"/>
          </a:xfrm>
          <a:prstGeom prst="roundRect">
            <a:avLst>
              <a:gd name="adj" fmla="val 8000"/>
            </a:avLst>
          </a:prstGeom>
          <a:solidFill>
            <a:srgbClr val="E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Rectangle 8"/>
          <p:cNvSpPr/>
          <p:nvPr/>
        </p:nvSpPr>
        <p:spPr>
          <a:xfrm>
            <a:off x="1463040" y="2606040"/>
            <a:ext cx="82296" cy="749808"/>
          </a:xfrm>
          <a:prstGeom prst="rect">
            <a:avLst/>
          </a:prstGeom>
          <a:solidFill>
            <a:srgbClr val="319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9"/>
          <p:cNvSpPr txBox="1"/>
          <p:nvPr/>
        </p:nvSpPr>
        <p:spPr>
          <a:xfrm>
            <a:off x="1783080" y="2724912"/>
            <a:ext cx="8229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319B62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/>
          </a:p>
        </p:txBody>
      </p:sp>
      <p:sp>
        <p:nvSpPr>
          <p:cNvPr id="261" name="TextBox 10"/>
          <p:cNvSpPr txBox="1"/>
          <p:nvPr/>
        </p:nvSpPr>
        <p:spPr>
          <a:xfrm>
            <a:off x="2743200" y="2688336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主要工作总结</a:t>
            </a:r>
            <a:endParaRPr/>
          </a:p>
        </p:txBody>
      </p:sp>
      <p:sp>
        <p:nvSpPr>
          <p:cNvPr id="262" name="TextBox 11"/>
          <p:cNvSpPr txBox="1"/>
          <p:nvPr/>
        </p:nvSpPr>
        <p:spPr>
          <a:xfrm>
            <a:off x="2743200" y="3008376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司法单据校验链路 × 四项子任务 × 线上拒单漏斗</a:t>
            </a:r>
            <a:endParaRPr/>
          </a:p>
        </p:txBody>
      </p:sp>
      <p:sp>
        <p:nvSpPr>
          <p:cNvPr id="263" name="Rounded Rectangle 12"/>
          <p:cNvSpPr/>
          <p:nvPr/>
        </p:nvSpPr>
        <p:spPr>
          <a:xfrm>
            <a:off x="1463040" y="3520440"/>
            <a:ext cx="9235440" cy="749808"/>
          </a:xfrm>
          <a:prstGeom prst="roundRect">
            <a:avLst>
              <a:gd name="adj" fmla="val 8000"/>
            </a:avLst>
          </a:prstGeom>
          <a:solidFill>
            <a:srgbClr val="FE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Rectangle 13"/>
          <p:cNvSpPr/>
          <p:nvPr/>
        </p:nvSpPr>
        <p:spPr>
          <a:xfrm>
            <a:off x="1463040" y="3520440"/>
            <a:ext cx="82296" cy="749808"/>
          </a:xfrm>
          <a:prstGeom prst="rect">
            <a:avLst/>
          </a:prstGeom>
          <a:solidFill>
            <a:srgbClr val="F88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14"/>
          <p:cNvSpPr txBox="1"/>
          <p:nvPr/>
        </p:nvSpPr>
        <p:spPr>
          <a:xfrm>
            <a:off x="1783080" y="3639312"/>
            <a:ext cx="8229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88825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/>
          </a:p>
        </p:txBody>
      </p:sp>
      <p:sp>
        <p:nvSpPr>
          <p:cNvPr id="266" name="TextBox 15"/>
          <p:cNvSpPr txBox="1"/>
          <p:nvPr/>
        </p:nvSpPr>
        <p:spPr>
          <a:xfrm>
            <a:off x="2743200" y="3602736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具体实现路径</a:t>
            </a:r>
            <a:endParaRPr/>
          </a:p>
        </p:txBody>
      </p:sp>
      <p:sp>
        <p:nvSpPr>
          <p:cNvPr id="267" name="TextBox 16"/>
          <p:cNvSpPr txBox="1"/>
          <p:nvPr/>
        </p:nvSpPr>
        <p:spPr>
          <a:xfrm>
            <a:off x="2743200" y="3922776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电话 / 印章 / 文书类型 + 清晰度五级评估（本次重点）</a:t>
            </a:r>
            <a:endParaRPr/>
          </a:p>
        </p:txBody>
      </p:sp>
      <p:sp>
        <p:nvSpPr>
          <p:cNvPr id="268" name="Rounded Rectangle 17"/>
          <p:cNvSpPr/>
          <p:nvPr/>
        </p:nvSpPr>
        <p:spPr>
          <a:xfrm>
            <a:off x="1463040" y="4434840"/>
            <a:ext cx="9235440" cy="749808"/>
          </a:xfrm>
          <a:prstGeom prst="roundRect">
            <a:avLst>
              <a:gd name="adj" fmla="val 8000"/>
            </a:avLst>
          </a:prstGeom>
          <a:solidFill>
            <a:srgbClr val="F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Rectangle 18"/>
          <p:cNvSpPr/>
          <p:nvPr/>
        </p:nvSpPr>
        <p:spPr>
          <a:xfrm>
            <a:off x="1463040" y="4434840"/>
            <a:ext cx="82296" cy="749808"/>
          </a:xfrm>
          <a:prstGeom prst="rect">
            <a:avLst/>
          </a:prstGeom>
          <a:solidFill>
            <a:srgbClr val="9A3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19"/>
          <p:cNvSpPr txBox="1"/>
          <p:nvPr/>
        </p:nvSpPr>
        <p:spPr>
          <a:xfrm>
            <a:off x="1783080" y="4553712"/>
            <a:ext cx="8229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9A38D7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/>
          </a:p>
        </p:txBody>
      </p:sp>
      <p:sp>
        <p:nvSpPr>
          <p:cNvPr id="271" name="TextBox 20"/>
          <p:cNvSpPr txBox="1"/>
          <p:nvPr/>
        </p:nvSpPr>
        <p:spPr>
          <a:xfrm>
            <a:off x="2743200" y="4517136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AI 实践与思考</a:t>
            </a:r>
            <a:endParaRPr/>
          </a:p>
        </p:txBody>
      </p:sp>
      <p:sp>
        <p:nvSpPr>
          <p:cNvPr id="272" name="TextBox 21"/>
          <p:cNvSpPr txBox="1"/>
          <p:nvPr/>
        </p:nvSpPr>
        <p:spPr>
          <a:xfrm>
            <a:off x="2743200" y="4837176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AI 是效率放大器：六个应用环节与六条落地经验</a:t>
            </a:r>
            <a:endParaRPr/>
          </a:p>
        </p:txBody>
      </p:sp>
      <p:sp>
        <p:nvSpPr>
          <p:cNvPr id="273" name="Rounded Rectangle 22"/>
          <p:cNvSpPr/>
          <p:nvPr/>
        </p:nvSpPr>
        <p:spPr>
          <a:xfrm>
            <a:off x="1463040" y="5349240"/>
            <a:ext cx="9235440" cy="749808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Rectangle 23"/>
          <p:cNvSpPr/>
          <p:nvPr/>
        </p:nvSpPr>
        <p:spPr>
          <a:xfrm>
            <a:off x="1463040" y="5349240"/>
            <a:ext cx="82296" cy="749808"/>
          </a:xfrm>
          <a:prstGeom prst="rect">
            <a:avLst/>
          </a:prstGeom>
          <a:solidFill>
            <a:srgbClr val="00A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4"/>
          <p:cNvSpPr txBox="1"/>
          <p:nvPr/>
        </p:nvSpPr>
        <p:spPr>
          <a:xfrm>
            <a:off x="1783080" y="5468112"/>
            <a:ext cx="8229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00A3F5"/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/>
          </a:p>
        </p:txBody>
      </p:sp>
      <p:sp>
        <p:nvSpPr>
          <p:cNvPr id="276" name="TextBox 25"/>
          <p:cNvSpPr txBox="1"/>
          <p:nvPr/>
        </p:nvSpPr>
        <p:spPr>
          <a:xfrm>
            <a:off x="2743200" y="5431536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总结与展望</a:t>
            </a:r>
            <a:endParaRPr/>
          </a:p>
        </p:txBody>
      </p:sp>
      <p:sp>
        <p:nvSpPr>
          <p:cNvPr id="277" name="TextBox 26"/>
          <p:cNvSpPr txBox="1"/>
          <p:nvPr/>
        </p:nvSpPr>
        <p:spPr>
          <a:xfrm>
            <a:off x="2743200" y="5751576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收获、不足与提升计划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自我介绍：一条“训练 → 数据 → 业务”的能力演进路径</a:t>
            </a:r>
            <a:endParaRPr/>
          </a:p>
        </p:txBody>
      </p:sp>
      <p:sp>
        <p:nvSpPr>
          <p:cNvPr id="280" name="Rounded Rectangle 2"/>
          <p:cNvSpPr/>
          <p:nvPr/>
        </p:nvSpPr>
        <p:spPr>
          <a:xfrm>
            <a:off x="841248" y="1737360"/>
            <a:ext cx="3200400" cy="4434840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Rectangle 3"/>
          <p:cNvSpPr/>
          <p:nvPr/>
        </p:nvSpPr>
        <p:spPr>
          <a:xfrm>
            <a:off x="841248" y="1737360"/>
            <a:ext cx="3200400" cy="128016"/>
          </a:xfrm>
          <a:prstGeom prst="rect">
            <a:avLst/>
          </a:prstGeom>
          <a:solidFill>
            <a:srgbClr val="297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TextBox 4"/>
          <p:cNvSpPr txBox="1"/>
          <p:nvPr/>
        </p:nvSpPr>
        <p:spPr>
          <a:xfrm>
            <a:off x="1097280" y="2057400"/>
            <a:ext cx="274320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彭 硕</a:t>
            </a:r>
            <a:endParaRPr/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风控算法实习生</a:t>
            </a:r>
            <a:endParaRPr/>
          </a:p>
          <a:p>
            <a:pPr algn="l">
              <a:lnSpc>
                <a:spcPct val="115000"/>
              </a:lnSpc>
              <a:spcAft>
                <a:spcPts val="400"/>
              </a:spcAft>
            </a:pPr>
            <a:endParaRPr sz="1300" b="1" i="0">
              <a:solidFill>
                <a:srgbClr val="2972F4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华中科技大学</a:t>
            </a:r>
            <a:endParaRPr/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网络空间安全专业 · 硕士</a:t>
            </a:r>
            <a:endParaRPr/>
          </a:p>
          <a:p>
            <a:pPr algn="l">
              <a:lnSpc>
                <a:spcPct val="115000"/>
              </a:lnSpc>
              <a:spcAft>
                <a:spcPts val="400"/>
              </a:spcAft>
            </a:pPr>
            <a:endParaRPr sz="1200" b="0" i="0">
              <a:solidFill>
                <a:srgbClr val="595959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腾讯 · 可疑与评级模型团队</a:t>
            </a:r>
            <a:endParaRPr/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面向法院、公安的司法单据，完成清晰度、印章、文书类型、电话有效性校验</a:t>
            </a:r>
            <a:endParaRPr/>
          </a:p>
          <a:p>
            <a:pPr algn="l">
              <a:lnSpc>
                <a:spcPct val="115000"/>
              </a:lnSpc>
              <a:spcAft>
                <a:spcPts val="400"/>
              </a:spcAft>
            </a:pPr>
            <a:endParaRPr sz="1100" b="0" i="0">
              <a:solidFill>
                <a:srgbClr val="595959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汇报主题</a:t>
            </a:r>
            <a:endParaRPr/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从“模型可用”到“业务可信”</a:t>
            </a:r>
            <a:endParaRPr/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不止步于离线准确率，更追求低误拦、可解释、可持续迭代</a:t>
            </a:r>
            <a:endParaRPr/>
          </a:p>
        </p:txBody>
      </p:sp>
      <p:sp>
        <p:nvSpPr>
          <p:cNvPr id="283" name="Rounded Rectangle 5"/>
          <p:cNvSpPr/>
          <p:nvPr/>
        </p:nvSpPr>
        <p:spPr>
          <a:xfrm>
            <a:off x="4343400" y="1737360"/>
            <a:ext cx="6995160" cy="1371600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Rectangle 6"/>
          <p:cNvSpPr/>
          <p:nvPr/>
        </p:nvSpPr>
        <p:spPr>
          <a:xfrm>
            <a:off x="4343400" y="1737360"/>
            <a:ext cx="82296" cy="1371600"/>
          </a:xfrm>
          <a:prstGeom prst="rect">
            <a:avLst/>
          </a:prstGeom>
          <a:solidFill>
            <a:srgbClr val="297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7"/>
          <p:cNvSpPr txBox="1"/>
          <p:nvPr/>
        </p:nvSpPr>
        <p:spPr>
          <a:xfrm>
            <a:off x="4617720" y="1847088"/>
            <a:ext cx="6583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第一阶段 · 京东 AI 安全部   </a:t>
            </a: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多模态大模型后训练</a:t>
            </a:r>
            <a:endParaRPr/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89 万条 SFT 数据构建 / Qwen3-VL 全参数训练 / GDPO 强化学习</a:t>
            </a:r>
            <a:endParaRPr/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→ 解决“如何把模型训练出来”</a:t>
            </a:r>
            <a:endParaRPr/>
          </a:p>
        </p:txBody>
      </p:sp>
      <p:sp>
        <p:nvSpPr>
          <p:cNvPr id="286" name="Rounded Rectangle 8"/>
          <p:cNvSpPr/>
          <p:nvPr/>
        </p:nvSpPr>
        <p:spPr>
          <a:xfrm>
            <a:off x="4343400" y="3273552"/>
            <a:ext cx="6995160" cy="1371600"/>
          </a:xfrm>
          <a:prstGeom prst="roundRect">
            <a:avLst>
              <a:gd name="adj" fmla="val 8000"/>
            </a:avLst>
          </a:prstGeom>
          <a:solidFill>
            <a:srgbClr val="E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Rectangle 9"/>
          <p:cNvSpPr/>
          <p:nvPr/>
        </p:nvSpPr>
        <p:spPr>
          <a:xfrm>
            <a:off x="4343400" y="3273552"/>
            <a:ext cx="82296" cy="1371600"/>
          </a:xfrm>
          <a:prstGeom prst="rect">
            <a:avLst/>
          </a:prstGeom>
          <a:solidFill>
            <a:srgbClr val="319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TextBox 10"/>
          <p:cNvSpPr txBox="1"/>
          <p:nvPr/>
        </p:nvSpPr>
        <p:spPr>
          <a:xfrm>
            <a:off x="4617720" y="3383280"/>
            <a:ext cx="6583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319B62"/>
                </a:solidFill>
                <a:latin typeface="Microsoft YaHei"/>
                <a:ea typeface="Microsoft YaHei"/>
                <a:cs typeface="Microsoft YaHei"/>
              </a:rPr>
              <a:t>第二阶段 · 京东零售 AIGC 团队   </a:t>
            </a: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数据与评测</a:t>
            </a:r>
            <a:endParaRPr/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训练数据清洗 / OCR 部署 / 生成模型评测</a:t>
            </a:r>
            <a:endParaRPr/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→ 关注“如何构造可靠数据、如何评价模型”</a:t>
            </a:r>
            <a:endParaRPr/>
          </a:p>
        </p:txBody>
      </p:sp>
      <p:sp>
        <p:nvSpPr>
          <p:cNvPr id="289" name="Rounded Rectangle 11"/>
          <p:cNvSpPr/>
          <p:nvPr/>
        </p:nvSpPr>
        <p:spPr>
          <a:xfrm>
            <a:off x="4343400" y="4809744"/>
            <a:ext cx="6995160" cy="1371600"/>
          </a:xfrm>
          <a:prstGeom prst="roundRect">
            <a:avLst>
              <a:gd name="adj" fmla="val 8000"/>
            </a:avLst>
          </a:prstGeom>
          <a:solidFill>
            <a:srgbClr val="FE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Rectangle 12"/>
          <p:cNvSpPr/>
          <p:nvPr/>
        </p:nvSpPr>
        <p:spPr>
          <a:xfrm>
            <a:off x="4343400" y="4809744"/>
            <a:ext cx="82296" cy="1371600"/>
          </a:xfrm>
          <a:prstGeom prst="rect">
            <a:avLst/>
          </a:prstGeom>
          <a:solidFill>
            <a:srgbClr val="F88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13"/>
          <p:cNvSpPr txBox="1"/>
          <p:nvPr/>
        </p:nvSpPr>
        <p:spPr>
          <a:xfrm>
            <a:off x="4617720" y="4919472"/>
            <a:ext cx="6583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F88825"/>
                </a:solidFill>
                <a:latin typeface="Microsoft YaHei"/>
                <a:ea typeface="Microsoft YaHei"/>
                <a:cs typeface="Microsoft YaHei"/>
              </a:rPr>
              <a:t>第三阶段 · 腾讯风控（当前）   </a:t>
            </a: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业务落地</a:t>
            </a:r>
            <a:endParaRPr/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任务定义 / 决策路由 / 人审闭环</a:t>
            </a:r>
            <a:endParaRPr/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→ 回答“如何让模型真正成为稳定的业务能力”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itle 1"/>
          <p:cNvSpPr>
            <a:spLocks noGrp="1"/>
          </p:cNvSpPr>
          <p:nvPr>
            <p:ph type="title"/>
          </p:nvPr>
        </p:nvSpPr>
        <p:spPr>
          <a:xfrm>
            <a:off x="523123" y="0"/>
            <a:ext cx="10515600" cy="13255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sz="2600" b="1" i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主要工作总结：</a:t>
            </a:r>
            <a:r>
              <a:rPr lang="en-US" sz="2600" b="1" i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lang="zh-CN" sz="2600" b="1" i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审单能力建设</a:t>
            </a:r>
            <a:endParaRPr/>
          </a:p>
        </p:txBody>
      </p:sp>
      <p:grpSp>
        <p:nvGrpSpPr>
          <p:cNvPr id="294" name="组合 29"/>
          <p:cNvGrpSpPr/>
          <p:nvPr/>
        </p:nvGrpSpPr>
        <p:grpSpPr>
          <a:xfrm>
            <a:off x="348521" y="1529061"/>
            <a:ext cx="11546133" cy="4280073"/>
            <a:chOff x="535138" y="1929132"/>
            <a:chExt cx="11546133" cy="4280073"/>
          </a:xfrm>
        </p:grpSpPr>
        <p:sp>
          <p:nvSpPr>
            <p:cNvPr id="295" name="Rectangle 4"/>
            <p:cNvSpPr/>
            <p:nvPr/>
          </p:nvSpPr>
          <p:spPr>
            <a:xfrm>
              <a:off x="535138" y="4819317"/>
              <a:ext cx="82296" cy="1389888"/>
            </a:xfrm>
            <a:prstGeom prst="rect">
              <a:avLst/>
            </a:prstGeom>
            <a:solidFill>
              <a:srgbClr val="2972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6" name="Rounded Rectangle 6"/>
            <p:cNvSpPr/>
            <p:nvPr/>
          </p:nvSpPr>
          <p:spPr>
            <a:xfrm>
              <a:off x="9571200" y="4085500"/>
              <a:ext cx="2508603" cy="1428761"/>
            </a:xfrm>
            <a:prstGeom prst="roundRect">
              <a:avLst>
                <a:gd name="adj" fmla="val 8000"/>
              </a:avLst>
            </a:prstGeom>
            <a:solidFill>
              <a:srgbClr val="FCEB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7" name="Rectangle 7"/>
            <p:cNvSpPr/>
            <p:nvPr/>
          </p:nvSpPr>
          <p:spPr>
            <a:xfrm>
              <a:off x="9870014" y="4124373"/>
              <a:ext cx="82296" cy="1389888"/>
            </a:xfrm>
            <a:prstGeom prst="rect">
              <a:avLst/>
            </a:prstGeom>
            <a:solidFill>
              <a:srgbClr val="DE3C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8" name="TextBox 8"/>
            <p:cNvSpPr txBox="1"/>
            <p:nvPr/>
          </p:nvSpPr>
          <p:spPr>
            <a:xfrm>
              <a:off x="10011171" y="4124373"/>
              <a:ext cx="2070100" cy="12890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2000"/>
                </a:lnSpc>
                <a:spcAft>
                  <a:spcPts val="300"/>
                </a:spcAft>
              </a:pPr>
              <a:r>
                <a:rPr sz="1300" b="1" i="0">
                  <a:solidFill>
                    <a:srgbClr val="DE3C3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最大挑战</a:t>
              </a:r>
              <a:endParaRPr/>
            </a:p>
            <a:p>
              <a:pPr algn="l">
                <a:lnSpc>
                  <a:spcPct val="112000"/>
                </a:lnSpc>
                <a:spcAft>
                  <a:spcPts val="300"/>
                </a:spcAft>
              </a:pPr>
              <a:r>
                <a:rPr lang="zh-CN" sz="1200" b="1" i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在问题文书只有不到</a:t>
              </a:r>
              <a:r>
                <a:rPr lang="en-US" sz="1200" b="1" i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5%</a:t>
              </a:r>
              <a:r>
                <a:rPr lang="zh-CN" sz="1200" b="1" i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的情况下，保证剩余</a:t>
              </a:r>
              <a:r>
                <a:rPr lang="en-US" sz="1200" b="1" i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95%</a:t>
              </a:r>
              <a:r>
                <a:rPr lang="zh-CN" sz="1200" b="1" i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以上的正常文书不能误判，并且</a:t>
              </a:r>
              <a:r>
                <a:rPr sz="1200" b="1"/>
                <a:t>尽可能提高拦截率。</a:t>
              </a:r>
              <a:r>
                <a:rPr lang="zh-CN" sz="1200" b="1"/>
                <a:t>单单使用通用大模型达不到要求</a:t>
              </a:r>
              <a:endParaRPr/>
            </a:p>
          </p:txBody>
        </p:sp>
        <p:sp>
          <p:nvSpPr>
            <p:cNvPr id="299" name="Rounded Rectangle 9"/>
            <p:cNvSpPr/>
            <p:nvPr/>
          </p:nvSpPr>
          <p:spPr>
            <a:xfrm>
              <a:off x="9619001" y="1929154"/>
              <a:ext cx="2413000" cy="1234440"/>
            </a:xfrm>
            <a:prstGeom prst="roundRect">
              <a:avLst>
                <a:gd name="adj" fmla="val 8000"/>
              </a:avLst>
            </a:prstGeom>
            <a:solidFill>
              <a:srgbClr val="E9F6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0" name="Rectangle 10"/>
            <p:cNvSpPr/>
            <p:nvPr/>
          </p:nvSpPr>
          <p:spPr>
            <a:xfrm>
              <a:off x="9787718" y="1929132"/>
              <a:ext cx="82296" cy="1234440"/>
            </a:xfrm>
            <a:prstGeom prst="rect">
              <a:avLst/>
            </a:prstGeom>
            <a:solidFill>
              <a:srgbClr val="319B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1" name="TextBox 11"/>
            <p:cNvSpPr txBox="1"/>
            <p:nvPr/>
          </p:nvSpPr>
          <p:spPr>
            <a:xfrm>
              <a:off x="9952595" y="1929176"/>
              <a:ext cx="2082800" cy="8763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2000"/>
                </a:lnSpc>
                <a:spcAft>
                  <a:spcPts val="300"/>
                </a:spcAft>
              </a:pPr>
              <a:r>
                <a:rPr sz="1300" b="1" i="0">
                  <a:solidFill>
                    <a:srgbClr val="319B62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我的工作</a:t>
              </a:r>
              <a:endParaRPr/>
            </a:p>
            <a:p>
              <a:pPr algn="l">
                <a:lnSpc>
                  <a:spcPct val="112000"/>
                </a:lnSpc>
                <a:spcAft>
                  <a:spcPts val="300"/>
                </a:spcAft>
              </a:pPr>
              <a:r>
                <a:rPr sz="1200" b="1" i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聚焦四个子任务：电话号码校验、印章检测</a:t>
              </a:r>
              <a:r>
                <a:rPr lang="zh-CN" sz="1200" b="1" i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200" b="1" i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文书类型检测、清晰度检测。</a:t>
              </a:r>
              <a:endParaRPr/>
            </a:p>
          </p:txBody>
        </p:sp>
      </p:grpSp>
      <p:sp>
        <p:nvSpPr>
          <p:cNvPr id="302" name="文本框 301"/>
          <p:cNvSpPr txBox="1"/>
          <p:nvPr/>
        </p:nvSpPr>
        <p:spPr>
          <a:xfrm>
            <a:off x="9509165" y="846932"/>
            <a:ext cx="2413000" cy="3683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 wrap="square">
            <a:spAutoFit/>
          </a:bodyPr>
          <a:lstStyle/>
          <a:p>
            <a:r>
              <a:rPr lang="zh-CN" sz="1400"/>
              <a:t>红框为工作覆盖面</a:t>
            </a:r>
            <a:endParaRPr/>
          </a:p>
        </p:txBody>
      </p:sp>
      <p:pic>
        <p:nvPicPr>
          <p:cNvPr id="303" name="图片 302"/>
          <p:cNvPicPr>
            <a:picLocks noChangeAspect="1"/>
          </p:cNvPicPr>
          <p:nvPr/>
        </p:nvPicPr>
        <p:blipFill>
          <a:blip r:embed="rId3"/>
          <a:srcRect l="12541" t="3298" r="10697" b="2134"/>
          <a:stretch>
            <a:fillRect/>
          </a:stretch>
        </p:blipFill>
        <p:spPr>
          <a:xfrm>
            <a:off x="14503" y="1031082"/>
            <a:ext cx="9494662" cy="5560941"/>
          </a:xfrm>
          <a:prstGeom prst="rect">
            <a:avLst/>
          </a:prstGeom>
        </p:spPr>
      </p:pic>
      <p:sp>
        <p:nvSpPr>
          <p:cNvPr id="304" name="文本框 303"/>
          <p:cNvSpPr txBox="1"/>
          <p:nvPr/>
        </p:nvSpPr>
        <p:spPr>
          <a:xfrm>
            <a:off x="9691141" y="5475157"/>
            <a:ext cx="2311639" cy="8064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>
                <a:solidFill>
                  <a:srgbClr val="FF0000">
                    <a:alpha val="100000"/>
                  </a:srgbClr>
                </a:solidFill>
              </a:rPr>
              <a:t>沙里淘金，且不能把沙子识别为金子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sz="2600" b="1" i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四项子任务：最新数万条数据集上精准率均</a:t>
            </a:r>
            <a:r>
              <a:rPr lang="zh-CN" sz="2600" b="1" i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接近</a:t>
            </a:r>
            <a:r>
              <a:rPr sz="2600" b="1" i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100%</a:t>
            </a:r>
            <a:endParaRPr/>
          </a:p>
        </p:txBody>
      </p:sp>
      <p:graphicFrame>
        <p:nvGraphicFramePr>
          <p:cNvPr id="307" name="Table 2"/>
          <p:cNvGraphicFramePr/>
          <p:nvPr/>
        </p:nvGraphicFramePr>
        <p:xfrm>
          <a:off x="841248" y="1874519"/>
          <a:ext cx="429768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精准率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召回率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电话号码校验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—（未检验）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印章校验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100%（抽样）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文书类型判断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100%（抽样）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清晰度检测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50" b="1" i="0">
                          <a:solidFill>
                            <a:srgbClr val="319B62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99.3</a:t>
                      </a:r>
                      <a:r>
                        <a:rPr sz="1150" b="1" i="0">
                          <a:solidFill>
                            <a:srgbClr val="319B62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%(</a:t>
                      </a:r>
                      <a:r>
                        <a:rPr lang="zh-CN" sz="1150" b="1" i="0">
                          <a:solidFill>
                            <a:srgbClr val="319B62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二分类）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—（未检验）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</a:tbl>
          </a:graphicData>
        </a:graphic>
      </p:graphicFrame>
      <p:sp>
        <p:nvSpPr>
          <p:cNvPr id="308" name="TextBox 3"/>
          <p:cNvSpPr txBox="1"/>
          <p:nvPr/>
        </p:nvSpPr>
        <p:spPr>
          <a:xfrm>
            <a:off x="841248" y="4526280"/>
            <a:ext cx="4298950" cy="1314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Aft>
                <a:spcPts val="400"/>
              </a:spcAft>
            </a:pPr>
            <a:r>
              <a:rPr sz="1200" b="1" i="0">
                <a:solidFill>
                  <a:srgbClr val="F8882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目前进度</a:t>
            </a:r>
            <a:endParaRPr lang="en-US" sz="1200" b="1" i="0">
              <a:solidFill>
                <a:srgbClr val="F88825">
                  <a:alpha val="100000"/>
                </a:srgbClr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14999"/>
              </a:lnSpc>
              <a:spcAft>
                <a:spcPts val="400"/>
              </a:spcAft>
            </a:pPr>
            <a:r>
              <a:rPr lang="en-US" sz="11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前三个任务经过</a:t>
            </a:r>
            <a:r>
              <a:rPr lang="en-US" sz="1100" b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4</a:t>
            </a:r>
            <a:r>
              <a:rPr lang="zh-CN" sz="1100" b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～</a:t>
            </a:r>
            <a:r>
              <a:rPr lang="en-US" sz="1100" b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5</a:t>
            </a:r>
            <a:r>
              <a:rPr lang="zh-CN" sz="11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轮迭代优化，各个模型对接的</a:t>
            </a:r>
            <a:r>
              <a:rPr lang="zh-CN" sz="1100" b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产品经理标注</a:t>
            </a:r>
            <a:r>
              <a:rPr lang="zh-CN" sz="11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结果如上。清晰度任务小规模测试集评测结果如上，还未多轮检验。</a:t>
            </a:r>
            <a:endParaRPr/>
          </a:p>
          <a:p>
            <a:pPr algn="l">
              <a:lnSpc>
                <a:spcPct val="114999"/>
              </a:lnSpc>
              <a:spcAft>
                <a:spcPts val="400"/>
              </a:spcAft>
            </a:pPr>
            <a:r>
              <a:rPr lang="zh-CN" sz="1100" b="0" i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整体</a:t>
            </a:r>
            <a:r>
              <a:rPr sz="1100" b="0" i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离线模型</a:t>
            </a:r>
            <a:r>
              <a:rPr lang="zh-CN" sz="1100" b="0" i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已经就绪</a:t>
            </a:r>
            <a:r>
              <a:rPr sz="1100" b="0" i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sz="1100" b="0" i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由于开发排期问题，</a:t>
            </a:r>
            <a:r>
              <a:rPr sz="1100" b="0" i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等待业务接入；右侧为预计线上拒单量。</a:t>
            </a:r>
            <a:endParaRPr/>
          </a:p>
          <a:p>
            <a:pPr algn="l">
              <a:lnSpc>
                <a:spcPct val="114999"/>
              </a:lnSpc>
              <a:spcAft>
                <a:spcPts val="400"/>
              </a:spcAft>
            </a:pPr>
            <a:r>
              <a:rPr sz="1000" b="0" i="0">
                <a:solidFill>
                  <a:srgbClr val="8A8F9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口径：最新一批数万条数据集</a:t>
            </a:r>
            <a:endParaRPr/>
          </a:p>
        </p:txBody>
      </p:sp>
      <p:pic>
        <p:nvPicPr>
          <p:cNvPr id="309" name="Picture 4" descr="02_拒单漏斗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274" y="1691640"/>
            <a:ext cx="5812971" cy="4069080"/>
          </a:xfrm>
          <a:prstGeom prst="rect">
            <a:avLst/>
          </a:prstGeom>
          <a:ln w="12700">
            <a:solidFill>
              <a:srgbClr val="D9DEE6"/>
            </a:solidFill>
          </a:ln>
          <a:effectLst/>
        </p:spPr>
      </p:pic>
      <p:sp>
        <p:nvSpPr>
          <p:cNvPr id="310" name="TextBox 5"/>
          <p:cNvSpPr txBox="1"/>
          <p:nvPr/>
        </p:nvSpPr>
        <p:spPr>
          <a:xfrm>
            <a:off x="5238205" y="5869853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四任务日均拦截漏斗：日均输入 388,180 条，合计预计拦截 38,198 条（9.84%）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图片 3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39" y="283252"/>
            <a:ext cx="10731500" cy="6134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Box 1"/>
          <p:cNvSpPr txBox="1"/>
          <p:nvPr/>
        </p:nvSpPr>
        <p:spPr>
          <a:xfrm>
            <a:off x="841248" y="622935"/>
            <a:ext cx="105156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zh-CN" sz="2600" b="1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二、</a:t>
            </a:r>
            <a:r>
              <a:rPr sz="2600" b="1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印章检测：高置信快速终结，不确定样本逐级升级</a:t>
            </a:r>
            <a:endParaRPr/>
          </a:p>
        </p:txBody>
      </p:sp>
      <p:sp>
        <p:nvSpPr>
          <p:cNvPr id="315" name="TextBox 2"/>
          <p:cNvSpPr txBox="1"/>
          <p:nvPr/>
        </p:nvSpPr>
        <p:spPr>
          <a:xfrm>
            <a:off x="841248" y="1481328"/>
            <a:ext cx="781050" cy="196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挑战</a:t>
            </a:r>
            <a:endParaRPr/>
          </a:p>
        </p:txBody>
      </p:sp>
      <p:sp>
        <p:nvSpPr>
          <p:cNvPr id="316" name="TextBox 3"/>
          <p:cNvSpPr txBox="1"/>
          <p:nvPr/>
        </p:nvSpPr>
        <p:spPr>
          <a:xfrm>
            <a:off x="1508760" y="1481328"/>
            <a:ext cx="9829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印章极浅 / 极小 / 非红色、七八页拼接长图、几十页 PDF ｜ 单条耗时 &lt; 3 秒硬约束</a:t>
            </a:r>
            <a:endParaRPr/>
          </a:p>
        </p:txBody>
      </p:sp>
      <p:sp>
        <p:nvSpPr>
          <p:cNvPr id="317" name="Rounded Rectangle 4"/>
          <p:cNvSpPr/>
          <p:nvPr/>
        </p:nvSpPr>
        <p:spPr>
          <a:xfrm>
            <a:off x="84124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50"/>
          </a:p>
        </p:txBody>
      </p:sp>
      <p:sp>
        <p:nvSpPr>
          <p:cNvPr id="318" name="TextBox 5"/>
          <p:cNvSpPr txBox="1"/>
          <p:nvPr/>
        </p:nvSpPr>
        <p:spPr>
          <a:xfrm>
            <a:off x="960120" y="1993392"/>
            <a:ext cx="2082800" cy="59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8A8F9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  </a:t>
            </a:r>
            <a:r>
              <a:rPr sz="1250" b="1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三模型三分类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</a:t>
            </a:r>
            <a:r>
              <a:rPr sz="1050" b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ayoutV2 + layoutL
+ seal_det + 颜色 blob</a:t>
            </a:r>
            <a:endParaRPr/>
          </a:p>
        </p:txBody>
      </p:sp>
      <p:sp>
        <p:nvSpPr>
          <p:cNvPr id="319" name="TextBox 6"/>
          <p:cNvSpPr txBox="1"/>
          <p:nvPr/>
        </p:nvSpPr>
        <p:spPr>
          <a:xfrm>
            <a:off x="3161538" y="2267712"/>
            <a:ext cx="41275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8A8F9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320" name="Rounded Rectangle 7"/>
          <p:cNvSpPr/>
          <p:nvPr/>
        </p:nvSpPr>
        <p:spPr>
          <a:xfrm>
            <a:off x="357301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50"/>
          </a:p>
        </p:txBody>
      </p:sp>
      <p:sp>
        <p:nvSpPr>
          <p:cNvPr id="321" name="TextBox 8"/>
          <p:cNvSpPr txBox="1"/>
          <p:nvPr/>
        </p:nvSpPr>
        <p:spPr>
          <a:xfrm>
            <a:off x="3691890" y="1993392"/>
            <a:ext cx="2082800" cy="59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8A8F9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  </a:t>
            </a:r>
            <a:r>
              <a:rPr sz="1250" b="1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8 块切分召回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15% 重叠逐块复跑
任一块有章即有章</a:t>
            </a:r>
            <a:endParaRPr/>
          </a:p>
        </p:txBody>
      </p:sp>
      <p:sp>
        <p:nvSpPr>
          <p:cNvPr id="322" name="TextBox 9"/>
          <p:cNvSpPr txBox="1"/>
          <p:nvPr/>
        </p:nvSpPr>
        <p:spPr>
          <a:xfrm>
            <a:off x="5893308" y="2267712"/>
            <a:ext cx="41275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8A8F9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323" name="Rounded Rectangle 10"/>
          <p:cNvSpPr/>
          <p:nvPr/>
        </p:nvSpPr>
        <p:spPr>
          <a:xfrm>
            <a:off x="630478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50"/>
          </a:p>
        </p:txBody>
      </p:sp>
      <p:sp>
        <p:nvSpPr>
          <p:cNvPr id="324" name="TextBox 11"/>
          <p:cNvSpPr txBox="1"/>
          <p:nvPr/>
        </p:nvSpPr>
        <p:spPr>
          <a:xfrm>
            <a:off x="6423660" y="1993392"/>
            <a:ext cx="2082800" cy="59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8A8F9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  </a:t>
            </a:r>
            <a:r>
              <a:rPr sz="1250" b="1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VLM 多页复核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仅 UNSURE 进入
每批 5 页</a:t>
            </a:r>
            <a:endParaRPr/>
          </a:p>
        </p:txBody>
      </p:sp>
      <p:sp>
        <p:nvSpPr>
          <p:cNvPr id="325" name="TextBox 12"/>
          <p:cNvSpPr txBox="1"/>
          <p:nvPr/>
        </p:nvSpPr>
        <p:spPr>
          <a:xfrm>
            <a:off x="8625078" y="2267712"/>
            <a:ext cx="41275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8A8F9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326" name="Rounded Rectangle 13"/>
          <p:cNvSpPr/>
          <p:nvPr/>
        </p:nvSpPr>
        <p:spPr>
          <a:xfrm>
            <a:off x="903655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50"/>
          </a:p>
        </p:txBody>
      </p:sp>
      <p:sp>
        <p:nvSpPr>
          <p:cNvPr id="327" name="TextBox 14"/>
          <p:cNvSpPr txBox="1"/>
          <p:nvPr/>
        </p:nvSpPr>
        <p:spPr>
          <a:xfrm>
            <a:off x="9155430" y="1993392"/>
            <a:ext cx="2082800" cy="59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8A8F9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04  </a:t>
            </a:r>
            <a:r>
              <a:rPr sz="1250" b="1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人工审核闭环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结果按文档聚合
难例沉淀回流</a:t>
            </a:r>
            <a:endParaRPr/>
          </a:p>
        </p:txBody>
      </p:sp>
      <p:sp>
        <p:nvSpPr>
          <p:cNvPr id="328" name="Rounded Rectangle 15"/>
          <p:cNvSpPr/>
          <p:nvPr/>
        </p:nvSpPr>
        <p:spPr>
          <a:xfrm>
            <a:off x="841248" y="3273552"/>
            <a:ext cx="6720840" cy="2121408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00"/>
          </a:p>
        </p:txBody>
      </p:sp>
      <p:sp>
        <p:nvSpPr>
          <p:cNvPr id="329" name="Rectangle 16"/>
          <p:cNvSpPr/>
          <p:nvPr/>
        </p:nvSpPr>
        <p:spPr>
          <a:xfrm>
            <a:off x="841248" y="3273552"/>
            <a:ext cx="82296" cy="2121408"/>
          </a:xfrm>
          <a:prstGeom prst="rect">
            <a:avLst/>
          </a:prstGeom>
          <a:solidFill>
            <a:srgbClr val="297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00"/>
          </a:p>
        </p:txBody>
      </p:sp>
      <p:sp>
        <p:nvSpPr>
          <p:cNvPr id="330" name="TextBox 17"/>
          <p:cNvSpPr txBox="1"/>
          <p:nvPr/>
        </p:nvSpPr>
        <p:spPr>
          <a:xfrm>
            <a:off x="1097280" y="3383280"/>
            <a:ext cx="6356350" cy="1301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lang="zh-CN" sz="1400" b="1">
                <a:solidFill>
                  <a:srgbClr val="2972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关键</a:t>
            </a:r>
            <a:r>
              <a:rPr sz="1400" b="1">
                <a:solidFill>
                  <a:srgbClr val="2972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思考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· 不强迫单一模型覆盖全部样本：高分直判、中分互证、边界升级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绝大多数样本</a:t>
            </a:r>
            <a:r>
              <a:rPr lang="zh-CN" sz="1050" b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由轻量模型判断</a:t>
            </a:r>
            <a:r>
              <a:rPr sz="1050" b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sz="1050" b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疑难样本由</a:t>
            </a:r>
            <a:r>
              <a:rPr lang="en-US" sz="1050" b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VLM</a:t>
            </a:r>
            <a:r>
              <a:rPr lang="zh-CN" sz="1050" b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判断，</a:t>
            </a:r>
            <a:r>
              <a:rPr sz="1050" b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算力花在信息增益最高的样本上</a:t>
            </a:r>
            <a:r>
              <a:rPr lang="zh-CN" sz="1050" b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sz="1200" b="1"/>
              <a:t>多模型聚合不能依靠简单的多数投票，</a:t>
            </a:r>
            <a:r>
              <a:rPr sz="1150" b="1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来自数百种“分数 × 信号”组合的实验筛选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不是多数投票，而是按分数区间组织模型协同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1150" b="1">
              <a:solidFill>
                <a:srgbClr val="262626">
                  <a:alpha val="100000"/>
                </a:srgb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1" name="TextBox 20"/>
          <p:cNvSpPr txBox="1"/>
          <p:nvPr/>
        </p:nvSpPr>
        <p:spPr>
          <a:xfrm>
            <a:off x="841248" y="54681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业务价值</a:t>
            </a:r>
            <a:endParaRPr/>
          </a:p>
        </p:txBody>
      </p:sp>
      <p:sp>
        <p:nvSpPr>
          <p:cNvPr id="332" name="TextBox 21"/>
          <p:cNvSpPr txBox="1"/>
          <p:nvPr/>
        </p:nvSpPr>
        <p:spPr>
          <a:xfrm>
            <a:off x="8412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100%</a:t>
            </a:r>
            <a:endParaRPr/>
          </a:p>
        </p:txBody>
      </p:sp>
      <p:sp>
        <p:nvSpPr>
          <p:cNvPr id="333" name="TextBox 22"/>
          <p:cNvSpPr txBox="1"/>
          <p:nvPr/>
        </p:nvSpPr>
        <p:spPr>
          <a:xfrm>
            <a:off x="8412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高置信子集精准率</a:t>
            </a:r>
            <a:endParaRPr/>
          </a:p>
        </p:txBody>
      </p:sp>
      <p:sp>
        <p:nvSpPr>
          <p:cNvPr id="334" name="TextBox 23"/>
          <p:cNvSpPr txBox="1"/>
          <p:nvPr/>
        </p:nvSpPr>
        <p:spPr>
          <a:xfrm>
            <a:off x="3470148" y="5760720"/>
            <a:ext cx="2451100" cy="336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US" sz="2200" b="1">
                <a:solidFill>
                  <a:srgbClr val="2972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100</a:t>
            </a:r>
            <a:r>
              <a:rPr sz="2200" b="1">
                <a:solidFill>
                  <a:srgbClr val="2972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%</a:t>
            </a:r>
            <a:endParaRPr/>
          </a:p>
        </p:txBody>
      </p:sp>
      <p:sp>
        <p:nvSpPr>
          <p:cNvPr id="335" name="TextBox 24"/>
          <p:cNvSpPr txBox="1"/>
          <p:nvPr/>
        </p:nvSpPr>
        <p:spPr>
          <a:xfrm>
            <a:off x="3470148" y="6199631"/>
            <a:ext cx="2451100" cy="146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zh-CN" sz="950" b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抽检</a:t>
            </a:r>
            <a:r>
              <a:rPr sz="950" b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子集召回率</a:t>
            </a:r>
            <a:endParaRPr/>
          </a:p>
        </p:txBody>
      </p:sp>
      <p:sp>
        <p:nvSpPr>
          <p:cNvPr id="336" name="TextBox 25"/>
          <p:cNvSpPr txBox="1"/>
          <p:nvPr/>
        </p:nvSpPr>
        <p:spPr>
          <a:xfrm>
            <a:off x="60990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3 s</a:t>
            </a:r>
            <a:endParaRPr/>
          </a:p>
        </p:txBody>
      </p:sp>
      <p:sp>
        <p:nvSpPr>
          <p:cNvPr id="337" name="TextBox 26"/>
          <p:cNvSpPr txBox="1"/>
          <p:nvPr/>
        </p:nvSpPr>
        <p:spPr>
          <a:xfrm>
            <a:off x="60990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单条耗时硬约束内</a:t>
            </a:r>
            <a:endParaRPr/>
          </a:p>
        </p:txBody>
      </p:sp>
      <p:sp>
        <p:nvSpPr>
          <p:cNvPr id="338" name="TextBox 27"/>
          <p:cNvSpPr txBox="1"/>
          <p:nvPr/>
        </p:nvSpPr>
        <p:spPr>
          <a:xfrm>
            <a:off x="87279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12,034</a:t>
            </a:r>
            <a:endParaRPr/>
          </a:p>
        </p:txBody>
      </p:sp>
      <p:sp>
        <p:nvSpPr>
          <p:cNvPr id="339" name="TextBox 28"/>
          <p:cNvSpPr txBox="1"/>
          <p:nvPr/>
        </p:nvSpPr>
        <p:spPr>
          <a:xfrm>
            <a:off x="87279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条/日预计拦截</a:t>
            </a:r>
            <a:endParaRPr/>
          </a:p>
        </p:txBody>
      </p:sp>
      <p:sp>
        <p:nvSpPr>
          <p:cNvPr id="340" name="文本框 339"/>
          <p:cNvSpPr txBox="1"/>
          <p:nvPr/>
        </p:nvSpPr>
        <p:spPr>
          <a:xfrm>
            <a:off x="7910015" y="5265420"/>
            <a:ext cx="6096000" cy="49530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sz="1000" b="1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</a:rPr>
              <a:t>疑难case：印章极浅</a:t>
            </a:r>
            <a:endParaRPr/>
          </a:p>
          <a:p>
            <a:r>
              <a:rPr lang="zh-CN" sz="1050" b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依靠第四路</a:t>
            </a:r>
            <a:r>
              <a:rPr sz="1050" b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颜色 blob+</a:t>
            </a:r>
            <a:r>
              <a:rPr lang="zh-CN" sz="1050" b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切分八块判断，更浅更小的依赖</a:t>
            </a:r>
            <a:r>
              <a:rPr lang="en-US" sz="1050" b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VLM</a:t>
            </a:r>
            <a:r>
              <a:rPr lang="zh-CN" sz="1050" b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判断</a:t>
            </a:r>
            <a:endParaRPr/>
          </a:p>
        </p:txBody>
      </p:sp>
      <p:pic>
        <p:nvPicPr>
          <p:cNvPr id="341" name="图片 340"/>
          <p:cNvPicPr/>
          <p:nvPr/>
        </p:nvPicPr>
        <p:blipFill>
          <a:blip r:embed="rId3"/>
          <a:srcRect l="37236" t="54975"/>
          <a:stretch>
            <a:fillRect/>
          </a:stretch>
        </p:blipFill>
        <p:spPr>
          <a:xfrm>
            <a:off x="7829745" y="3253994"/>
            <a:ext cx="1796406" cy="18306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Box 1"/>
          <p:cNvSpPr txBox="1"/>
          <p:nvPr/>
        </p:nvSpPr>
        <p:spPr>
          <a:xfrm>
            <a:off x="841248" y="584407"/>
            <a:ext cx="105156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zh-CN" sz="2600" b="1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三、</a:t>
            </a:r>
            <a:r>
              <a:rPr sz="2600" b="1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文书类型识别：从失败样本抽象机制，而非逐条打补丁</a:t>
            </a:r>
            <a:endParaRPr/>
          </a:p>
        </p:txBody>
      </p:sp>
      <p:sp>
        <p:nvSpPr>
          <p:cNvPr id="344" name="TextBox 2"/>
          <p:cNvSpPr txBox="1"/>
          <p:nvPr/>
        </p:nvSpPr>
        <p:spPr>
          <a:xfrm>
            <a:off x="841248" y="1481328"/>
            <a:ext cx="78105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挑战</a:t>
            </a:r>
            <a:endParaRPr/>
          </a:p>
        </p:txBody>
      </p:sp>
      <p:sp>
        <p:nvSpPr>
          <p:cNvPr id="345" name="TextBox 3"/>
          <p:cNvSpPr txBox="1"/>
          <p:nvPr/>
        </p:nvSpPr>
        <p:spPr>
          <a:xfrm>
            <a:off x="1508760" y="1497203"/>
            <a:ext cx="98298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</a:rPr>
              <a:t>错别字 / 多字少字需宽容、多图并排 OCR 结果不连续、删除线、旋转文书 ｜ 27 类白名单</a:t>
            </a:r>
            <a:endParaRPr/>
          </a:p>
        </p:txBody>
      </p:sp>
      <p:sp>
        <p:nvSpPr>
          <p:cNvPr id="346" name="Rounded Rectangle 4"/>
          <p:cNvSpPr/>
          <p:nvPr/>
        </p:nvSpPr>
        <p:spPr>
          <a:xfrm>
            <a:off x="84124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50"/>
          </a:p>
        </p:txBody>
      </p:sp>
      <p:sp>
        <p:nvSpPr>
          <p:cNvPr id="347" name="TextBox 5"/>
          <p:cNvSpPr txBox="1"/>
          <p:nvPr/>
        </p:nvSpPr>
        <p:spPr>
          <a:xfrm>
            <a:off x="960120" y="1993392"/>
            <a:ext cx="2082800" cy="59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8A8F9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  </a:t>
            </a:r>
            <a:r>
              <a:rPr sz="1250" b="1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v6 OCR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PP-OCRv6 medium
≈269 ms/条</a:t>
            </a:r>
            <a:endParaRPr/>
          </a:p>
        </p:txBody>
      </p:sp>
      <p:sp>
        <p:nvSpPr>
          <p:cNvPr id="348" name="TextBox 6"/>
          <p:cNvSpPr txBox="1"/>
          <p:nvPr/>
        </p:nvSpPr>
        <p:spPr>
          <a:xfrm>
            <a:off x="3161538" y="2267712"/>
            <a:ext cx="41275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8A8F9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349" name="Rounded Rectangle 7"/>
          <p:cNvSpPr/>
          <p:nvPr/>
        </p:nvSpPr>
        <p:spPr>
          <a:xfrm>
            <a:off x="357301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50"/>
          </a:p>
        </p:txBody>
      </p:sp>
      <p:sp>
        <p:nvSpPr>
          <p:cNvPr id="350" name="TextBox 8"/>
          <p:cNvSpPr txBox="1"/>
          <p:nvPr/>
        </p:nvSpPr>
        <p:spPr>
          <a:xfrm>
            <a:off x="3691890" y="1993392"/>
            <a:ext cx="2082800" cy="59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8A8F9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  </a:t>
            </a:r>
            <a:r>
              <a:rPr sz="1250" b="1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白名单分类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归一化 + 编辑距离
+ 锚点顺序匹配</a:t>
            </a:r>
            <a:endParaRPr/>
          </a:p>
        </p:txBody>
      </p:sp>
      <p:sp>
        <p:nvSpPr>
          <p:cNvPr id="351" name="TextBox 9"/>
          <p:cNvSpPr txBox="1"/>
          <p:nvPr/>
        </p:nvSpPr>
        <p:spPr>
          <a:xfrm>
            <a:off x="5893308" y="2267712"/>
            <a:ext cx="41275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8A8F9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352" name="Rounded Rectangle 10"/>
          <p:cNvSpPr/>
          <p:nvPr/>
        </p:nvSpPr>
        <p:spPr>
          <a:xfrm>
            <a:off x="630478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50"/>
          </a:p>
        </p:txBody>
      </p:sp>
      <p:sp>
        <p:nvSpPr>
          <p:cNvPr id="353" name="TextBox 11"/>
          <p:cNvSpPr txBox="1"/>
          <p:nvPr/>
        </p:nvSpPr>
        <p:spPr>
          <a:xfrm>
            <a:off x="6423660" y="1993392"/>
            <a:ext cx="2082800" cy="59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8A8F9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  </a:t>
            </a:r>
            <a:r>
              <a:rPr sz="1250" b="1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VL 兜底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仅未命中 / 异常调用
≈1.26 s/条</a:t>
            </a:r>
            <a:endParaRPr/>
          </a:p>
        </p:txBody>
      </p:sp>
      <p:sp>
        <p:nvSpPr>
          <p:cNvPr id="354" name="TextBox 12"/>
          <p:cNvSpPr txBox="1"/>
          <p:nvPr/>
        </p:nvSpPr>
        <p:spPr>
          <a:xfrm>
            <a:off x="8625078" y="2267712"/>
            <a:ext cx="41275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8A8F9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355" name="Rounded Rectangle 13"/>
          <p:cNvSpPr/>
          <p:nvPr/>
        </p:nvSpPr>
        <p:spPr>
          <a:xfrm>
            <a:off x="903655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50"/>
          </a:p>
        </p:txBody>
      </p:sp>
      <p:sp>
        <p:nvSpPr>
          <p:cNvPr id="356" name="TextBox 14"/>
          <p:cNvSpPr txBox="1"/>
          <p:nvPr/>
        </p:nvSpPr>
        <p:spPr>
          <a:xfrm>
            <a:off x="9155430" y="1993392"/>
            <a:ext cx="2082800" cy="59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8A8F9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04  </a:t>
            </a:r>
            <a:r>
              <a:rPr sz="1250" b="1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人工闭环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错误类型沉淀
反哺规则与白名单</a:t>
            </a:r>
            <a:endParaRPr/>
          </a:p>
        </p:txBody>
      </p:sp>
      <p:sp>
        <p:nvSpPr>
          <p:cNvPr id="357" name="Rounded Rectangle 15"/>
          <p:cNvSpPr/>
          <p:nvPr/>
        </p:nvSpPr>
        <p:spPr>
          <a:xfrm>
            <a:off x="841248" y="3273552"/>
            <a:ext cx="6720840" cy="2121408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50"/>
          </a:p>
        </p:txBody>
      </p:sp>
      <p:sp>
        <p:nvSpPr>
          <p:cNvPr id="358" name="Rectangle 16"/>
          <p:cNvSpPr/>
          <p:nvPr/>
        </p:nvSpPr>
        <p:spPr>
          <a:xfrm>
            <a:off x="841248" y="3273552"/>
            <a:ext cx="82296" cy="2121408"/>
          </a:xfrm>
          <a:prstGeom prst="rect">
            <a:avLst/>
          </a:prstGeom>
          <a:solidFill>
            <a:srgbClr val="297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50"/>
          </a:p>
        </p:txBody>
      </p:sp>
      <p:sp>
        <p:nvSpPr>
          <p:cNvPr id="359" name="TextBox 17"/>
          <p:cNvSpPr txBox="1"/>
          <p:nvPr/>
        </p:nvSpPr>
        <p:spPr>
          <a:xfrm>
            <a:off x="1097280" y="3383280"/>
            <a:ext cx="6356350" cy="155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>
                <a:solidFill>
                  <a:srgbClr val="2972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我的思考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· 每条规则对应一种稳定的 OCR 失败模式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归一化治错字、锚点顺序治水印插入与错序、最长匹配防短标题抢占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· 按样本难度分配成本：高频白名单走快路径，困难样本才交给 VL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关闭误判高的前置旋转检测，真正旋转文档由 VL 兜底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· 自适应编辑距离：≤6 字精确、7-12 字 k=1、13-20 字 k=2、&gt;20 字 k=3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短标题防误吸附，长标题允许更多噪声</a:t>
            </a:r>
            <a:endParaRPr/>
          </a:p>
        </p:txBody>
      </p:sp>
      <p:sp>
        <p:nvSpPr>
          <p:cNvPr id="360" name="TextBox 20"/>
          <p:cNvSpPr txBox="1"/>
          <p:nvPr/>
        </p:nvSpPr>
        <p:spPr>
          <a:xfrm>
            <a:off x="841248" y="54681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业务价值</a:t>
            </a:r>
            <a:endParaRPr/>
          </a:p>
        </p:txBody>
      </p:sp>
      <p:sp>
        <p:nvSpPr>
          <p:cNvPr id="361" name="TextBox 21"/>
          <p:cNvSpPr txBox="1"/>
          <p:nvPr/>
        </p:nvSpPr>
        <p:spPr>
          <a:xfrm>
            <a:off x="841248" y="5760720"/>
            <a:ext cx="2451100" cy="336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US" sz="2200" b="1">
                <a:solidFill>
                  <a:srgbClr val="2972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100</a:t>
            </a:r>
            <a:r>
              <a:rPr sz="2200" b="1">
                <a:solidFill>
                  <a:srgbClr val="2972F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%</a:t>
            </a:r>
            <a:endParaRPr/>
          </a:p>
        </p:txBody>
      </p:sp>
      <p:sp>
        <p:nvSpPr>
          <p:cNvPr id="362" name="TextBox 22"/>
          <p:cNvSpPr txBox="1"/>
          <p:nvPr/>
        </p:nvSpPr>
        <p:spPr>
          <a:xfrm>
            <a:off x="8412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五批评测 Accuracy</a:t>
            </a:r>
            <a:endParaRPr/>
          </a:p>
        </p:txBody>
      </p:sp>
      <p:sp>
        <p:nvSpPr>
          <p:cNvPr id="363" name="TextBox 23"/>
          <p:cNvSpPr txBox="1"/>
          <p:nvPr/>
        </p:nvSpPr>
        <p:spPr>
          <a:xfrm>
            <a:off x="3470148" y="5760720"/>
            <a:ext cx="1004475" cy="336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0.28 s</a:t>
            </a:r>
            <a:endParaRPr/>
          </a:p>
        </p:txBody>
      </p:sp>
      <p:sp>
        <p:nvSpPr>
          <p:cNvPr id="364" name="TextBox 24"/>
          <p:cNvSpPr txBox="1"/>
          <p:nvPr/>
        </p:nvSpPr>
        <p:spPr>
          <a:xfrm>
            <a:off x="34701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主链路单条耗时</a:t>
            </a:r>
            <a:endParaRPr/>
          </a:p>
        </p:txBody>
      </p:sp>
      <p:sp>
        <p:nvSpPr>
          <p:cNvPr id="365" name="TextBox 25"/>
          <p:cNvSpPr txBox="1"/>
          <p:nvPr/>
        </p:nvSpPr>
        <p:spPr>
          <a:xfrm>
            <a:off x="60990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27 类</a:t>
            </a:r>
            <a:endParaRPr/>
          </a:p>
        </p:txBody>
      </p:sp>
      <p:sp>
        <p:nvSpPr>
          <p:cNvPr id="366" name="TextBox 26"/>
          <p:cNvSpPr txBox="1"/>
          <p:nvPr/>
        </p:nvSpPr>
        <p:spPr>
          <a:xfrm>
            <a:off x="60990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高频白名单覆盖</a:t>
            </a:r>
            <a:endParaRPr/>
          </a:p>
        </p:txBody>
      </p:sp>
      <p:sp>
        <p:nvSpPr>
          <p:cNvPr id="367" name="TextBox 27"/>
          <p:cNvSpPr txBox="1"/>
          <p:nvPr/>
        </p:nvSpPr>
        <p:spPr>
          <a:xfrm>
            <a:off x="87279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4,697</a:t>
            </a:r>
            <a:endParaRPr/>
          </a:p>
        </p:txBody>
      </p:sp>
      <p:sp>
        <p:nvSpPr>
          <p:cNvPr id="368" name="TextBox 28"/>
          <p:cNvSpPr txBox="1"/>
          <p:nvPr/>
        </p:nvSpPr>
        <p:spPr>
          <a:xfrm>
            <a:off x="87279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条/日预计拦截</a:t>
            </a:r>
            <a:endParaRPr/>
          </a:p>
        </p:txBody>
      </p:sp>
      <p:pic>
        <p:nvPicPr>
          <p:cNvPr id="369" name="图片 368"/>
          <p:cNvPicPr/>
          <p:nvPr/>
        </p:nvPicPr>
        <p:blipFill>
          <a:blip r:embed="rId3"/>
          <a:stretch>
            <a:fillRect/>
          </a:stretch>
        </p:blipFill>
        <p:spPr>
          <a:xfrm>
            <a:off x="7627366" y="3212719"/>
            <a:ext cx="2497032" cy="1665476"/>
          </a:xfrm>
          <a:prstGeom prst="rect">
            <a:avLst/>
          </a:prstGeom>
        </p:spPr>
      </p:pic>
      <p:sp>
        <p:nvSpPr>
          <p:cNvPr id="370" name="文本框 369"/>
          <p:cNvSpPr txBox="1"/>
          <p:nvPr/>
        </p:nvSpPr>
        <p:spPr>
          <a:xfrm>
            <a:off x="7627366" y="4976558"/>
            <a:ext cx="2641600" cy="68580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sz="1000" b="1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</a:rPr>
              <a:t>疑难case：多图横排
</a:t>
            </a:r>
            <a:r>
              <a:rPr sz="1000" b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标题被切开、顺序被打乱 → 锚点匹配仍命中</a:t>
            </a:r>
            <a:endParaRPr/>
          </a:p>
        </p:txBody>
      </p:sp>
      <p:pic>
        <p:nvPicPr>
          <p:cNvPr id="371" name="图片 370"/>
          <p:cNvPicPr>
            <a:picLocks noChangeAspect="1"/>
          </p:cNvPicPr>
          <p:nvPr/>
        </p:nvPicPr>
        <p:blipFill>
          <a:blip r:embed="rId4"/>
          <a:srcRect l="866" t="9156" b="36625"/>
          <a:stretch>
            <a:fillRect/>
          </a:stretch>
        </p:blipFill>
        <p:spPr>
          <a:xfrm>
            <a:off x="10203245" y="3133521"/>
            <a:ext cx="1988754" cy="1542546"/>
          </a:xfrm>
          <a:prstGeom prst="rect">
            <a:avLst/>
          </a:prstGeom>
        </p:spPr>
      </p:pic>
      <p:sp>
        <p:nvSpPr>
          <p:cNvPr id="372" name="文本框 371"/>
          <p:cNvSpPr txBox="1"/>
          <p:nvPr/>
        </p:nvSpPr>
        <p:spPr>
          <a:xfrm>
            <a:off x="10124398" y="4992969"/>
            <a:ext cx="2641600" cy="49530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sz="1000" b="1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</a:rPr>
              <a:t>标题存在错别字
自适应编辑距离，有容错机制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 sz="2600" b="1" i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四、</a:t>
            </a:r>
            <a:r>
              <a:rPr sz="2600" b="1" i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清晰度检测：漏斗占比最高、ROI 最高的核心任务</a:t>
            </a:r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41248" y="1417320"/>
            <a:ext cx="5120640" cy="868680"/>
          </a:xfrm>
          <a:prstGeom prst="roundRect">
            <a:avLst>
              <a:gd name="adj" fmla="val 8000"/>
            </a:avLst>
          </a:prstGeom>
          <a:solidFill>
            <a:srgbClr val="FE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517904"/>
            <a:ext cx="1371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88825"/>
                </a:solidFill>
                <a:latin typeface="Microsoft YaHei"/>
                <a:ea typeface="Microsoft YaHei"/>
                <a:cs typeface="Microsoft YaHei"/>
              </a:rPr>
              <a:t>4.3%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23160" y="1517904"/>
            <a:ext cx="3429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模糊拒单占数据漏斗比例最高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对提升拒单率贡献最大、ROI 最高</a:t>
            </a: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36208" y="1417320"/>
            <a:ext cx="5120640" cy="868680"/>
          </a:xfrm>
          <a:prstGeom prst="roundRect">
            <a:avLst>
              <a:gd name="adj" fmla="val 8000"/>
            </a:avLst>
          </a:prstGeom>
          <a:solidFill>
            <a:srgbClr val="F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517904"/>
            <a:ext cx="1371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9A38D7"/>
                </a:solidFill>
                <a:latin typeface="Microsoft YaHei"/>
                <a:ea typeface="Microsoft YaHei"/>
                <a:cs typeface="Microsoft YaHei"/>
              </a:rPr>
              <a:t>37%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18120" y="1517904"/>
            <a:ext cx="3429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印章 / 文书类型疑难样本中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约 37% 因文书模糊而难以识别，前置检出可大幅减负</a:t>
            </a:r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2450592"/>
            <a:ext cx="10515600" cy="658368"/>
          </a:xfrm>
          <a:prstGeom prst="roundRect">
            <a:avLst>
              <a:gd name="adj" fmla="val 8000"/>
            </a:avLst>
          </a:prstGeom>
          <a:solidFill>
            <a:srgbClr val="297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505456"/>
            <a:ext cx="10153650" cy="425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300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我的方案：重定义规则（二分类 → 五档序数分类），</a:t>
            </a:r>
            <a:r>
              <a:rPr lang="zh-CN" sz="1300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</a:t>
            </a:r>
            <a:r>
              <a:rPr lang="en-US" sz="1300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xgboost</a:t>
            </a:r>
            <a:r>
              <a:rPr sz="1300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改用 Qwen3.5-9B 并 LoRA 微调</a:t>
            </a:r>
            <a:endParaRPr/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D8E7F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得到效果更好的判别模型 —— 组内准确率 99.82%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5003" y="3232658"/>
            <a:ext cx="360045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原方案：XGBoost 二分类（569 维特征）</a:t>
            </a:r>
            <a:r>
              <a:rPr lang="zh-CN" sz="1200"/>
              <a:t>准确率</a:t>
            </a:r>
            <a:r>
              <a:rPr sz="1200" b="1">
                <a:solidFill>
                  <a:srgbClr val="495057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-apple-system"/>
                <a:ea typeface="-apple-system"/>
              </a:rPr>
              <a:t>94.9%</a:t>
            </a:r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029" y="3611880"/>
            <a:ext cx="2160837" cy="1920240"/>
          </a:xfrm>
          <a:prstGeom prst="rect">
            <a:avLst/>
          </a:prstGeom>
          <a:ln w="12700">
            <a:solidFill>
              <a:srgbClr val="D9DEE6"/>
            </a:solidFill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838200" y="5596128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blur_score 呈强双峰：清晰集中 0.05-1，模糊集中 90-99，中间档样本极少，无法直接切分五档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62642" y="3200908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与安管对齐 case：三张相似文书分别被判为 模糊 / 清晰 / 模糊</a:t>
            </a:r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736" y="3502660"/>
            <a:ext cx="1346930" cy="1920239"/>
          </a:xfrm>
          <a:prstGeom prst="rect">
            <a:avLst/>
          </a:prstGeom>
          <a:ln w="12700">
            <a:solidFill>
              <a:srgbClr val="D9DEE6"/>
            </a:solidFill>
          </a:ln>
          <a:effectLst/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1254" y="3502660"/>
            <a:ext cx="1386454" cy="1920239"/>
          </a:xfrm>
          <a:prstGeom prst="rect">
            <a:avLst/>
          </a:prstGeom>
          <a:ln w="12700">
            <a:solidFill>
              <a:srgbClr val="D9DEE6"/>
            </a:solidFill>
          </a:ln>
          <a:effectLst/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0613" y="3502660"/>
            <a:ext cx="1442616" cy="1920239"/>
          </a:xfrm>
          <a:prstGeom prst="rect">
            <a:avLst/>
          </a:prstGeom>
          <a:ln w="12700">
            <a:solidFill>
              <a:srgbClr val="D9DEE6"/>
            </a:solidFill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4480560" y="559612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清晰与模糊无公认界定标准，人受先验影响、会自动剔除水印 / 纹路 / 反光干扰；XGBoost 与安管规则一致性仅 </a:t>
            </a:r>
            <a:r>
              <a:rPr sz="950" b="1">
                <a:solidFill>
                  <a:srgbClr val="DE3C36"/>
                </a:solidFill>
                <a:latin typeface="Microsoft YaHei"/>
                <a:ea typeface="Microsoft YaHei"/>
                <a:cs typeface="Microsoft YaHei"/>
              </a:rPr>
              <a:t>23%</a:t>
            </a: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，直接标注的数据质量无法训练可用模型</a:t>
            </a:r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1248" y="6199632"/>
            <a:ext cx="10515600" cy="457200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6199632"/>
            <a:ext cx="10149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为什么改五档：</a:t>
            </a:r>
            <a:r>
              <a:rPr sz="11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更贴合真实数据分布 · 支持“不拒单但转人工”的中间策略 · 阈值可随业务规则灵活调整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探索过程：五类替代方案验证，瓶颈在监督信号而非模型容量</a:t>
            </a:r>
            <a:endParaRPr/>
          </a:p>
        </p:txBody>
      </p:sp>
      <p:graphicFrame>
        <p:nvGraphicFramePr>
          <p:cNvPr id="23" name="Table 2"/>
          <p:cNvGraphicFramePr/>
          <p:nvPr/>
        </p:nvGraphicFramePr>
        <p:xfrm>
          <a:off x="841248" y="1691640"/>
          <a:ext cx="10515600" cy="4279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失败原因与结论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XGBoost 打分直接五分类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DE3C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难以制定标准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blur_score 极度双峰，中间区间数据极少，难以直接切分 5 档阈值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CLIP 零样本分类（不微调）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DE3C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64.5%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CLIP 训练目标是图文语义匹配而非质量评估，清晰/模糊 cosine 相似度差异仅 0.006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62626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CLIP </a:t>
                      </a:r>
                      <a:r>
                        <a:rPr lang="zh-CN" sz="1050" b="1" i="0">
                          <a:solidFill>
                            <a:srgbClr val="262626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微调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DE3C36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98.36%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高分只是拟合弱监督标签：82 条分歧 case 上仅 29.7% 正确（远低于 XGB 的 70.3%），纯 CLIP 特征缺少 OCR 质量信息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VLM（Qwen3-VL-235B）直接评分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DE3C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26%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能读出文字内容就判为清晰，无法做绝对评分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VLM 两两对比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DE3C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能分辨差异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能识别相对清晰度，但不适合绝对评分，且大规模两两对比成本太高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  <p:sp>
        <p:nvSpPr>
          <p:cNvPr id="24" name="Rounded Rectangle 3"/>
          <p:cNvSpPr/>
          <p:nvPr/>
        </p:nvSpPr>
        <p:spPr>
          <a:xfrm>
            <a:off x="841248" y="6108192"/>
            <a:ext cx="10515600" cy="530352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4"/>
          <p:cNvSpPr txBox="1"/>
          <p:nvPr/>
        </p:nvSpPr>
        <p:spPr>
          <a:xfrm>
            <a:off x="1051560" y="6190488"/>
            <a:ext cx="10149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文献调研结论：OCR 置信度是文档质量评估最关键的特征 → 对 1,000 条数据实测 OCR 置信度，重新推导分类标准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标准重定义：可辨识度 = 不可辨比例 + 可辨文字清晰程度</a:t>
            </a:r>
            <a:endParaRPr/>
          </a:p>
        </p:txBody>
      </p:sp>
      <p:graphicFrame>
        <p:nvGraphicFramePr>
          <p:cNvPr id="28" name="Table 2"/>
          <p:cNvGraphicFramePr/>
          <p:nvPr/>
        </p:nvGraphicFramePr>
        <p:xfrm>
          <a:off x="841248" y="1691640"/>
          <a:ext cx="6949440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等级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分类依据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Level 1 · 完全清晰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文字笔画边缘清楚锐利，所有内容轻松可读，无任何模糊感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6EB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Level 2 · 轻微模糊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字迹可辨认，但笔画边缘发虚 / 粘连，不影响阅读内容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8882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Level 3 · 局部模糊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10%-50% 文字看不清或难以辨认，不影响理解主要内容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E86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Level 4 · 大部分模糊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50%-90% 文字无法辨认，只能看清少量内容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DE3C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Level 5 · 完全无法辨认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90% 以上文字不可辨认，几乎或完全无法阅读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  <p:sp>
        <p:nvSpPr>
          <p:cNvPr id="29" name="TextBox 3"/>
          <p:cNvSpPr txBox="1"/>
          <p:nvPr/>
        </p:nvSpPr>
        <p:spPr>
          <a:xfrm>
            <a:off x="841248" y="5257800"/>
            <a:ext cx="69494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边界规则（单独判别）</a:t>
            </a:r>
            <a:endParaRPr/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印章 / 签名 / 手写部分的模糊不计入，只看正文印刷文字；表格线、边框断裂不算模糊</a:t>
            </a:r>
            <a:endParaRPr/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“可根据上下文猜出来，但笔画看不清”应算不可辨认；按可辨认程度判断，而非整体美观度</a:t>
            </a:r>
            <a:endParaRPr/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空白页、严重遮挡、非文书图片等特殊情况单独判别，不污染五档标签</a:t>
            </a:r>
            <a:endParaRPr/>
          </a:p>
        </p:txBody>
      </p:sp>
      <p:pic>
        <p:nvPicPr>
          <p:cNvPr id="30" name="Picture 4" descr="13_置信度分析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751" y="1691640"/>
            <a:ext cx="2827776" cy="3977639"/>
          </a:xfrm>
          <a:prstGeom prst="rect">
            <a:avLst/>
          </a:prstGeom>
          <a:ln w="12700">
            <a:solidFill>
              <a:srgbClr val="D9DEE6"/>
            </a:solidFill>
          </a:ln>
          <a:effectLst/>
        </p:spPr>
      </p:pic>
      <p:sp>
        <p:nvSpPr>
          <p:cNvPr id="31" name="TextBox 5"/>
          <p:cNvSpPr txBox="1"/>
          <p:nvPr/>
        </p:nvSpPr>
        <p:spPr>
          <a:xfrm>
            <a:off x="8001000" y="5760720"/>
            <a:ext cx="3383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模糊率 ≈ OCR 识别准确率过低的比例</a:t>
            </a:r>
            <a:endParaRPr/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以逐行 OCR 置信度锚定可操作、可标注的五级标准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1"/>
          <p:cNvSpPr txBox="1"/>
          <p:nvPr/>
        </p:nvSpPr>
        <p:spPr>
          <a:xfrm>
            <a:off x="841248" y="4114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规则预标注：用 OCR 置信度低成本生成五级初始标签</a:t>
            </a:r>
            <a:endParaRPr/>
          </a:p>
        </p:txBody>
      </p:sp>
      <p:sp>
        <p:nvSpPr>
          <p:cNvPr id="34" name="TextBox 2"/>
          <p:cNvSpPr txBox="1"/>
          <p:nvPr/>
        </p:nvSpPr>
        <p:spPr>
          <a:xfrm>
            <a:off x="841248" y="1481328"/>
            <a:ext cx="777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挑战</a:t>
            </a:r>
            <a:endParaRPr/>
          </a:p>
        </p:txBody>
      </p:sp>
      <p:sp>
        <p:nvSpPr>
          <p:cNvPr id="35" name="TextBox 3"/>
          <p:cNvSpPr txBox="1"/>
          <p:nvPr/>
        </p:nvSpPr>
        <p:spPr>
          <a:xfrm>
            <a:off x="1508760" y="1481328"/>
            <a:ext cx="9829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只有一名标注人员 —— 需要规则低成本初标 + 高置信筛选，人工只复核边界样本</a:t>
            </a:r>
            <a:endParaRPr/>
          </a:p>
        </p:txBody>
      </p:sp>
      <p:sp>
        <p:nvSpPr>
          <p:cNvPr id="36" name="Rounded Rectangle 4"/>
          <p:cNvSpPr/>
          <p:nvPr/>
        </p:nvSpPr>
        <p:spPr>
          <a:xfrm>
            <a:off x="841248" y="1901952"/>
            <a:ext cx="323088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5"/>
          <p:cNvSpPr txBox="1"/>
          <p:nvPr/>
        </p:nvSpPr>
        <p:spPr>
          <a:xfrm>
            <a:off x="960120" y="1993392"/>
            <a:ext cx="2993136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01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输入预处理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逐行提取置信度 / 字数 / 面积
轻量印章检测排除干扰</a:t>
            </a:r>
            <a:endParaRPr/>
          </a:p>
        </p:txBody>
      </p:sp>
      <p:sp>
        <p:nvSpPr>
          <p:cNvPr id="38" name="TextBox 6"/>
          <p:cNvSpPr txBox="1"/>
          <p:nvPr/>
        </p:nvSpPr>
        <p:spPr>
          <a:xfrm>
            <a:off x="4072128" y="22677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39" name="Rounded Rectangle 7"/>
          <p:cNvSpPr/>
          <p:nvPr/>
        </p:nvSpPr>
        <p:spPr>
          <a:xfrm>
            <a:off x="4483608" y="1901952"/>
            <a:ext cx="323088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8"/>
          <p:cNvSpPr txBox="1"/>
          <p:nvPr/>
        </p:nvSpPr>
        <p:spPr>
          <a:xfrm>
            <a:off x="4602480" y="1993392"/>
            <a:ext cx="29972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  </a:t>
            </a:r>
            <a:r>
              <a:rPr sz="1100" b="1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基础等级判定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lang="zh-CN" sz="900" b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行权重</a:t>
            </a:r>
            <a:r>
              <a:rPr sz="900" b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= </a:t>
            </a:r>
            <a:r>
              <a:rPr lang="zh-CN" sz="900" b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sz="900" b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0.7×字数 + 0.3×面积</a:t>
            </a:r>
            <a:r>
              <a:rPr lang="zh-CN" sz="900" b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r>
              <a:rPr lang="en-US" sz="900" b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*OCR</a:t>
            </a:r>
            <a:r>
              <a:rPr lang="zh-CN" sz="900" b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模型置信度</a:t>
            </a:r>
            <a:r>
              <a:rPr sz="900" b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
unreadable_ratio 定 L3-L5</a:t>
            </a:r>
            <a:endParaRPr/>
          </a:p>
        </p:txBody>
      </p:sp>
      <p:sp>
        <p:nvSpPr>
          <p:cNvPr id="41" name="TextBox 9"/>
          <p:cNvSpPr txBox="1"/>
          <p:nvPr/>
        </p:nvSpPr>
        <p:spPr>
          <a:xfrm>
            <a:off x="7714488" y="22677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42" name="Rounded Rectangle 10"/>
          <p:cNvSpPr/>
          <p:nvPr/>
        </p:nvSpPr>
        <p:spPr>
          <a:xfrm>
            <a:off x="8125968" y="1901952"/>
            <a:ext cx="323088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11"/>
          <p:cNvSpPr txBox="1"/>
          <p:nvPr/>
        </p:nvSpPr>
        <p:spPr>
          <a:xfrm>
            <a:off x="8244840" y="1993392"/>
            <a:ext cx="29972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  </a:t>
            </a:r>
            <a:r>
              <a:rPr sz="1100" b="1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锐度</a:t>
            </a:r>
            <a:r>
              <a:rPr lang="zh-CN" sz="1100" b="1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检测</a:t>
            </a:r>
            <a:r>
              <a:rPr sz="1100" b="1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+ 漏检补偿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拉普拉斯方差 / 边缘强度分 L1/L2
连通域分析补偿 OCR 漏检</a:t>
            </a:r>
            <a:endParaRPr/>
          </a:p>
        </p:txBody>
      </p:sp>
      <p:sp>
        <p:nvSpPr>
          <p:cNvPr id="44" name="Rounded Rectangle 12"/>
          <p:cNvSpPr/>
          <p:nvPr/>
        </p:nvSpPr>
        <p:spPr>
          <a:xfrm>
            <a:off x="841248" y="3273552"/>
            <a:ext cx="6720840" cy="2121408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13"/>
          <p:cNvSpPr/>
          <p:nvPr/>
        </p:nvSpPr>
        <p:spPr>
          <a:xfrm>
            <a:off x="841248" y="3273552"/>
            <a:ext cx="82296" cy="2121408"/>
          </a:xfrm>
          <a:prstGeom prst="rect">
            <a:avLst/>
          </a:prstGeom>
          <a:solidFill>
            <a:srgbClr val="297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14"/>
          <p:cNvSpPr txBox="1"/>
          <p:nvPr/>
        </p:nvSpPr>
        <p:spPr>
          <a:xfrm>
            <a:off x="1097280" y="3383280"/>
            <a:ext cx="63550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我的思考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OCR 置信度低是一种模糊证据；OCR 完全漏检是更强的证据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Otsu 二值化 + 连通域分析计算 undetected_ratio，显式补偿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规则产出的是伪标签：价值在低成本初标 + 高置信筛选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印章、手写体、生僻字造成的低置信偏差，交人工复核纠正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任务定义先于模型技巧：先把“清晰/模糊”翻译成可计算的 OCR 信号</a:t>
            </a: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等级 = min（基础等级 + 漏检补偿，5），阈值经多轮实验筛选</a:t>
            </a:r>
            <a:endParaRPr/>
          </a:p>
        </p:txBody>
      </p:sp>
      <p:sp>
        <p:nvSpPr>
          <p:cNvPr id="47" name="TextBox 17"/>
          <p:cNvSpPr txBox="1"/>
          <p:nvPr/>
        </p:nvSpPr>
        <p:spPr>
          <a:xfrm>
            <a:off x="841248" y="54681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业务价值</a:t>
            </a:r>
            <a:endParaRPr/>
          </a:p>
        </p:txBody>
      </p:sp>
      <p:sp>
        <p:nvSpPr>
          <p:cNvPr id="48" name="TextBox 18"/>
          <p:cNvSpPr txBox="1"/>
          <p:nvPr/>
        </p:nvSpPr>
        <p:spPr>
          <a:xfrm>
            <a:off x="8412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13,133</a:t>
            </a:r>
            <a:endParaRPr/>
          </a:p>
        </p:txBody>
      </p:sp>
      <p:sp>
        <p:nvSpPr>
          <p:cNvPr id="49" name="TextBox 19"/>
          <p:cNvSpPr txBox="1"/>
          <p:nvPr/>
        </p:nvSpPr>
        <p:spPr>
          <a:xfrm>
            <a:off x="8412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条人工确认标签</a:t>
            </a:r>
            <a:endParaRPr/>
          </a:p>
        </p:txBody>
      </p:sp>
      <p:sp>
        <p:nvSpPr>
          <p:cNvPr id="50" name="TextBox 20"/>
          <p:cNvSpPr txBox="1"/>
          <p:nvPr/>
        </p:nvSpPr>
        <p:spPr>
          <a:xfrm>
            <a:off x="34701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5 倍+</a:t>
            </a:r>
            <a:endParaRPr/>
          </a:p>
        </p:txBody>
      </p:sp>
      <p:sp>
        <p:nvSpPr>
          <p:cNvPr id="51" name="TextBox 21"/>
          <p:cNvSpPr txBox="1"/>
          <p:nvPr/>
        </p:nvSpPr>
        <p:spPr>
          <a:xfrm>
            <a:off x="34701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标注效率提升</a:t>
            </a:r>
            <a:endParaRPr/>
          </a:p>
        </p:txBody>
      </p:sp>
      <p:sp>
        <p:nvSpPr>
          <p:cNvPr id="52" name="TextBox 22"/>
          <p:cNvSpPr txBox="1"/>
          <p:nvPr/>
        </p:nvSpPr>
        <p:spPr>
          <a:xfrm>
            <a:off x="60990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1 人</a:t>
            </a:r>
            <a:endParaRPr/>
          </a:p>
        </p:txBody>
      </p:sp>
      <p:sp>
        <p:nvSpPr>
          <p:cNvPr id="53" name="TextBox 23"/>
          <p:cNvSpPr txBox="1"/>
          <p:nvPr/>
        </p:nvSpPr>
        <p:spPr>
          <a:xfrm>
            <a:off x="60990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完成全部数据构建</a:t>
            </a:r>
            <a:endParaRPr/>
          </a:p>
        </p:txBody>
      </p:sp>
      <p:sp>
        <p:nvSpPr>
          <p:cNvPr id="54" name="TextBox 24"/>
          <p:cNvSpPr txBox="1"/>
          <p:nvPr/>
        </p:nvSpPr>
        <p:spPr>
          <a:xfrm>
            <a:off x="87279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2 级</a:t>
            </a:r>
            <a:endParaRPr/>
          </a:p>
        </p:txBody>
      </p:sp>
      <p:sp>
        <p:nvSpPr>
          <p:cNvPr id="55" name="TextBox 25"/>
          <p:cNvSpPr txBox="1"/>
          <p:nvPr/>
        </p:nvSpPr>
        <p:spPr>
          <a:xfrm>
            <a:off x="87279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最大漏检补偿幅度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数据构建：规则预标注 + 平台化人工复核闭环</a:t>
            </a:r>
            <a:endParaRPr/>
          </a:p>
        </p:txBody>
      </p:sp>
      <p:pic>
        <p:nvPicPr>
          <p:cNvPr id="58" name="Picture 2" descr="15_标注平台页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64" y="1783080"/>
            <a:ext cx="6307327" cy="3547872"/>
          </a:xfrm>
          <a:prstGeom prst="rect">
            <a:avLst/>
          </a:prstGeom>
          <a:ln w="12700">
            <a:solidFill>
              <a:srgbClr val="D9DEE6"/>
            </a:solidFill>
          </a:ln>
          <a:effectLst/>
        </p:spPr>
      </p:pic>
      <p:sp>
        <p:nvSpPr>
          <p:cNvPr id="59" name="TextBox 3"/>
          <p:cNvSpPr txBox="1"/>
          <p:nvPr/>
        </p:nvSpPr>
        <p:spPr>
          <a:xfrm>
            <a:off x="841248" y="5440680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自研标注平台（AI 辅助开发）</a:t>
            </a:r>
            <a:endParaRPr/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判别原因展示 / 检索分页 / 缩放 / 快捷键；异常随时反馈、阈值即时调整，较共享 Excel 效率提升 </a:t>
            </a:r>
            <a:r>
              <a:rPr sz="1000" b="1" i="0">
                <a:solidFill>
                  <a:srgbClr val="F88825"/>
                </a:solidFill>
                <a:latin typeface="Microsoft YaHei"/>
                <a:ea typeface="Microsoft YaHei"/>
                <a:cs typeface="Microsoft YaHei"/>
              </a:rPr>
              <a:t>5 倍以上</a:t>
            </a:r>
            <a:endParaRPr/>
          </a:p>
        </p:txBody>
      </p:sp>
      <p:sp>
        <p:nvSpPr>
          <p:cNvPr id="60" name="Rounded Rectangle 4"/>
          <p:cNvSpPr/>
          <p:nvPr/>
        </p:nvSpPr>
        <p:spPr>
          <a:xfrm>
            <a:off x="7406640" y="1783080"/>
            <a:ext cx="3977639" cy="22860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5"/>
          <p:cNvSpPr txBox="1"/>
          <p:nvPr/>
        </p:nvSpPr>
        <p:spPr>
          <a:xfrm>
            <a:off x="7589520" y="1901952"/>
            <a:ext cx="36576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数据集构成（人工确认标签）</a:t>
            </a:r>
            <a:endParaRPr/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训练集 9,850 条（75%）</a:t>
            </a:r>
            <a:endParaRPr/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L1 53.3%｜L2 34.0%｜L3 8.4%</a:t>
            </a:r>
            <a:endParaRPr/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L4 3.4%｜L5 0.9%</a:t>
            </a:r>
            <a:endParaRPr/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测试集 3,283 条（25%）</a:t>
            </a:r>
            <a:endParaRPr/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F88825"/>
                </a:solidFill>
                <a:latin typeface="Microsoft YaHei"/>
                <a:ea typeface="Microsoft YaHei"/>
                <a:cs typeface="Microsoft YaHei"/>
              </a:rPr>
              <a:t>平方根反频率过采样 → 13,523 条</a:t>
            </a:r>
            <a:endParaRPr/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防止模型偏好输出低档位</a:t>
            </a:r>
            <a:endParaRPr/>
          </a:p>
        </p:txBody>
      </p:sp>
      <p:sp>
        <p:nvSpPr>
          <p:cNvPr id="62" name="Rounded Rectangle 6"/>
          <p:cNvSpPr/>
          <p:nvPr/>
        </p:nvSpPr>
        <p:spPr>
          <a:xfrm>
            <a:off x="7406640" y="4251960"/>
            <a:ext cx="3977639" cy="2194560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7"/>
          <p:cNvSpPr txBox="1"/>
          <p:nvPr/>
        </p:nvSpPr>
        <p:spPr>
          <a:xfrm>
            <a:off x="7589520" y="4370832"/>
            <a:ext cx="3657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序数高斯标签平滑（σ≈0.55）</a:t>
            </a:r>
            <a:endParaRPr/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L3 硬标签 [0,0,1,0,0] → [0.001, 0.137, 0.724, 0.137, 0.001]</a:t>
            </a:r>
            <a:endParaRPr/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相邻档分得更高权重，保留序数结构</a:t>
            </a:r>
            <a:endParaRPr/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标注不确定性显式注入监督信号，抑制预标签噪声过拟合</a:t>
            </a:r>
            <a:endParaRPr/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允许边界样本输出“介于两档之间”的分布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>
          <a:xfrm>
            <a:off x="864108" y="-127700"/>
            <a:ext cx="10515600" cy="1325563"/>
          </a:xfrm>
        </p:spPr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模型训练：Qwen3.5-9B + LoRA 微调，学习五级质量标尺</a:t>
            </a:r>
            <a:endParaRPr/>
          </a:p>
        </p:txBody>
      </p:sp>
      <p:pic>
        <p:nvPicPr>
          <p:cNvPr id="66" name="Picture 2" descr="16_训练流程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548" y="2139889"/>
            <a:ext cx="8046720" cy="2185031"/>
          </a:xfrm>
          <a:prstGeom prst="rect">
            <a:avLst/>
          </a:prstGeom>
          <a:effectLst/>
        </p:spPr>
      </p:pic>
      <p:sp>
        <p:nvSpPr>
          <p:cNvPr id="67" name="Rounded Rectangle 3"/>
          <p:cNvSpPr/>
          <p:nvPr/>
        </p:nvSpPr>
        <p:spPr>
          <a:xfrm>
            <a:off x="812292" y="4567429"/>
            <a:ext cx="5120640" cy="1691639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4"/>
          <p:cNvSpPr txBox="1"/>
          <p:nvPr/>
        </p:nvSpPr>
        <p:spPr>
          <a:xfrm>
            <a:off x="1046988" y="4681729"/>
            <a:ext cx="4800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Loss 设计</a:t>
            </a:r>
            <a:endParaRPr/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取 “The quality of the image is” 句末 “is” 位置 5 个类别 token 的 logits z∈R⁵，batch 平均</a:t>
            </a:r>
            <a:endParaRPr/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软标签交叉熵 H(q, softmax(z))，等价于 KL(q‖p) + const</a:t>
            </a:r>
            <a:endParaRPr/>
          </a:p>
        </p:txBody>
      </p:sp>
      <p:sp>
        <p:nvSpPr>
          <p:cNvPr id="69" name="Rounded Rectangle 5"/>
          <p:cNvSpPr/>
          <p:nvPr/>
        </p:nvSpPr>
        <p:spPr>
          <a:xfrm>
            <a:off x="6259068" y="4562856"/>
            <a:ext cx="5120640" cy="1691639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"/>
          <p:cNvSpPr txBox="1"/>
          <p:nvPr/>
        </p:nvSpPr>
        <p:spPr>
          <a:xfrm>
            <a:off x="6441948" y="4681729"/>
            <a:ext cx="4800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训练配置（ms-swift）</a:t>
            </a:r>
            <a:endParaRPr/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LoRA rank=8 ｜ lr=1e-4 ｜ batch=2 ｜ grad_accum=4 ｜ epochs=3</a:t>
            </a:r>
            <a:endParaRPr/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BF16 + SDPA ｜ 冻结视觉塔与 aligner ｜ 总步数 2,538</a:t>
            </a:r>
            <a:endParaRPr/>
          </a:p>
        </p:txBody>
      </p:sp>
      <p:sp>
        <p:nvSpPr>
          <p:cNvPr id="71" name="Rounded Rectangle 7"/>
          <p:cNvSpPr/>
          <p:nvPr/>
        </p:nvSpPr>
        <p:spPr>
          <a:xfrm>
            <a:off x="864108" y="1124713"/>
            <a:ext cx="10515600" cy="777240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8"/>
          <p:cNvSpPr txBox="1"/>
          <p:nvPr/>
        </p:nvSpPr>
        <p:spPr>
          <a:xfrm>
            <a:off x="1161288" y="1161288"/>
            <a:ext cx="101955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为什么选 VLM：</a:t>
            </a: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复用文字区域/字符结构/版面布局等预训练知识，少量标注即可迁移；理解五档序数递进而非互斥硬类别；LoRA 低成本适配；输出可扩展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训练结果：1.4 个 epoch 收敛早停，组内准确率 99.82%</a:t>
            </a:r>
            <a:endParaRPr/>
          </a:p>
        </p:txBody>
      </p:sp>
      <p:pic>
        <p:nvPicPr>
          <p:cNvPr id="75" name="Picture 2" descr="18_训练曲线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030" y="1691640"/>
            <a:ext cx="5804875" cy="4297680"/>
          </a:xfrm>
          <a:prstGeom prst="rect">
            <a:avLst/>
          </a:prstGeom>
          <a:effectLst/>
        </p:spPr>
      </p:pic>
      <p:sp>
        <p:nvSpPr>
          <p:cNvPr id="76" name="TextBox 3"/>
          <p:cNvSpPr txBox="1"/>
          <p:nvPr/>
        </p:nvSpPr>
        <p:spPr>
          <a:xfrm>
            <a:off x="841248" y="6035040"/>
            <a:ext cx="5806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step 1200（≈1.4 epoch）Eval Loss 触底 0.0757，继续训练过拟合 → 及时早停</a:t>
            </a:r>
            <a:endParaRPr/>
          </a:p>
        </p:txBody>
      </p:sp>
      <p:graphicFrame>
        <p:nvGraphicFramePr>
          <p:cNvPr id="77" name="Table 4"/>
          <p:cNvGraphicFramePr/>
          <p:nvPr/>
        </p:nvGraphicFramePr>
        <p:xfrm>
          <a:off x="6949440" y="1783080"/>
          <a:ext cx="443484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评测指标（测试集 3,283 条）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绝对准确率（与预标签完全一致）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70.42%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±1 准确率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98.66%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组内准确率（前三/后二不跨档）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99.82%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前→后跨档（好图判差）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 1 条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后→前跨档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 5 条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  <p:sp>
        <p:nvSpPr>
          <p:cNvPr id="78" name="TextBox 5"/>
          <p:cNvSpPr txBox="1"/>
          <p:nvPr/>
        </p:nvSpPr>
        <p:spPr>
          <a:xfrm>
            <a:off x="6949440" y="5029200"/>
            <a:ext cx="4434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 i="0">
                <a:solidFill>
                  <a:srgbClr val="F88825"/>
                </a:solidFill>
                <a:latin typeface="Microsoft YaHei"/>
                <a:ea typeface="Microsoft YaHei"/>
                <a:cs typeface="Microsoft YaHei"/>
              </a:rPr>
              <a:t>评测口径</a:t>
            </a:r>
            <a:endParaRPr/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业务拟拒 Level 4/5，重点统计“好图判差”的前→后跨档</a:t>
            </a:r>
            <a:endParaRPr/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Review 模型推理与预标签分歧，同步纠正初始错误标签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消融实验：软标签 + LLM 语义理解综合最优</a:t>
            </a:r>
            <a:endParaRPr/>
          </a:p>
        </p:txBody>
      </p:sp>
      <p:graphicFrame>
        <p:nvGraphicFramePr>
          <p:cNvPr id="81" name="Table 2"/>
          <p:cNvGraphicFramePr/>
          <p:nvPr/>
        </p:nvGraphicFramePr>
        <p:xfrm>
          <a:off x="841248" y="1645920"/>
          <a:ext cx="1051560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1100" b="1" i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绝对准确率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±1 准确率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组内准确率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前→后跨档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后→前跨档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规则预标注（原始 labels）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50" b="0" i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98.05%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97.78%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 条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 条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LLM LoRA 软标签（本方案）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70.42%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98.66%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99.82%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 1 条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 5 条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LLM LoRA 硬标签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65.03%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97.26%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98.63%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 条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条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纯视觉头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70.36%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98.69%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98.54%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条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 条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</a:tbl>
          </a:graphicData>
        </a:graphic>
      </p:graphicFrame>
      <p:sp>
        <p:nvSpPr>
          <p:cNvPr id="82" name="TextBox 3"/>
          <p:cNvSpPr txBox="1"/>
          <p:nvPr/>
        </p:nvSpPr>
        <p:spPr>
          <a:xfrm>
            <a:off x="841248" y="4023360"/>
            <a:ext cx="10515600" cy="146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组内准确率 = 前三类 / 后两类不互相跨档即算对；±1 准确率 = 偏差 ≤1 且不犯前→后跨档</a:t>
            </a:r>
            <a:endParaRPr/>
          </a:p>
        </p:txBody>
      </p:sp>
      <p:sp>
        <p:nvSpPr>
          <p:cNvPr id="83" name="Rounded Rectangle 4"/>
          <p:cNvSpPr/>
          <p:nvPr/>
        </p:nvSpPr>
        <p:spPr>
          <a:xfrm>
            <a:off x="841248" y="4434840"/>
            <a:ext cx="10515600" cy="621792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5"/>
          <p:cNvSpPr/>
          <p:nvPr/>
        </p:nvSpPr>
        <p:spPr>
          <a:xfrm>
            <a:off x="841248" y="4434840"/>
            <a:ext cx="82296" cy="621792"/>
          </a:xfrm>
          <a:prstGeom prst="rect">
            <a:avLst/>
          </a:prstGeom>
          <a:solidFill>
            <a:srgbClr val="297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6"/>
          <p:cNvSpPr txBox="1"/>
          <p:nvPr/>
        </p:nvSpPr>
        <p:spPr>
          <a:xfrm>
            <a:off x="1051560" y="4498848"/>
            <a:ext cx="1920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软标签 vs 硬标签</a:t>
            </a:r>
            <a:endParaRPr/>
          </a:p>
        </p:txBody>
      </p:sp>
      <p:sp>
        <p:nvSpPr>
          <p:cNvPr id="86" name="TextBox 7"/>
          <p:cNvSpPr txBox="1"/>
          <p:nvPr/>
        </p:nvSpPr>
        <p:spPr>
          <a:xfrm>
            <a:off x="3017520" y="4498848"/>
            <a:ext cx="8183879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硬标签把预标签噪声当确定事实拟合（exact 跌至 65.03%、前→后跨档 25 条）；软标签保留相邻档 ±0.3 的合理不确定性</a:t>
            </a:r>
            <a:endParaRPr/>
          </a:p>
        </p:txBody>
      </p:sp>
      <p:sp>
        <p:nvSpPr>
          <p:cNvPr id="87" name="Rounded Rectangle 8"/>
          <p:cNvSpPr/>
          <p:nvPr/>
        </p:nvSpPr>
        <p:spPr>
          <a:xfrm>
            <a:off x="841248" y="5184648"/>
            <a:ext cx="10515600" cy="621792"/>
          </a:xfrm>
          <a:prstGeom prst="roundRect">
            <a:avLst>
              <a:gd name="adj" fmla="val 8000"/>
            </a:avLst>
          </a:prstGeom>
          <a:solidFill>
            <a:srgbClr val="F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9"/>
          <p:cNvSpPr/>
          <p:nvPr/>
        </p:nvSpPr>
        <p:spPr>
          <a:xfrm>
            <a:off x="841248" y="5184648"/>
            <a:ext cx="82296" cy="621792"/>
          </a:xfrm>
          <a:prstGeom prst="rect">
            <a:avLst/>
          </a:prstGeom>
          <a:solidFill>
            <a:srgbClr val="9A3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10"/>
          <p:cNvSpPr txBox="1"/>
          <p:nvPr/>
        </p:nvSpPr>
        <p:spPr>
          <a:xfrm>
            <a:off x="1051560" y="5248656"/>
            <a:ext cx="1920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9A38D7"/>
                </a:solidFill>
                <a:latin typeface="Microsoft YaHei"/>
                <a:ea typeface="Microsoft YaHei"/>
                <a:cs typeface="Microsoft YaHei"/>
              </a:rPr>
              <a:t>LLM vs 纯视觉头</a:t>
            </a:r>
            <a:endParaRPr/>
          </a:p>
        </p:txBody>
      </p:sp>
      <p:sp>
        <p:nvSpPr>
          <p:cNvPr id="90" name="TextBox 11"/>
          <p:cNvSpPr txBox="1"/>
          <p:nvPr/>
        </p:nvSpPr>
        <p:spPr>
          <a:xfrm>
            <a:off x="3017520" y="5248656"/>
            <a:ext cx="8183879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纯视觉头缺“读字”能力，无法理解“表格线断裂不算模糊”等语义规则，易把印章水印误判为模糊（跨档 30 条）</a:t>
            </a:r>
            <a:endParaRPr/>
          </a:p>
        </p:txBody>
      </p:sp>
      <p:sp>
        <p:nvSpPr>
          <p:cNvPr id="91" name="Rounded Rectangle 12"/>
          <p:cNvSpPr/>
          <p:nvPr/>
        </p:nvSpPr>
        <p:spPr>
          <a:xfrm>
            <a:off x="841248" y="5934456"/>
            <a:ext cx="10515600" cy="621792"/>
          </a:xfrm>
          <a:prstGeom prst="roundRect">
            <a:avLst>
              <a:gd name="adj" fmla="val 8000"/>
            </a:avLst>
          </a:prstGeom>
          <a:solidFill>
            <a:srgbClr val="FE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13"/>
          <p:cNvSpPr/>
          <p:nvPr/>
        </p:nvSpPr>
        <p:spPr>
          <a:xfrm>
            <a:off x="841248" y="5934456"/>
            <a:ext cx="82296" cy="621792"/>
          </a:xfrm>
          <a:prstGeom prst="rect">
            <a:avLst/>
          </a:prstGeom>
          <a:solidFill>
            <a:srgbClr val="F88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14"/>
          <p:cNvSpPr txBox="1"/>
          <p:nvPr/>
        </p:nvSpPr>
        <p:spPr>
          <a:xfrm>
            <a:off x="1051560" y="5998464"/>
            <a:ext cx="1920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88825"/>
                </a:solidFill>
                <a:latin typeface="Microsoft YaHei"/>
                <a:ea typeface="Microsoft YaHei"/>
                <a:cs typeface="Microsoft YaHei"/>
              </a:rPr>
              <a:t>下一步与落地</a:t>
            </a:r>
            <a:endParaRPr/>
          </a:p>
        </p:txBody>
      </p:sp>
      <p:sp>
        <p:nvSpPr>
          <p:cNvPr id="94" name="TextBox 15"/>
          <p:cNvSpPr txBox="1"/>
          <p:nvPr/>
        </p:nvSpPr>
        <p:spPr>
          <a:xfrm>
            <a:off x="3017520" y="5998464"/>
            <a:ext cx="8183879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模型替代规则做预标、只复核分歧样本、补 L4/5 长尾；LLM LoRA 主方案（9B 单卡部署、拒 L4/5、L3 转人审）+ 视觉头前置粗筛，组成两级路由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AI 实践与思考：效率放大器，而非能力替代品</a:t>
            </a:r>
            <a:endParaRPr/>
          </a:p>
        </p:txBody>
      </p:sp>
      <p:graphicFrame>
        <p:nvGraphicFramePr>
          <p:cNvPr id="97" name="Table 2"/>
          <p:cNvGraphicFramePr/>
          <p:nvPr/>
        </p:nvGraphicFramePr>
        <p:xfrm>
          <a:off x="841248" y="1691640"/>
          <a:ext cx="5394960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具体用法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2972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编写训练代码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训练脚本、数据清洗、评估指标的编写与重构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2972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开发标注平台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编程全流程开发多套标注平台，效率提升 5 倍+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2972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文献调研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梳理 IQA 论文脉络，定位“OCR 置信度”关键结论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2972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分析问题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bad case 归因、数据分布分析、实验失败排查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2972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设计实验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方案枚举对比、消融实验设计、评估指标定义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2972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监控训练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训练日志实时监控脚本，异常及时告警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"/>
                  </a:ext>
                </a:extLst>
              </a:tr>
            </a:tbl>
          </a:graphicData>
        </a:graphic>
      </p:graphicFrame>
      <p:sp>
        <p:nvSpPr>
          <p:cNvPr id="98" name="TextBox 3"/>
          <p:cNvSpPr txBox="1"/>
          <p:nvPr/>
        </p:nvSpPr>
        <p:spPr>
          <a:xfrm>
            <a:off x="6492240" y="164592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六条落地经验</a:t>
            </a:r>
            <a:endParaRPr/>
          </a:p>
        </p:txBody>
      </p:sp>
      <p:sp>
        <p:nvSpPr>
          <p:cNvPr id="99" name="Rounded Rectangle 4"/>
          <p:cNvSpPr/>
          <p:nvPr/>
        </p:nvSpPr>
        <p:spPr>
          <a:xfrm>
            <a:off x="6492240" y="2011680"/>
            <a:ext cx="4892040" cy="6583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5"/>
          <p:cNvSpPr txBox="1"/>
          <p:nvPr/>
        </p:nvSpPr>
        <p:spPr>
          <a:xfrm>
            <a:off x="6629400" y="2066544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/>
          </a:p>
        </p:txBody>
      </p:sp>
      <p:sp>
        <p:nvSpPr>
          <p:cNvPr id="101" name="TextBox 6"/>
          <p:cNvSpPr txBox="1"/>
          <p:nvPr/>
        </p:nvSpPr>
        <p:spPr>
          <a:xfrm>
            <a:off x="7040880" y="2057400"/>
            <a:ext cx="425196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可交互页面代替静态文档</a:t>
            </a:r>
            <a:endParaRPr/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bad case 展示、数据分布做成可筛选缩放的 HTML 页面，沟通效率远高于 md</a:t>
            </a:r>
            <a:endParaRPr/>
          </a:p>
        </p:txBody>
      </p:sp>
      <p:sp>
        <p:nvSpPr>
          <p:cNvPr id="102" name="Rounded Rectangle 7"/>
          <p:cNvSpPr/>
          <p:nvPr/>
        </p:nvSpPr>
        <p:spPr>
          <a:xfrm>
            <a:off x="6492240" y="2734056"/>
            <a:ext cx="4892040" cy="6583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8"/>
          <p:cNvSpPr txBox="1"/>
          <p:nvPr/>
        </p:nvSpPr>
        <p:spPr>
          <a:xfrm>
            <a:off x="6629400" y="2788920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/>
          </a:p>
        </p:txBody>
      </p:sp>
      <p:sp>
        <p:nvSpPr>
          <p:cNvPr id="104" name="TextBox 9"/>
          <p:cNvSpPr txBox="1"/>
          <p:nvPr/>
        </p:nvSpPr>
        <p:spPr>
          <a:xfrm>
            <a:off x="7040880" y="2779776"/>
            <a:ext cx="425196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维护个性化 memory.md</a:t>
            </a:r>
            <a:endParaRPr/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网络环境、工具用法、业务术语写入项目记忆，AI 每次对话自带上下文</a:t>
            </a:r>
            <a:endParaRPr/>
          </a:p>
        </p:txBody>
      </p:sp>
      <p:sp>
        <p:nvSpPr>
          <p:cNvPr id="105" name="Rounded Rectangle 10"/>
          <p:cNvSpPr/>
          <p:nvPr/>
        </p:nvSpPr>
        <p:spPr>
          <a:xfrm>
            <a:off x="6492240" y="3456432"/>
            <a:ext cx="4892040" cy="6583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1"/>
          <p:cNvSpPr txBox="1"/>
          <p:nvPr/>
        </p:nvSpPr>
        <p:spPr>
          <a:xfrm>
            <a:off x="6629400" y="3511296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/>
          </a:p>
        </p:txBody>
      </p:sp>
      <p:sp>
        <p:nvSpPr>
          <p:cNvPr id="107" name="TextBox 12"/>
          <p:cNvSpPr txBox="1"/>
          <p:nvPr/>
        </p:nvSpPr>
        <p:spPr>
          <a:xfrm>
            <a:off x="7040880" y="3502152"/>
            <a:ext cx="425196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上下文质量决定输出质量</a:t>
            </a:r>
            <a:endParaRPr/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喂错误日志原文、真实样例、规则条文，输入越具体返工越少</a:t>
            </a:r>
            <a:endParaRPr/>
          </a:p>
        </p:txBody>
      </p:sp>
      <p:sp>
        <p:nvSpPr>
          <p:cNvPr id="108" name="Rounded Rectangle 13"/>
          <p:cNvSpPr/>
          <p:nvPr/>
        </p:nvSpPr>
        <p:spPr>
          <a:xfrm>
            <a:off x="6492240" y="4178808"/>
            <a:ext cx="4892040" cy="6583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4"/>
          <p:cNvSpPr txBox="1"/>
          <p:nvPr/>
        </p:nvSpPr>
        <p:spPr>
          <a:xfrm>
            <a:off x="6629400" y="4233672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/>
          </a:p>
        </p:txBody>
      </p:sp>
      <p:sp>
        <p:nvSpPr>
          <p:cNvPr id="110" name="TextBox 15"/>
          <p:cNvSpPr txBox="1"/>
          <p:nvPr/>
        </p:nvSpPr>
        <p:spPr>
          <a:xfrm>
            <a:off x="7040880" y="4224528"/>
            <a:ext cx="425196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小步快跑，边写边验</a:t>
            </a:r>
            <a:endParaRPr/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复杂任务拆成可独立运行的小模块，勤 commit 防改飞</a:t>
            </a:r>
            <a:endParaRPr/>
          </a:p>
        </p:txBody>
      </p:sp>
      <p:sp>
        <p:nvSpPr>
          <p:cNvPr id="111" name="Rounded Rectangle 16"/>
          <p:cNvSpPr/>
          <p:nvPr/>
        </p:nvSpPr>
        <p:spPr>
          <a:xfrm>
            <a:off x="6492240" y="4901184"/>
            <a:ext cx="4892040" cy="6583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7"/>
          <p:cNvSpPr txBox="1"/>
          <p:nvPr/>
        </p:nvSpPr>
        <p:spPr>
          <a:xfrm>
            <a:off x="6629400" y="4956048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5</a:t>
            </a:r>
            <a:endParaRPr/>
          </a:p>
        </p:txBody>
      </p:sp>
      <p:sp>
        <p:nvSpPr>
          <p:cNvPr id="113" name="TextBox 18"/>
          <p:cNvSpPr txBox="1"/>
          <p:nvPr/>
        </p:nvSpPr>
        <p:spPr>
          <a:xfrm>
            <a:off x="7040880" y="4946904"/>
            <a:ext cx="425196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关键逻辑必须人工把关</a:t>
            </a:r>
            <a:endParaRPr/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标签对齐、指标口径这类地方 AI 容易埋隐蔽的坑，必须自己 review</a:t>
            </a:r>
            <a:endParaRPr/>
          </a:p>
        </p:txBody>
      </p:sp>
      <p:sp>
        <p:nvSpPr>
          <p:cNvPr id="114" name="Rounded Rectangle 19"/>
          <p:cNvSpPr/>
          <p:nvPr/>
        </p:nvSpPr>
        <p:spPr>
          <a:xfrm>
            <a:off x="6492240" y="5623560"/>
            <a:ext cx="4892040" cy="6583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20"/>
          <p:cNvSpPr txBox="1"/>
          <p:nvPr/>
        </p:nvSpPr>
        <p:spPr>
          <a:xfrm>
            <a:off x="6629400" y="5678424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6</a:t>
            </a:r>
            <a:endParaRPr/>
          </a:p>
        </p:txBody>
      </p:sp>
      <p:sp>
        <p:nvSpPr>
          <p:cNvPr id="116" name="TextBox 21"/>
          <p:cNvSpPr txBox="1"/>
          <p:nvPr/>
        </p:nvSpPr>
        <p:spPr>
          <a:xfrm>
            <a:off x="7040880" y="5669280"/>
            <a:ext cx="425196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AI 负责广度，人负责判断</a:t>
            </a:r>
            <a:endParaRPr/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“二分类改五分类”这类决策，对业务数据的理解才是决策依据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总结与展望</a:t>
            </a:r>
            <a:endParaRPr/>
          </a:p>
        </p:txBody>
      </p:sp>
      <p:sp>
        <p:nvSpPr>
          <p:cNvPr id="119" name="Rounded Rectangle 2"/>
          <p:cNvSpPr/>
          <p:nvPr/>
        </p:nvSpPr>
        <p:spPr>
          <a:xfrm>
            <a:off x="841248" y="1645920"/>
            <a:ext cx="3447288" cy="4160520"/>
          </a:xfrm>
          <a:prstGeom prst="roundRect">
            <a:avLst>
              <a:gd name="adj" fmla="val 8000"/>
            </a:avLst>
          </a:prstGeom>
          <a:solidFill>
            <a:srgbClr val="E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ounded Rectangle 3"/>
          <p:cNvSpPr/>
          <p:nvPr/>
        </p:nvSpPr>
        <p:spPr>
          <a:xfrm>
            <a:off x="841248" y="1645920"/>
            <a:ext cx="3447288" cy="457200"/>
          </a:xfrm>
          <a:prstGeom prst="roundRect">
            <a:avLst>
              <a:gd name="adj" fmla="val 8000"/>
            </a:avLst>
          </a:prstGeom>
          <a:solidFill>
            <a:srgbClr val="319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4"/>
          <p:cNvSpPr txBox="1"/>
          <p:nvPr/>
        </p:nvSpPr>
        <p:spPr>
          <a:xfrm>
            <a:off x="841248" y="1700784"/>
            <a:ext cx="3447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做得好的地方</a:t>
            </a:r>
            <a:endParaRPr/>
          </a:p>
        </p:txBody>
      </p:sp>
      <p:sp>
        <p:nvSpPr>
          <p:cNvPr id="122" name="TextBox 5"/>
          <p:cNvSpPr txBox="1"/>
          <p:nvPr/>
        </p:nvSpPr>
        <p:spPr>
          <a:xfrm>
            <a:off x="1005840" y="2240280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319B62"/>
                </a:solidFill>
                <a:latin typeface="Microsoft YaHei"/>
                <a:ea typeface="Microsoft YaHei"/>
                <a:cs typeface="Microsoft YaHei"/>
              </a:rPr>
              <a:t>· 思维转变</a:t>
            </a:r>
            <a:endParaRPr/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从离线指标到业务可信，模型问题常是任务定义问题</a:t>
            </a:r>
            <a:endParaRPr/>
          </a:p>
        </p:txBody>
      </p:sp>
      <p:sp>
        <p:nvSpPr>
          <p:cNvPr id="123" name="TextBox 6"/>
          <p:cNvSpPr txBox="1"/>
          <p:nvPr/>
        </p:nvSpPr>
        <p:spPr>
          <a:xfrm>
            <a:off x="1005840" y="3127248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319B62"/>
                </a:solidFill>
                <a:latin typeface="Microsoft YaHei"/>
                <a:ea typeface="Microsoft YaHei"/>
                <a:cs typeface="Microsoft YaHei"/>
              </a:rPr>
              <a:t>· 全链路视角</a:t>
            </a:r>
            <a:endParaRPr/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向上延伸到任务定义与数据标准，向下延伸到标注平台与人审闭环</a:t>
            </a:r>
            <a:endParaRPr/>
          </a:p>
        </p:txBody>
      </p:sp>
      <p:sp>
        <p:nvSpPr>
          <p:cNvPr id="124" name="TextBox 7"/>
          <p:cNvSpPr txBox="1"/>
          <p:nvPr/>
        </p:nvSpPr>
        <p:spPr>
          <a:xfrm>
            <a:off x="1005840" y="4014215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319B62"/>
                </a:solidFill>
                <a:latin typeface="Microsoft YaHei"/>
                <a:ea typeface="Microsoft YaHei"/>
                <a:cs typeface="Microsoft YaHei"/>
              </a:rPr>
              <a:t>· 数据质量优先</a:t>
            </a:r>
            <a:endParaRPr/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规则预标注+人工复核+平台化反馈，效率提升5倍，标签质量有机制保障</a:t>
            </a:r>
            <a:endParaRPr/>
          </a:p>
        </p:txBody>
      </p:sp>
      <p:sp>
        <p:nvSpPr>
          <p:cNvPr id="125" name="TextBox 8"/>
          <p:cNvSpPr txBox="1"/>
          <p:nvPr/>
        </p:nvSpPr>
        <p:spPr>
          <a:xfrm>
            <a:off x="1005840" y="4901183"/>
            <a:ext cx="3124200" cy="469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319B6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· 效果与成本平衡</a:t>
            </a:r>
            <a:endParaRPr/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单人</a:t>
            </a:r>
            <a:r>
              <a:rPr lang="zh-CN" sz="900" b="0" i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辅助模型可</a:t>
            </a:r>
            <a:r>
              <a:rPr sz="900" b="0" i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完成数万条</a:t>
            </a:r>
            <a:r>
              <a:rPr lang="zh-CN" sz="900" b="0" i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标注</a:t>
            </a:r>
            <a:r>
              <a:rPr sz="900" b="0" i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；单卡可部署，推理满足3秒硬约束</a:t>
            </a:r>
            <a:endParaRPr/>
          </a:p>
        </p:txBody>
      </p:sp>
      <p:sp>
        <p:nvSpPr>
          <p:cNvPr id="126" name="Rounded Rectangle 9"/>
          <p:cNvSpPr/>
          <p:nvPr/>
        </p:nvSpPr>
        <p:spPr>
          <a:xfrm>
            <a:off x="4375404" y="1645920"/>
            <a:ext cx="3447288" cy="4160520"/>
          </a:xfrm>
          <a:prstGeom prst="roundRect">
            <a:avLst>
              <a:gd name="adj" fmla="val 8000"/>
            </a:avLst>
          </a:prstGeom>
          <a:solidFill>
            <a:srgbClr val="FC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ounded Rectangle 10"/>
          <p:cNvSpPr/>
          <p:nvPr/>
        </p:nvSpPr>
        <p:spPr>
          <a:xfrm>
            <a:off x="4375404" y="1645920"/>
            <a:ext cx="3447288" cy="457200"/>
          </a:xfrm>
          <a:prstGeom prst="roundRect">
            <a:avLst>
              <a:gd name="adj" fmla="val 8000"/>
            </a:avLst>
          </a:prstGeom>
          <a:solidFill>
            <a:srgbClr val="DE3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1"/>
          <p:cNvSpPr txBox="1"/>
          <p:nvPr/>
        </p:nvSpPr>
        <p:spPr>
          <a:xfrm>
            <a:off x="4375404" y="1700784"/>
            <a:ext cx="3447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做得不好的地方</a:t>
            </a:r>
            <a:endParaRPr/>
          </a:p>
        </p:txBody>
      </p:sp>
      <p:sp>
        <p:nvSpPr>
          <p:cNvPr id="129" name="TextBox 12"/>
          <p:cNvSpPr txBox="1"/>
          <p:nvPr/>
        </p:nvSpPr>
        <p:spPr>
          <a:xfrm>
            <a:off x="4539996" y="2240280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DE3C36"/>
                </a:solidFill>
                <a:latin typeface="Microsoft YaHei"/>
                <a:ea typeface="Microsoft YaHei"/>
                <a:cs typeface="Microsoft YaHei"/>
              </a:rPr>
              <a:t>· 根因识别偏晚</a:t>
            </a:r>
            <a:endParaRPr/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前期在 XGBoost 阈值、CLIP 零样本上试错较多，应更早做任务定义推演</a:t>
            </a:r>
            <a:endParaRPr/>
          </a:p>
        </p:txBody>
      </p:sp>
      <p:sp>
        <p:nvSpPr>
          <p:cNvPr id="130" name="TextBox 14"/>
          <p:cNvSpPr txBox="1"/>
          <p:nvPr/>
        </p:nvSpPr>
        <p:spPr>
          <a:xfrm>
            <a:off x="4539996" y="3127248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DE3C36"/>
                </a:solidFill>
                <a:latin typeface="Microsoft YaHei"/>
                <a:ea typeface="Microsoft YaHei"/>
                <a:cs typeface="Microsoft YaHei"/>
              </a:rPr>
              <a:t>· 实验管理不够系统</a:t>
            </a:r>
            <a:endParaRPr/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部分实验配置与结果记录分散，横向对比成本较高</a:t>
            </a:r>
            <a:endParaRPr/>
          </a:p>
        </p:txBody>
      </p:sp>
      <p:sp>
        <p:nvSpPr>
          <p:cNvPr id="131" name="TextBox 15"/>
          <p:cNvSpPr txBox="1"/>
          <p:nvPr/>
        </p:nvSpPr>
        <p:spPr>
          <a:xfrm>
            <a:off x="4539996" y="4150556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DE3C36"/>
                </a:solidFill>
                <a:latin typeface="Microsoft YaHei"/>
                <a:ea typeface="Microsoft YaHei"/>
                <a:cs typeface="Microsoft YaHei"/>
              </a:rPr>
              <a:t>· 价值尚未完全兑现</a:t>
            </a:r>
            <a:endParaRPr/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离线模型未接线上，拒单收益与误拦风险未经真实检验</a:t>
            </a:r>
            <a:endParaRPr/>
          </a:p>
        </p:txBody>
      </p:sp>
      <p:sp>
        <p:nvSpPr>
          <p:cNvPr id="132" name="Rounded Rectangle 16"/>
          <p:cNvSpPr/>
          <p:nvPr/>
        </p:nvSpPr>
        <p:spPr>
          <a:xfrm>
            <a:off x="7909560" y="1645920"/>
            <a:ext cx="3447288" cy="4160520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17"/>
          <p:cNvSpPr/>
          <p:nvPr/>
        </p:nvSpPr>
        <p:spPr>
          <a:xfrm>
            <a:off x="7909560" y="1645920"/>
            <a:ext cx="3447288" cy="457200"/>
          </a:xfrm>
          <a:prstGeom prst="roundRect">
            <a:avLst>
              <a:gd name="adj" fmla="val 8000"/>
            </a:avLst>
          </a:prstGeom>
          <a:solidFill>
            <a:srgbClr val="297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8"/>
          <p:cNvSpPr txBox="1"/>
          <p:nvPr/>
        </p:nvSpPr>
        <p:spPr>
          <a:xfrm>
            <a:off x="7909560" y="1700784"/>
            <a:ext cx="3447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提升计划</a:t>
            </a:r>
            <a:endParaRPr/>
          </a:p>
        </p:txBody>
      </p:sp>
      <p:sp>
        <p:nvSpPr>
          <p:cNvPr id="135" name="TextBox 19"/>
          <p:cNvSpPr txBox="1"/>
          <p:nvPr/>
        </p:nvSpPr>
        <p:spPr>
          <a:xfrm>
            <a:off x="8074152" y="2240280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· 业务理解</a:t>
            </a:r>
            <a:endParaRPr/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量化拒单率、误拦成本与人审工时，决策以业务 ROI 为锚</a:t>
            </a:r>
            <a:endParaRPr/>
          </a:p>
        </p:txBody>
      </p:sp>
      <p:sp>
        <p:nvSpPr>
          <p:cNvPr id="136" name="TextBox 20"/>
          <p:cNvSpPr txBox="1"/>
          <p:nvPr/>
        </p:nvSpPr>
        <p:spPr>
          <a:xfrm>
            <a:off x="8074152" y="3127248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· 工程落地</a:t>
            </a:r>
            <a:endParaRPr/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补齐部署与推理加速短板，推动清晰度模型上线接入</a:t>
            </a:r>
            <a:endParaRPr/>
          </a:p>
        </p:txBody>
      </p:sp>
      <p:sp>
        <p:nvSpPr>
          <p:cNvPr id="137" name="TextBox 21"/>
          <p:cNvSpPr txBox="1"/>
          <p:nvPr/>
        </p:nvSpPr>
        <p:spPr>
          <a:xfrm>
            <a:off x="8074152" y="4014215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· 数据闭环</a:t>
            </a:r>
            <a:endParaRPr/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建立 bad case 回流机制，形成完整迭代闭环</a:t>
            </a:r>
            <a:endParaRPr/>
          </a:p>
        </p:txBody>
      </p:sp>
      <p:sp>
        <p:nvSpPr>
          <p:cNvPr id="138" name="TextBox 22"/>
          <p:cNvSpPr txBox="1"/>
          <p:nvPr/>
        </p:nvSpPr>
        <p:spPr>
          <a:xfrm>
            <a:off x="8074152" y="4901183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· 实验管理</a:t>
            </a:r>
            <a:endParaRPr/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统一实验记录模板，配置、数据版本、结果可追溯</a:t>
            </a:r>
            <a:endParaRPr/>
          </a:p>
        </p:txBody>
      </p:sp>
      <p:sp>
        <p:nvSpPr>
          <p:cNvPr id="139" name="Rounded Rectangle 23"/>
          <p:cNvSpPr/>
          <p:nvPr/>
        </p:nvSpPr>
        <p:spPr>
          <a:xfrm>
            <a:off x="841248" y="5989320"/>
            <a:ext cx="10515600" cy="621792"/>
          </a:xfrm>
          <a:prstGeom prst="roundRect">
            <a:avLst>
              <a:gd name="adj" fmla="val 8000"/>
            </a:avLst>
          </a:prstGeom>
          <a:solidFill>
            <a:srgbClr val="485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24"/>
          <p:cNvSpPr txBox="1"/>
          <p:nvPr/>
        </p:nvSpPr>
        <p:spPr>
          <a:xfrm>
            <a:off x="841248" y="6060832"/>
            <a:ext cx="105156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长期：深耕多模态大模型在垂直业务场景的落地 —— 从“训练模型的人”到“对业务结果负责的人”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392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文本框 5"/>
          <p:cNvSpPr txBox="1"/>
          <p:nvPr/>
        </p:nvSpPr>
        <p:spPr>
          <a:xfrm>
            <a:off x="3813048" y="2606040"/>
            <a:ext cx="4572000" cy="10058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" panose="020B0503020204020204" charset="-122"/>
                <a:sym typeface="+mn-ea"/>
              </a:rPr>
              <a:t>THANKS</a:t>
            </a:r>
            <a:endParaRPr/>
          </a:p>
        </p:txBody>
      </p:sp>
      <p:grpSp>
        <p:nvGrpSpPr>
          <p:cNvPr id="191" name="组合 15"/>
          <p:cNvGrpSpPr/>
          <p:nvPr/>
        </p:nvGrpSpPr>
        <p:grpSpPr>
          <a:xfrm>
            <a:off x="338812" y="718114"/>
            <a:ext cx="62924" cy="5222224"/>
            <a:chOff x="253672" y="443646"/>
            <a:chExt cx="47195" cy="3916872"/>
          </a:xfrm>
        </p:grpSpPr>
        <p:sp>
          <p:nvSpPr>
            <p:cNvPr id="192" name="矩形 7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矩形 10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矩形 11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矩形 12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矩形 13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7" name="组合 16"/>
          <p:cNvGrpSpPr/>
          <p:nvPr/>
        </p:nvGrpSpPr>
        <p:grpSpPr>
          <a:xfrm>
            <a:off x="1575154" y="718114"/>
            <a:ext cx="62650" cy="5222224"/>
            <a:chOff x="253672" y="443646"/>
            <a:chExt cx="47195" cy="3916872"/>
          </a:xfrm>
        </p:grpSpPr>
        <p:sp>
          <p:nvSpPr>
            <p:cNvPr id="198" name="矩形 17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矩形 18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矩形 19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1" name="矩形 20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矩形 21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3" name="组合 22"/>
          <p:cNvGrpSpPr/>
          <p:nvPr/>
        </p:nvGrpSpPr>
        <p:grpSpPr>
          <a:xfrm>
            <a:off x="2811222" y="718114"/>
            <a:ext cx="62650" cy="5222224"/>
            <a:chOff x="253672" y="443646"/>
            <a:chExt cx="47195" cy="3916872"/>
          </a:xfrm>
        </p:grpSpPr>
        <p:sp>
          <p:nvSpPr>
            <p:cNvPr id="204" name="矩形 23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5" name="矩形 24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" name="矩形 25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" name="矩形 26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8" name="矩形 27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9" name="组合 28"/>
          <p:cNvGrpSpPr/>
          <p:nvPr/>
        </p:nvGrpSpPr>
        <p:grpSpPr>
          <a:xfrm>
            <a:off x="4047292" y="718114"/>
            <a:ext cx="62650" cy="5222224"/>
            <a:chOff x="253672" y="443646"/>
            <a:chExt cx="47195" cy="3916872"/>
          </a:xfrm>
        </p:grpSpPr>
        <p:sp>
          <p:nvSpPr>
            <p:cNvPr id="210" name="矩形 29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1" name="矩形 30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2" name="矩形 31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3" name="矩形 32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矩形 33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5" name="组合 1"/>
          <p:cNvGrpSpPr/>
          <p:nvPr/>
        </p:nvGrpSpPr>
        <p:grpSpPr>
          <a:xfrm>
            <a:off x="5283361" y="718114"/>
            <a:ext cx="62650" cy="5222224"/>
            <a:chOff x="253672" y="443646"/>
            <a:chExt cx="47195" cy="3916872"/>
          </a:xfrm>
        </p:grpSpPr>
        <p:sp>
          <p:nvSpPr>
            <p:cNvPr id="216" name="矩形 2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矩形 3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" name="矩形 8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" name="矩形 9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0" name="组合 14"/>
          <p:cNvGrpSpPr/>
          <p:nvPr/>
        </p:nvGrpSpPr>
        <p:grpSpPr>
          <a:xfrm>
            <a:off x="6519430" y="718114"/>
            <a:ext cx="62650" cy="5222224"/>
            <a:chOff x="253672" y="443646"/>
            <a:chExt cx="47195" cy="3916872"/>
          </a:xfrm>
        </p:grpSpPr>
        <p:sp>
          <p:nvSpPr>
            <p:cNvPr id="221" name="矩形 34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" name="矩形 35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3" name="矩形 126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4" name="矩形 140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5" name="组合 141"/>
          <p:cNvGrpSpPr/>
          <p:nvPr/>
        </p:nvGrpSpPr>
        <p:grpSpPr>
          <a:xfrm>
            <a:off x="11463705" y="718114"/>
            <a:ext cx="62650" cy="5222224"/>
            <a:chOff x="253672" y="443646"/>
            <a:chExt cx="47195" cy="3916872"/>
          </a:xfrm>
        </p:grpSpPr>
        <p:sp>
          <p:nvSpPr>
            <p:cNvPr id="226" name="矩形 142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7" name="矩形 143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" name="矩形 144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9" name="矩形 145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0" name="矩形 146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1" name="组合 180"/>
          <p:cNvGrpSpPr/>
          <p:nvPr/>
        </p:nvGrpSpPr>
        <p:grpSpPr>
          <a:xfrm>
            <a:off x="7755498" y="718961"/>
            <a:ext cx="62650" cy="5222224"/>
            <a:chOff x="253672" y="443646"/>
            <a:chExt cx="47195" cy="3916872"/>
          </a:xfrm>
        </p:grpSpPr>
        <p:sp>
          <p:nvSpPr>
            <p:cNvPr id="232" name="矩形 181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3" name="矩形 182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4" name="矩形 183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5" name="矩形 184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6" name="矩形 185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7" name="组合 186"/>
          <p:cNvGrpSpPr/>
          <p:nvPr/>
        </p:nvGrpSpPr>
        <p:grpSpPr>
          <a:xfrm>
            <a:off x="8991568" y="718961"/>
            <a:ext cx="62650" cy="5222224"/>
            <a:chOff x="253672" y="443646"/>
            <a:chExt cx="47195" cy="3916872"/>
          </a:xfrm>
        </p:grpSpPr>
        <p:sp>
          <p:nvSpPr>
            <p:cNvPr id="238" name="矩形 187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9" name="矩形 188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" name="矩形 189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1" name="矩形 190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2" name="矩形 191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3" name="组合 192"/>
          <p:cNvGrpSpPr/>
          <p:nvPr/>
        </p:nvGrpSpPr>
        <p:grpSpPr>
          <a:xfrm>
            <a:off x="10227637" y="719808"/>
            <a:ext cx="62650" cy="5222224"/>
            <a:chOff x="253672" y="443646"/>
            <a:chExt cx="47195" cy="3916872"/>
          </a:xfrm>
        </p:grpSpPr>
        <p:sp>
          <p:nvSpPr>
            <p:cNvPr id="244" name="矩形 193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5" name="矩形 194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6" name="矩形 195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矩形 196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8" name="矩形 197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9" name="TextBox 115"/>
          <p:cNvSpPr txBox="1"/>
          <p:nvPr/>
        </p:nvSpPr>
        <p:spPr>
          <a:xfrm>
            <a:off x="4956048" y="38404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 &amp; A</a:t>
            </a:r>
            <a:endParaRPr/>
          </a:p>
        </p:txBody>
      </p:sp>
      <p:sp>
        <p:nvSpPr>
          <p:cNvPr id="250" name="TextBox 116"/>
          <p:cNvSpPr txBox="1"/>
          <p:nvPr/>
        </p:nvSpPr>
        <p:spPr>
          <a:xfrm>
            <a:off x="3355848" y="4572000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恳请各位评委老师批评指正</a:t>
            </a:r>
            <a:endParaRPr/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彭硕 ｜ 华中科技大学 · 网络空间安全 ｜ 腾讯 · 风控算法实习生</a:t>
            </a:r>
            <a:endParaRPr/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Office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4834</Words>
  <Application>Microsoft Macintosh PowerPoint</Application>
  <PresentationFormat>宽屏</PresentationFormat>
  <Paragraphs>379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-apple-system</vt:lpstr>
      <vt:lpstr>SimHei</vt:lpstr>
      <vt:lpstr>腾讯体 W7</vt:lpstr>
      <vt:lpstr>Microsoft YaHei</vt:lpstr>
      <vt:lpstr>Arial</vt:lpstr>
      <vt:lpstr>Calibri</vt:lpstr>
      <vt:lpstr>Calibri Light</vt:lpstr>
      <vt:lpstr>Office 默认主题​</vt:lpstr>
      <vt:lpstr>Custom Design</vt:lpstr>
      <vt:lpstr>PowerPoint 演示文稿</vt:lpstr>
      <vt:lpstr>答辩内容目录</vt:lpstr>
      <vt:lpstr>自我介绍：一条“训练 → 数据 → 业务”的能力演进路径</vt:lpstr>
      <vt:lpstr>主要工作总结：AI审单能力建设</vt:lpstr>
      <vt:lpstr>四项子任务：最新数万条数据集上精准率均接近 100%</vt:lpstr>
      <vt:lpstr>PowerPoint 演示文稿</vt:lpstr>
      <vt:lpstr>PowerPoint 演示文稿</vt:lpstr>
      <vt:lpstr>PowerPoint 演示文稿</vt:lpstr>
      <vt:lpstr>四、清晰度检测：漏斗占比最高、ROI 最高的核心任务</vt:lpstr>
      <vt:lpstr>探索过程：五类替代方案验证，瓶颈在监督信号而非模型容量</vt:lpstr>
      <vt:lpstr>标准重定义：可辨识度 = 不可辨比例 + 可辨文字清晰程度</vt:lpstr>
      <vt:lpstr>PowerPoint 演示文稿</vt:lpstr>
      <vt:lpstr>数据构建：规则预标注 + 平台化人工复核闭环</vt:lpstr>
      <vt:lpstr>模型训练：Qwen3.5-9B + LoRA 微调，学习五级质量标尺</vt:lpstr>
      <vt:lpstr>训练结果：1.4 个 epoch 收敛早停，组内准确率 99.82%</vt:lpstr>
      <vt:lpstr>消融实验：软标签 + LLM 语义理解综合最优</vt:lpstr>
      <vt:lpstr>AI 实践与思考：效率放大器，而非能力替代品</vt:lpstr>
      <vt:lpstr>总结与展望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T210709</cp:lastModifiedBy>
  <cp:revision>3</cp:revision>
  <dcterms:created xsi:type="dcterms:W3CDTF">2026-08-21T11:18:08Z</dcterms:created>
  <dcterms:modified xsi:type="dcterms:W3CDTF">2026-08-24T16:04:03Z</dcterms:modified>
</cp:coreProperties>
</file>