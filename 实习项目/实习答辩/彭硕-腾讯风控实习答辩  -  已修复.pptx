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Eval Loss</c:v>
                </c:pt>
              </c:strCache>
            </c:strRef>
          </c:tx>
          <c:spPr>
            <a:ln w="38100" cap="flat">
              <a:solidFill>
                <a:srgbClr val="0E8F8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8F83"/>
              </a:solidFill>
              <a:ln w="9525" cap="flat">
                <a:solidFill>
                  <a:srgbClr val="0E8F83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300</c:v>
                </c:pt>
                <c:pt idx="1">
                  <c:v>600</c:v>
                </c:pt>
                <c:pt idx="2">
                  <c:v>900</c:v>
                </c:pt>
                <c:pt idx="3">
                  <c:v>1200</c:v>
                </c:pt>
                <c:pt idx="4">
                  <c:v>1500</c:v>
                </c:pt>
                <c:pt idx="5">
                  <c:v>1800</c:v>
                </c:pt>
                <c:pt idx="6">
                  <c:v>2100</c:v>
                </c:pt>
                <c:pt idx="7">
                  <c:v>2400</c:v>
                </c:pt>
                <c:pt idx="8">
                  <c:v>2538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0.1046</c:v>
                </c:pt>
                <c:pt idx="1">
                  <c:v>8.8200000000000001E-2</c:v>
                </c:pt>
                <c:pt idx="2">
                  <c:v>7.7200000000000005E-2</c:v>
                </c:pt>
                <c:pt idx="3">
                  <c:v>7.5700000000000003E-2</c:v>
                </c:pt>
                <c:pt idx="4">
                  <c:v>8.2799999999999999E-2</c:v>
                </c:pt>
                <c:pt idx="5">
                  <c:v>9.35E-2</c:v>
                </c:pt>
                <c:pt idx="6">
                  <c:v>9.7900000000000001E-2</c:v>
                </c:pt>
                <c:pt idx="7">
                  <c:v>0.1172</c:v>
                </c:pt>
                <c:pt idx="8">
                  <c:v>0.11849999999999999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6E8-5D4F-9774-85098CFC55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FFFFFF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7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13"/>
          <c:min val="0.06"/>
        </c:scaling>
        <c:delete val="0"/>
        <c:axPos val="l"/>
        <c:majorGridlines>
          <c:spPr>
            <a:ln w="12700" cap="flat">
              <a:solidFill>
                <a:srgbClr val="E4EA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7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3021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彭硕｜腾讯风控实习答辩介绍稿</a:t>
            </a:r>
            <a:endParaRPr lang="en-US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各位评委老师好，我是彭硕，来自华中科技大学网络空间安全专业，目前在团队担任风控算法实习生。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今天汇报的主题是“从模型可用到业务可信”。实习期间，我主要面向法院、公安传入的司法单据，完成文书清晰度、印章、文书类型和联系电话等有效性校验。相比单纯提升离线准确率，我更关注如何让算法在真实业务中做到低误拦、可解释和可持续迭代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第 2 页｜连续实习经历（约 45 秒）</a:t>
            </a: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从去年 10 月到现在，我进行了近 11 个月连续的多模态算法实践，这三段经历形成了一条比较清晰的能力演进路径。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第一阶段是在京东 AI 安全部，重点是多模态大模型后训练。我参与了 89 万条 SFT 数据构建、Qwen3-VL 全参数训练以及 GDPO 强化学习，主要解决“如何把模型训练出来”的问题。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第二阶段是在京东零售，工作重心转向训练数据清洗、OCR 部署和生成模型评测，开始关注“如何构造可靠数据、如何评价模型”。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第三阶段来到腾讯风控，进一步面对真实业务约束，工作从模型训练延伸到任务定义、决策路由和人审闭环，也就是“如何让模型真正成为稳定的业务能力”。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第 3 页｜实习工作全景（约 35 秒）</a:t>
            </a: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在本次实习中，我主要完成了四类校验能力。</a:t>
            </a:r>
          </a:p>
          <a:p>
            <a:endParaRPr lang="en-US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给一些文书样本。</a:t>
            </a:r>
            <a:endParaRPr lang="en-US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筛选出来不合规的文本</a:t>
            </a:r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第一是文书清晰度五级评估，解决二分类模型无法表达模糊严重程度的问题；第二是文书类型识别，解决 OCR 错字、页面旋转和标题错序；第三是无印章识别，重点处理浅色章、小印章和负样本稀少；第四是电话号码校验，处理缺区号、多号码粘连及非电话内容混入等长尾情况。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这四项工作表面不同，但核心问题一致：在错误成本不对称的情况下，怎样把不确定信号转化为可信决策。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第 4 页｜统一业务框架（约 45 秒）</a:t>
            </a: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业务日均需要处理约 44 万条数据，既要求吞吐，也要求低误拦。特别是在司法场景中，误拦真实请求的风险通常高于放过一条存疑数据，因此模型概率不能直接等同于最终业务结论。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我把四项工作归纳成一套统一框架：首先做输入标准化，例如旋转、切块、OCR 和号码归一化；然后提取视觉、OCR、VLM、地理库等多源信号；第三步只自动处理高置信样本，将不确定样本升级给更强模型或人工；最后将人工结果回流为标签、规则和评测集。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后面的三个项目，实际都是这套框架在不同任务上的具体实现。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第 5 页｜项目目录（约 25 秒）</a:t>
            </a: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接下来重点介绍三个项目，篇幅按照技术难度分配。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清晰度五级评估是技术难度最高的项目，重点介绍任务重定义、数据构造和 VLM 微调；印章识别难度第二，重点介绍多模型融合和选择性分类；文书类型识别相对确定，主要介绍 OCR 鲁棒匹配和快慢路径级联。电话号码校验会在后面作为其他产出简要说明。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第一部分：文书清晰度五级评估</a:t>
            </a: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第 6 页｜清晰度章节目录（约 15 秒）</a:t>
            </a: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清晰度部分主要讲四点：原模型为什么无法直接切五档；如何重新定义任务并构造数据；Qwen3.5-VL 的微调架构；以及当前训练结果和下一步方向。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第 7 页｜问题与关键判断（约 60 秒）</a:t>
            </a: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原方案是一个 569 维特征的 XGBoost 二分类模型，其中包括 57 维图像和 OCR 特征，以及 512 维 CLIP 特征。它能够判断清晰或模糊，但业务需要的是五个有序等级。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最初看起来可以在 blur score 上设置四个阈值，但分析数据后发现，分数呈现非常明显的双峰：清晰样本集中在 0.05 到 1，模糊样本集中在 90 到 99，中间区间几乎没有数据，而且分数和视觉模糊程度并不单调。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我的关键判断是，这不是一个简单的阈值或概率校准问题。二分类损失只要求模型学习“清晰和模糊的边界”，并没有要求它学习同一类别内部谁更严重。Platt Scaling 或 Isotonic Regression 只能重新映射已有信息，不能凭空创造等级 2 到 4 的序数结构。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因此我没有继续调阈值，而是回到任务和标签定义本身。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第 8 页｜任务重定义与数据闭环（约 55 秒）</a:t>
            </a: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我将清晰度重新定义为两个维度。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第一个维度是 `unreadable_ratio`，也就是正文中有多少文字已经无法辨认，主要决定 Level 3 到 Level 5；第二个维度是 `readable_sharpness`，也就是仍然可读的文字是否存在笔画发虚或粘连，用来区分 Level 1 和 Level 2。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这样可以区分两种本质不同的情况：一种是全文轻微发虚，但内容都能读；另一种是整体看起来较清楚，但局部关键信息已经完全不可辨。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数据方面，我先根据 OCR 行置信度、字数和文本框面积进行规则预标注；针对文字太模糊、OCR 完全检测不到的问题，再通过二值化、去除表格线和连通域分析估计漏检文字区域；最后由人工在平台中校正。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最终获得 13,133 张人工确认图片，并按 AppID 隔离训练集和测试集，避免同源文书模板泄漏。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第 9 页｜标注平台展示（约 45 秒）</a:t>
            </a: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为了让单人标注也能形成有效的数据闭环，我开发了统一的审核与标注平台。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左侧是清晰度五级标注主界面。平台会展示 OCR 文本框、行置信度、规则预测等级和相关中间特征，标注人员可以直接缩放文书，并通过快捷键完成五级标签确认。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右上是文书类型复核界面，可以同时查看 OCR 原文、模型预测、人工标签和备注；右下是印章审核界面，可以横向比较 Stage 1、Stage 2、VLM 及最终结果。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平台的价值不只是提高点击效率，更重要的是统一暴露模型中间结果，让每次人工修正都能够归因并回流为标签、规则或新的评测 Case，而不是只修正一条数据。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第 10 页｜清晰度模型架构（约 70 秒）</a:t>
            </a: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模型基于 Qwen3.5-9B-VL，使用 LoRA 进行微调。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输入文书首先经过视觉编码器生成图像 Token，再通过 Aligner 对齐到语言空间。这两个模块在当前实验中冻结，主要在语言模型部分注入 LoRA，使模型学习我们定义的文书质量语义。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和让 VLM 自由生成一个分数不同，我将输出限制在五个等级 Token 上，通过 Closed-set Softmax 恢复 Level 1 到 Level 5 的概率分布。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训练标签不是单一硬类别，而是具有序关系的软标签。原因是 Level 2 和 Level 3 的边界本身存在不确定性，如果使用 One-hot，会把相邻等级的轻微分歧当成完全错误。软标签能够保留这种邻近关系。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训练时，对正常响应文本使用 Next-Token CE，对等级概率进行分布对齐；推理时既可以取最大概率等级，也可以计算概率加权期望，恢复一个连续质量分数。这样输出可以进一步用于阈值、校准和不确定样本路由。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第 11 页｜训练结果与诊断（约 45 秒）</a:t>
            </a: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从训练曲线看，Eval Loss 在 step 1200 达到最低点 0.0757，之后持续上升，到训练结束涨幅超过 56%。同时 Train Loss 已接近 0.01，Token Accuracy 达到 0.996，这是比较典型的过拟合现象。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这个结果说明，当前主要矛盾已经不是模型拟合能力不足，而是数据长尾、标签边界和跨来源泛化。因此下一步不会继续盲目增加 Epoch，而会使用最佳 checkpoint，并补充 QWK、MAE、Macro-F1、Level 4/5 Recall 和概率校准等指标。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目前这个项目已经完成了任务重定义、数据闭环和可训练模型架构，并定位了下一阶段的主要优化方向。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第二部分：无印章识别</a:t>
            </a: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第 12 页｜印章章节目录（约 15 秒）</a:t>
            </a: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印章项目主要讲两个部分：第一是三类模型与颜色先验的融合架构；第二是如何通过选择性分类、切块和 VLM 复核管理不确定性。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第 13 页｜印章模型架构（约 60 秒）</a:t>
            </a: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印章任务的困难主要来自三个方面：无印章样本占比低、小印章在整页缩放后容易丢失，以及浅色章和非标准章难以稳定识别。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为此，我融合了三类模型。PP-DocLayoutV2 使用 RT-DETR 加 Pointer Network，提供通用版面中的印章框；PP-DocLayout-L 同样是版面模型，但在实际数据上承担主要检测信号；Seal Detector 使用 ResNet、FPN 和 PSE，关注圆形印章中的弯曲文字碎片。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三者关注的视觉证据并不完全相同。除此之外，我增加了 HSV 双红色区间分割、形态学去噪和连通域面积过滤，用来补充浅色彩色章。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融合逻辑也不是简单投票：版面模型高分时直接判断有章；中等分数需要 Seal Detector 或颜色特征确认；低分且没有任何辅助信号时判断无章；其余样本进入 `UNSURE`。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第 14 页｜选择性分类与结果（约 55 秒）</a:t>
            </a: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整个链路分为三级。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 1 对整页执行三模型融合，输出有章、无章或不确定；Stage 2 将低置信页面切成 8 块，并设置 15% 重叠，核心目的是放大小印章在模型输入中的占比；Stage 3 只将剩余 `UNSURE` 文书按每批 5 页交给 VLM 复核。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这种设计没有强迫基础模型覆盖所有长尾，而是把昂贵能力集中用于最困难的少量样本。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在高置信自动处理子集上，印章判断 Precision 达到 100%，Recall 为 98.94%。模型贡献分析还发现，Layout-L 覆盖约 98.5% 的有章检出，而 V2 独立贡献只有约 0.2%。这个结果也为后续轻量化提供了依据：可以尝试用数据驱动的融合器替换手工阈值，并评估单独微调 Layout-L。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第三部分：文书类型识别</a:t>
            </a: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第 15 页｜文书类型章节目录（约 15 秒）</a:t>
            </a: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文书类型识别的技术路线相对明确：高频白名单类型走 OCR 快路径，只有未命中和异常样本才进入 VL 慢路径。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第 16 页｜文书类型技术与结果（约 55 秒）</a:t>
            </a: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文书标题中常见 OCR 错字、繁简体差异、水印插字以及多图横排造成的错序。全量使用 VL 单条约 12.6 秒，成本和稳定性都不适合作为主路径。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因此，主链路首先使用 PP-OCRv6 完成全文识别，再进行三层鲁棒匹配。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第一层是业务归一化，统一繁简体和同义词；第二层是随标题长度变化的编辑距离，短标题保持精确，长标题允许少量 OCR 错字；第三层是锚点顺序匹配，将长标题拆成多个锚点，保持顺序但允许水印文字插入。多个标题同时命中时，使用最长匹配避免短标题抢占。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五批数万条人工标注评测中，Accuracy 从 94.59% 提升到 99.99%，主链路耗时约 0.28 秒。这个项目的核心不是规则数量，而是将稳定模式交给确定性算法，把长尾异常留给 VL 和人工审核。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第 17 页｜AI 实践与其他产出（约 50 秒）</a:t>
            </a: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这四个任务让我形成了一个比较明确的 AI 落地判断框架：技术路线应由错误风险、数据吞吐、输出确定性和长尾复杂度共同决定。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清晰度是主观序数任务，因此使用规则预标注、人工确认和 VLM 微调；印章依赖多种视觉证据，因此使用多模型融合与 VLM 复核；文书类型高频模式稳定，因此使用 OCR 规则快路径；电话号码任务规则可枚举、吞吐高且误拦成本高，因此没有强行使用大模型，而是采用正则、地理库和硬约束。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在电话号码校验中，我在 278,407 条数据上完成号码提取、归一化、区号补全和一致性判断，并坚持“只有候选唯一时才修复”。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我的总结是，AI 最有价值的三个位置是快速验证候选、处理高信息增益难例，以及把人工反馈沉淀为长期系统能力。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第 18 页｜当前整体效果（约 60 秒）</a:t>
            </a: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最后集中汇报目前的整体效果。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在最新一次万条数据抽检中，文书类型识别和印章识别的精准率都达到 100%，说明高置信自动处理结果能够满足当前低误拦要求。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按照日均 44 万条业务数据进行线性估算：无印章文书在样本中有 765 条，占 24,831 条中的 3.08%，对应每天约识别 13,556 条；文书类型未命中为万分之 70，也就是 0.7%，对应每天约 3,080 条需要过滤或升级复核；严重模糊的 Level 4 和 Level 5 合计 421 条，占 9,850 条训练样本的 4.27%，对应每天约 18,806 条。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三个分项的理论量合计约 3.54 万条每天。但这里需要强调，三类问题可能发生重叠，而且统计样本来自不同数据集，所以不能将这个数字直接当作线上去重后的实际拦截量。最终业务价值仍应以上线后的统一口径统计为准。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b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384048"/>
            <a:ext cx="3749040" cy="5230368"/>
          </a:xfrm>
          <a:prstGeom prst="roundRect">
            <a:avLst>
              <a:gd name="adj" fmla="val 5854"/>
            </a:avLst>
          </a:prstGeom>
          <a:solidFill>
            <a:srgbClr val="102C32"/>
          </a:solidFill>
          <a:ln w="10160">
            <a:solidFill>
              <a:srgbClr val="1B41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8412480" y="731520"/>
            <a:ext cx="109728" cy="109728"/>
          </a:xfrm>
          <a:prstGeom prst="ellipse">
            <a:avLst/>
          </a:prstGeom>
          <a:solidFill>
            <a:srgbClr val="19B8A3"/>
          </a:solidFill>
          <a:ln w="7620">
            <a:solidFill>
              <a:srgbClr val="19B8A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9281160" y="1389888"/>
            <a:ext cx="126187" cy="126187"/>
          </a:xfrm>
          <a:prstGeom prst="ellipse">
            <a:avLst/>
          </a:prstGeom>
          <a:solidFill>
            <a:srgbClr val="F2B84B"/>
          </a:solidFill>
          <a:ln w="762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0149840" y="2048256"/>
            <a:ext cx="142646" cy="142646"/>
          </a:xfrm>
          <a:prstGeom prst="ellipse">
            <a:avLst/>
          </a:prstGeom>
          <a:solidFill>
            <a:srgbClr val="19B8A3"/>
          </a:solidFill>
          <a:ln w="7620">
            <a:solidFill>
              <a:srgbClr val="19B8A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412480" y="2706624"/>
            <a:ext cx="159106" cy="159106"/>
          </a:xfrm>
          <a:prstGeom prst="ellipse">
            <a:avLst/>
          </a:prstGeom>
          <a:solidFill>
            <a:srgbClr val="F2B84B"/>
          </a:solidFill>
          <a:ln w="762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9281160" y="3364992"/>
            <a:ext cx="175565" cy="175565"/>
          </a:xfrm>
          <a:prstGeom prst="ellipse">
            <a:avLst/>
          </a:prstGeom>
          <a:solidFill>
            <a:srgbClr val="19B8A3"/>
          </a:solidFill>
          <a:ln w="7620">
            <a:solidFill>
              <a:srgbClr val="19B8A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0149840" y="4023360"/>
            <a:ext cx="192024" cy="192024"/>
          </a:xfrm>
          <a:prstGeom prst="ellipse">
            <a:avLst/>
          </a:prstGeom>
          <a:solidFill>
            <a:srgbClr val="F2B84B"/>
          </a:solidFill>
          <a:ln w="762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412480" y="4681728"/>
            <a:ext cx="208483" cy="208483"/>
          </a:xfrm>
          <a:prstGeom prst="ellipse">
            <a:avLst/>
          </a:prstGeom>
          <a:solidFill>
            <a:srgbClr val="19B8A3"/>
          </a:solidFill>
          <a:ln w="7620">
            <a:solidFill>
              <a:srgbClr val="19B8A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485632" y="832104"/>
            <a:ext cx="960120" cy="676656"/>
          </a:xfrm>
          <a:prstGeom prst="line">
            <a:avLst/>
          </a:prstGeom>
          <a:noFill/>
          <a:ln w="15240">
            <a:solidFill>
              <a:srgbClr val="2F615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9372600" y="1527048"/>
            <a:ext cx="1005840" cy="658368"/>
          </a:xfrm>
          <a:prstGeom prst="line">
            <a:avLst/>
          </a:prstGeom>
          <a:noFill/>
          <a:ln w="15240">
            <a:solidFill>
              <a:srgbClr val="2F615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10287000" y="2194560"/>
            <a:ext cx="0" cy="658368"/>
          </a:xfrm>
          <a:prstGeom prst="line">
            <a:avLst/>
          </a:prstGeom>
          <a:noFill/>
          <a:ln w="15240">
            <a:solidFill>
              <a:srgbClr val="2F615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9354312" y="2852928"/>
            <a:ext cx="1005840" cy="658368"/>
          </a:xfrm>
          <a:prstGeom prst="line">
            <a:avLst/>
          </a:prstGeom>
          <a:noFill/>
          <a:ln w="15240">
            <a:solidFill>
              <a:srgbClr val="2F615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10296144" y="3520440"/>
            <a:ext cx="0" cy="658368"/>
          </a:xfrm>
          <a:prstGeom prst="line">
            <a:avLst/>
          </a:prstGeom>
          <a:noFill/>
          <a:ln w="15240">
            <a:solidFill>
              <a:srgbClr val="2F615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58368" y="640080"/>
            <a:ext cx="2057400" cy="310896"/>
          </a:xfrm>
          <a:prstGeom prst="roundRect">
            <a:avLst>
              <a:gd name="adj" fmla="val 50000"/>
            </a:avLst>
          </a:prstGeom>
          <a:solidFill>
            <a:srgbClr val="143B3B"/>
          </a:solidFill>
          <a:ln w="10160">
            <a:solidFill>
              <a:srgbClr val="143B3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 txBox="1"/>
          <p:nvPr/>
        </p:nvSpPr>
        <p:spPr>
          <a:xfrm>
            <a:off x="658368" y="64465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5FD2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2027 届 FiT 实习生答辩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1353312"/>
            <a:ext cx="6812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从“模型可用”</a:t>
            </a:r>
            <a:endParaRPr lang="en-US" sz="34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到“业务可信”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2990088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5FD2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司法风控单据智能校验实践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68503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B8C8C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将不确定的模型输出，转化为可解释、可复核、可持续迭代的业务决策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50749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彭硕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664208" y="5074920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B8C8C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腾讯 · 风控算法实习生    华中科技大学 · 网络空间安全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1539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0" spc="140" dirty="0">
                <a:solidFill>
                  <a:srgbClr val="5FD2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2026.08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58704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kern="0" spc="120" dirty="0">
                <a:solidFill>
                  <a:srgbClr val="B8C8C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INPUT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961120" y="5879592"/>
            <a:ext cx="594360" cy="146304"/>
          </a:xfrm>
          <a:prstGeom prst="rightArrow">
            <a:avLst/>
          </a:prstGeom>
          <a:solidFill>
            <a:srgbClr val="0E8F83"/>
          </a:solidFill>
          <a:ln w="12700">
            <a:solidFill>
              <a:srgbClr val="0E8F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9692640" y="58704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kern="0" spc="120" dirty="0">
                <a:solidFill>
                  <a:srgbClr val="F2B84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DECISION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0716768" y="5879592"/>
            <a:ext cx="594360" cy="146304"/>
          </a:xfrm>
          <a:prstGeom prst="rightArrow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60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ABOUT ME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从去年 10 月至今：连续近 11 个月的多模态算法实践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kern="0" spc="11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PENG SHUO · RISK ALGORITHM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749040" y="6455664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89999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来源：个人简历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201400" y="642823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261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三段经历不是岗位切换，而是一条逐步闭环的成长路径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43000" y="1993392"/>
            <a:ext cx="9921240" cy="0"/>
          </a:xfrm>
          <a:prstGeom prst="line">
            <a:avLst/>
          </a:prstGeom>
          <a:noFill/>
          <a:ln w="25400">
            <a:solidFill>
              <a:srgbClr val="B9C9C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2075688" y="1865376"/>
            <a:ext cx="256032" cy="256032"/>
          </a:xfrm>
          <a:prstGeom prst="ellipse">
            <a:avLst/>
          </a:prstGeom>
          <a:solidFill>
            <a:srgbClr val="FFFFFF"/>
          </a:solidFill>
          <a:ln w="7620">
            <a:solidFill>
              <a:srgbClr val="775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2157984" y="1947672"/>
            <a:ext cx="91440" cy="91440"/>
          </a:xfrm>
          <a:prstGeom prst="ellipse">
            <a:avLst/>
          </a:prstGeom>
          <a:solidFill>
            <a:srgbClr val="7758C8"/>
          </a:solidFill>
          <a:ln w="7620">
            <a:solidFill>
              <a:srgbClr val="775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685800" y="1572768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758C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2025.10 — 2026.03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2286000"/>
            <a:ext cx="2971800" cy="3246120"/>
          </a:xfrm>
          <a:prstGeom prst="roundRect">
            <a:avLst>
              <a:gd name="adj" fmla="val 4308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85800" y="2286000"/>
            <a:ext cx="2971800" cy="109728"/>
          </a:xfrm>
          <a:prstGeom prst="rect">
            <a:avLst/>
          </a:prstGeom>
          <a:solidFill>
            <a:srgbClr val="7758C8"/>
          </a:solidFill>
          <a:ln w="10160">
            <a:solidFill>
              <a:srgbClr val="775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 txBox="1"/>
          <p:nvPr/>
        </p:nvSpPr>
        <p:spPr>
          <a:xfrm>
            <a:off x="905256" y="2578608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京东 AI 安全部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" y="2926080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大模型后训练实习生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905256" y="3447288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7758C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89 万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905256" y="3858768"/>
            <a:ext cx="2532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多模态 SFT 数据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905256" y="4325112"/>
            <a:ext cx="253288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风险数据构建、多模型投票、Qwen3-VL 全参 SFT 与 GDPO，多目标奖励抑制过度拒答。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5256" y="5202936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EE9FA"/>
          </a:solidFill>
          <a:ln w="10160">
            <a:solidFill>
              <a:srgbClr val="EEE9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 txBox="1"/>
          <p:nvPr/>
        </p:nvSpPr>
        <p:spPr>
          <a:xfrm>
            <a:off x="905256" y="520750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758C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522976" y="1865376"/>
            <a:ext cx="256032" cy="256032"/>
          </a:xfrm>
          <a:prstGeom prst="ellipse">
            <a:avLst/>
          </a:prstGeom>
          <a:solidFill>
            <a:srgbClr val="FFFFFF"/>
          </a:solidFill>
          <a:ln w="7620">
            <a:solidFill>
              <a:srgbClr val="4C7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5605272" y="1947672"/>
            <a:ext cx="91440" cy="91440"/>
          </a:xfrm>
          <a:prstGeom prst="ellipse">
            <a:avLst/>
          </a:prstGeom>
          <a:solidFill>
            <a:srgbClr val="4C7DE8"/>
          </a:solidFill>
          <a:ln w="7620">
            <a:solidFill>
              <a:srgbClr val="4C7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 txBox="1"/>
          <p:nvPr/>
        </p:nvSpPr>
        <p:spPr>
          <a:xfrm>
            <a:off x="4133088" y="1572768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C7D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2026.04 — 2026.05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33088" y="2286000"/>
            <a:ext cx="2971800" cy="3246120"/>
          </a:xfrm>
          <a:prstGeom prst="roundRect">
            <a:avLst>
              <a:gd name="adj" fmla="val 4308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4133088" y="2286000"/>
            <a:ext cx="2971800" cy="109728"/>
          </a:xfrm>
          <a:prstGeom prst="rect">
            <a:avLst/>
          </a:prstGeom>
          <a:solidFill>
            <a:srgbClr val="4C7DE8"/>
          </a:solidFill>
          <a:ln w="10160">
            <a:solidFill>
              <a:srgbClr val="4C7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 txBox="1"/>
          <p:nvPr/>
        </p:nvSpPr>
        <p:spPr>
          <a:xfrm>
            <a:off x="4352544" y="2578608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京东零售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4352544" y="2926080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多模态图像生成算法实习生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352544" y="3447288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4C7D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F1 95.21%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4352544" y="3858768"/>
            <a:ext cx="2532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OCR 选型与部署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352544" y="4325112"/>
            <a:ext cx="253288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商品主图清洗、OCR/VLM 横评、生成效果 Benchmark；从训练转向数据与评测体系。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52544" y="5202936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8EEFC"/>
          </a:solidFill>
          <a:ln w="10160">
            <a:solidFill>
              <a:srgbClr val="E8EEF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 txBox="1"/>
          <p:nvPr/>
        </p:nvSpPr>
        <p:spPr>
          <a:xfrm>
            <a:off x="4352544" y="520750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C7D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 · 评测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970264" y="1865376"/>
            <a:ext cx="256032" cy="256032"/>
          </a:xfrm>
          <a:prstGeom prst="ellipse">
            <a:avLst/>
          </a:prstGeom>
          <a:solidFill>
            <a:srgbClr val="FFFFFF"/>
          </a:solidFill>
          <a:ln w="7620">
            <a:solidFill>
              <a:srgbClr val="0E8F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9052560" y="1947672"/>
            <a:ext cx="91440" cy="91440"/>
          </a:xfrm>
          <a:prstGeom prst="ellipse">
            <a:avLst/>
          </a:prstGeom>
          <a:solidFill>
            <a:srgbClr val="0E8F83"/>
          </a:solidFill>
          <a:ln w="7620">
            <a:solidFill>
              <a:srgbClr val="0E8F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 txBox="1"/>
          <p:nvPr/>
        </p:nvSpPr>
        <p:spPr>
          <a:xfrm>
            <a:off x="7580376" y="1572768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2026.06 — 至今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580376" y="2286000"/>
            <a:ext cx="2971800" cy="3246120"/>
          </a:xfrm>
          <a:prstGeom prst="roundRect">
            <a:avLst>
              <a:gd name="adj" fmla="val 4308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7580376" y="2286000"/>
            <a:ext cx="2971800" cy="109728"/>
          </a:xfrm>
          <a:prstGeom prst="rect">
            <a:avLst/>
          </a:prstGeom>
          <a:solidFill>
            <a:srgbClr val="0E8F83"/>
          </a:solidFill>
          <a:ln w="10160">
            <a:solidFill>
              <a:srgbClr val="0E8F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 txBox="1"/>
          <p:nvPr/>
        </p:nvSpPr>
        <p:spPr>
          <a:xfrm>
            <a:off x="7799832" y="2578608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腾讯</a:t>
            </a:r>
            <a:endParaRPr lang="en-US" sz="1700" dirty="0"/>
          </a:p>
        </p:txBody>
      </p:sp>
      <p:sp>
        <p:nvSpPr>
          <p:cNvPr id="39" name="Text 37"/>
          <p:cNvSpPr txBox="1"/>
          <p:nvPr/>
        </p:nvSpPr>
        <p:spPr>
          <a:xfrm>
            <a:off x="7799832" y="2926080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风控算法实习生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7799832" y="3447288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类</a:t>
            </a:r>
            <a:endParaRPr lang="en-US" sz="2400" dirty="0"/>
          </a:p>
        </p:txBody>
      </p:sp>
      <p:sp>
        <p:nvSpPr>
          <p:cNvPr id="41" name="Text 39"/>
          <p:cNvSpPr txBox="1"/>
          <p:nvPr/>
        </p:nvSpPr>
        <p:spPr>
          <a:xfrm>
            <a:off x="7799832" y="3858768"/>
            <a:ext cx="2532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司法单据校验能力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7799832" y="4325112"/>
            <a:ext cx="253288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清晰度、文书类型、印章、电话号码；从模型指标进一步走向业务决策闭环。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799832" y="5202936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DDF5F1"/>
          </a:solidFill>
          <a:ln w="10160">
            <a:solidFill>
              <a:srgbClr val="DDF5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 txBox="1"/>
          <p:nvPr/>
        </p:nvSpPr>
        <p:spPr>
          <a:xfrm>
            <a:off x="7799832" y="520750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业务闭环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585216" y="587959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能力演进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1417320" y="58795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758C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模型训练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331720" y="5907024"/>
            <a:ext cx="694944" cy="128016"/>
          </a:xfrm>
          <a:prstGeom prst="rightArrow">
            <a:avLst/>
          </a:prstGeom>
          <a:solidFill>
            <a:srgbClr val="7758C8"/>
          </a:solidFill>
          <a:ln w="12700">
            <a:solidFill>
              <a:srgbClr val="775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 txBox="1"/>
          <p:nvPr/>
        </p:nvSpPr>
        <p:spPr>
          <a:xfrm>
            <a:off x="3136392" y="58795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C7D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数据与评测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233672" y="5907024"/>
            <a:ext cx="694944" cy="128016"/>
          </a:xfrm>
          <a:prstGeom prst="rightArrow">
            <a:avLst/>
          </a:prstGeom>
          <a:solidFill>
            <a:srgbClr val="4C7DE8"/>
          </a:solidFill>
          <a:ln w="12700">
            <a:solidFill>
              <a:srgbClr val="4C7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 txBox="1"/>
          <p:nvPr/>
        </p:nvSpPr>
        <p:spPr>
          <a:xfrm>
            <a:off x="5074920" y="58795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任务定义与业务决策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839712" y="5907024"/>
            <a:ext cx="694944" cy="128016"/>
          </a:xfrm>
          <a:prstGeom prst="rightArrow">
            <a:avLst/>
          </a:prstGeom>
          <a:solidFill>
            <a:srgbClr val="0E8F83"/>
          </a:solidFill>
          <a:ln w="12700">
            <a:solidFill>
              <a:srgbClr val="0E8F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 txBox="1"/>
          <p:nvPr/>
        </p:nvSpPr>
        <p:spPr>
          <a:xfrm>
            <a:off x="7662672" y="587959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目标：可复用的多模态算法闭环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60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INTERNSHIP SCOPE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四类校验能力，服务同一条司法单据有效性链路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kern="0" spc="11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PENG SHUO · RISK ALGORITHM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749040" y="6455664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89999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来源：项目文档与个人简历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201400" y="642823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417320"/>
            <a:ext cx="2596896" cy="4224528"/>
          </a:xfrm>
          <a:prstGeom prst="roundRect">
            <a:avLst>
              <a:gd name="adj" fmla="val 5282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 txBox="1"/>
          <p:nvPr/>
        </p:nvSpPr>
        <p:spPr>
          <a:xfrm>
            <a:off x="804672" y="167335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15768" y="1600200"/>
            <a:ext cx="256032" cy="256032"/>
          </a:xfrm>
          <a:prstGeom prst="ellipse">
            <a:avLst/>
          </a:prstGeom>
          <a:solidFill>
            <a:srgbClr val="0E8F83"/>
          </a:solidFill>
          <a:ln w="7620">
            <a:solidFill>
              <a:srgbClr val="0E8F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 txBox="1"/>
          <p:nvPr/>
        </p:nvSpPr>
        <p:spPr>
          <a:xfrm>
            <a:off x="804672" y="2157984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清晰度五级评估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283464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关键问题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3099816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二分类无法表达模糊程度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386791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我的工作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4133088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任务重定义 · 弱标注 · VLM 微调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" y="5001768"/>
            <a:ext cx="2176272" cy="402336"/>
          </a:xfrm>
          <a:prstGeom prst="roundRect">
            <a:avLst>
              <a:gd name="adj" fmla="val 18182"/>
            </a:avLst>
          </a:prstGeom>
          <a:solidFill>
            <a:srgbClr val="DDF5F1"/>
          </a:solidFill>
          <a:ln w="10160">
            <a:solidFill>
              <a:srgbClr val="DDF5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 txBox="1"/>
          <p:nvPr/>
        </p:nvSpPr>
        <p:spPr>
          <a:xfrm>
            <a:off x="804672" y="5020056"/>
            <a:ext cx="21762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重点项目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65576" y="1417320"/>
            <a:ext cx="2596896" cy="4224528"/>
          </a:xfrm>
          <a:prstGeom prst="roundRect">
            <a:avLst>
              <a:gd name="adj" fmla="val 5282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3675888" y="167335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4C7D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586984" y="1600200"/>
            <a:ext cx="256032" cy="256032"/>
          </a:xfrm>
          <a:prstGeom prst="ellipse">
            <a:avLst/>
          </a:prstGeom>
          <a:solidFill>
            <a:srgbClr val="4C7DE8"/>
          </a:solidFill>
          <a:ln w="7620">
            <a:solidFill>
              <a:srgbClr val="4C7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 txBox="1"/>
          <p:nvPr/>
        </p:nvSpPr>
        <p:spPr>
          <a:xfrm>
            <a:off x="3675888" y="2157984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文书类型识别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675888" y="283464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C7D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关键问题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3675888" y="3099816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OCR 错字、旋转与标题错序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675888" y="386791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C7D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我的工作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3675888" y="4133088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鲁棒匹配 · 级联路由 · 0.28s/条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75888" y="5001768"/>
            <a:ext cx="2176272" cy="402336"/>
          </a:xfrm>
          <a:prstGeom prst="roundRect">
            <a:avLst>
              <a:gd name="adj" fmla="val 18182"/>
            </a:avLst>
          </a:prstGeom>
          <a:solidFill>
            <a:srgbClr val="E8EEFC"/>
          </a:solidFill>
          <a:ln w="10160">
            <a:solidFill>
              <a:srgbClr val="E8EEF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 txBox="1"/>
          <p:nvPr/>
        </p:nvSpPr>
        <p:spPr>
          <a:xfrm>
            <a:off x="3675888" y="5020056"/>
            <a:ext cx="21762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C7D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重点项目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36792" y="1417320"/>
            <a:ext cx="2596896" cy="4224528"/>
          </a:xfrm>
          <a:prstGeom prst="roundRect">
            <a:avLst>
              <a:gd name="adj" fmla="val 5282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 txBox="1"/>
          <p:nvPr/>
        </p:nvSpPr>
        <p:spPr>
          <a:xfrm>
            <a:off x="6547104" y="167335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7758C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8458200" y="1600200"/>
            <a:ext cx="256032" cy="256032"/>
          </a:xfrm>
          <a:prstGeom prst="ellipse">
            <a:avLst/>
          </a:prstGeom>
          <a:solidFill>
            <a:srgbClr val="7758C8"/>
          </a:solidFill>
          <a:ln w="7620">
            <a:solidFill>
              <a:srgbClr val="775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 txBox="1"/>
          <p:nvPr/>
        </p:nvSpPr>
        <p:spPr>
          <a:xfrm>
            <a:off x="6547104" y="2157984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无印章识别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547104" y="283464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7758C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关键问题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547104" y="3099816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浅色/小印章与 2% 负样本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547104" y="386791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7758C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我的工作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6547104" y="4133088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三模型融合 · sure/unsure · VLM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547104" y="5001768"/>
            <a:ext cx="2176272" cy="402336"/>
          </a:xfrm>
          <a:prstGeom prst="roundRect">
            <a:avLst>
              <a:gd name="adj" fmla="val 18182"/>
            </a:avLst>
          </a:prstGeom>
          <a:solidFill>
            <a:srgbClr val="EEE9FA"/>
          </a:solidFill>
          <a:ln w="10160">
            <a:solidFill>
              <a:srgbClr val="EEE9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 txBox="1"/>
          <p:nvPr/>
        </p:nvSpPr>
        <p:spPr>
          <a:xfrm>
            <a:off x="6547104" y="5020056"/>
            <a:ext cx="21762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758C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横向产出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208008" y="1417320"/>
            <a:ext cx="2596896" cy="4224528"/>
          </a:xfrm>
          <a:prstGeom prst="roundRect">
            <a:avLst>
              <a:gd name="adj" fmla="val 5282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 txBox="1"/>
          <p:nvPr/>
        </p:nvSpPr>
        <p:spPr>
          <a:xfrm>
            <a:off x="9418320" y="167335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2B84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11329416" y="1600200"/>
            <a:ext cx="256032" cy="256032"/>
          </a:xfrm>
          <a:prstGeom prst="ellipse">
            <a:avLst/>
          </a:prstGeom>
          <a:solidFill>
            <a:srgbClr val="F2B84B"/>
          </a:solidFill>
          <a:ln w="762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 txBox="1"/>
          <p:nvPr/>
        </p:nvSpPr>
        <p:spPr>
          <a:xfrm>
            <a:off x="9418320" y="2157984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电话号码校验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9418320" y="283464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2B84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关键问题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9418320" y="3099816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格式混乱且不能误拦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9418320" y="386791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2B84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我的工作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9418320" y="4133088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提取归一化 · 区号补全 · 硬约束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9418320" y="5001768"/>
            <a:ext cx="2176272" cy="402336"/>
          </a:xfrm>
          <a:prstGeom prst="roundRect">
            <a:avLst>
              <a:gd name="adj" fmla="val 18182"/>
            </a:avLst>
          </a:prstGeom>
          <a:solidFill>
            <a:srgbClr val="FFF2D5"/>
          </a:solidFill>
          <a:ln w="10160">
            <a:solidFill>
              <a:srgbClr val="FFF2D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 txBox="1"/>
          <p:nvPr/>
        </p:nvSpPr>
        <p:spPr>
          <a:xfrm>
            <a:off x="9418320" y="5020056"/>
            <a:ext cx="21762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2B84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横向产出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1033272" y="5897880"/>
            <a:ext cx="1010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统一命题：风险成本不对称时，如何把不确定信号变成可信决策？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60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BUSINESS CONTEXT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高吞吐、低误拦、可解释：决定了系统必须分层决策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kern="0" spc="11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PENG SHUO · RISK ALGORITHM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749040" y="6455664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89999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数据：日均去重后约 17.4 万张法律文书图片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201400" y="642823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58368" y="13533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17.4</a:t>
            </a:r>
            <a:r>
              <a:rPr lang="en-US" sz="140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万+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8470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万+ 文书图片 / 日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880360" y="13533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C7D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880360" y="18470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类核心校验任务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28032" y="13533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968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低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28032" y="18470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误拦优先级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1389888"/>
            <a:ext cx="4645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误拦真实司法请求的风险通常高于放过存疑样本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8368" y="2788920"/>
            <a:ext cx="2395728" cy="2103120"/>
          </a:xfrm>
          <a:prstGeom prst="roundRect">
            <a:avLst>
              <a:gd name="adj" fmla="val 5652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859536" y="299008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4C7D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" y="340156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输入标准化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59536" y="3913632"/>
            <a:ext cx="1993392" cy="658368"/>
          </a:xfrm>
          <a:prstGeom prst="roundRect">
            <a:avLst>
              <a:gd name="adj" fmla="val 11111"/>
            </a:avLst>
          </a:prstGeom>
          <a:solidFill>
            <a:srgbClr val="E8EEFC"/>
          </a:solidFill>
          <a:ln w="10160">
            <a:solidFill>
              <a:srgbClr val="E8EEF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969264" y="3986784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4C7D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旋转 / 切块 / OCR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4C7D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号码归一化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118104" y="3630168"/>
            <a:ext cx="320040" cy="201168"/>
          </a:xfrm>
          <a:prstGeom prst="rightArrow">
            <a:avLst/>
          </a:prstGeom>
          <a:solidFill>
            <a:srgbClr val="D7E1DF"/>
          </a:solidFill>
          <a:ln w="12700">
            <a:solidFill>
              <a:srgbClr val="D7E1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3529584" y="2788920"/>
            <a:ext cx="2395728" cy="2103120"/>
          </a:xfrm>
          <a:prstGeom prst="roundRect">
            <a:avLst>
              <a:gd name="adj" fmla="val 5652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3730752" y="299008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7758C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730752" y="340156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多源信号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3730752" y="3913632"/>
            <a:ext cx="1993392" cy="658368"/>
          </a:xfrm>
          <a:prstGeom prst="roundRect">
            <a:avLst>
              <a:gd name="adj" fmla="val 11111"/>
            </a:avLst>
          </a:prstGeom>
          <a:solidFill>
            <a:srgbClr val="EEE9FA"/>
          </a:solidFill>
          <a:ln w="10160">
            <a:solidFill>
              <a:srgbClr val="EEE9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 txBox="1"/>
          <p:nvPr/>
        </p:nvSpPr>
        <p:spPr>
          <a:xfrm>
            <a:off x="3840480" y="3986784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7758C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视觉 / OCR / VLM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7758C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地理库 / 规则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989320" y="3630168"/>
            <a:ext cx="320040" cy="201168"/>
          </a:xfrm>
          <a:prstGeom prst="rightArrow">
            <a:avLst/>
          </a:prstGeom>
          <a:solidFill>
            <a:srgbClr val="D7E1DF"/>
          </a:solidFill>
          <a:ln w="12700">
            <a:solidFill>
              <a:srgbClr val="D7E1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400800" y="2788920"/>
            <a:ext cx="2395728" cy="2103120"/>
          </a:xfrm>
          <a:prstGeom prst="roundRect">
            <a:avLst>
              <a:gd name="adj" fmla="val 5652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 txBox="1"/>
          <p:nvPr/>
        </p:nvSpPr>
        <p:spPr>
          <a:xfrm>
            <a:off x="6601968" y="299008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601968" y="340156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选择性决策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6601968" y="3913632"/>
            <a:ext cx="1993392" cy="658368"/>
          </a:xfrm>
          <a:prstGeom prst="roundRect">
            <a:avLst>
              <a:gd name="adj" fmla="val 11111"/>
            </a:avLst>
          </a:prstGeom>
          <a:solidFill>
            <a:srgbClr val="DDF5F1"/>
          </a:solidFill>
          <a:ln w="10160">
            <a:solidFill>
              <a:srgbClr val="DDF5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 txBox="1"/>
          <p:nvPr/>
        </p:nvSpPr>
        <p:spPr>
          <a:xfrm>
            <a:off x="6711696" y="3986784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高置信自动处理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不确定样本升级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860536" y="3630168"/>
            <a:ext cx="320040" cy="201168"/>
          </a:xfrm>
          <a:prstGeom prst="rightArrow">
            <a:avLst/>
          </a:prstGeom>
          <a:solidFill>
            <a:srgbClr val="D7E1DF"/>
          </a:solidFill>
          <a:ln w="12700">
            <a:solidFill>
              <a:srgbClr val="D7E1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9272016" y="2788920"/>
            <a:ext cx="2395728" cy="2103120"/>
          </a:xfrm>
          <a:prstGeom prst="roundRect">
            <a:avLst>
              <a:gd name="adj" fmla="val 5652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 txBox="1"/>
          <p:nvPr/>
        </p:nvSpPr>
        <p:spPr>
          <a:xfrm>
            <a:off x="9473184" y="299008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2B84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473184" y="340156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反馈闭环</a:t>
            </a:r>
            <a:endParaRPr lang="en-US" sz="1550" dirty="0"/>
          </a:p>
        </p:txBody>
      </p:sp>
      <p:sp>
        <p:nvSpPr>
          <p:cNvPr id="35" name="Shape 33"/>
          <p:cNvSpPr/>
          <p:nvPr/>
        </p:nvSpPr>
        <p:spPr>
          <a:xfrm>
            <a:off x="9473184" y="3913632"/>
            <a:ext cx="1993392" cy="658368"/>
          </a:xfrm>
          <a:prstGeom prst="roundRect">
            <a:avLst>
              <a:gd name="adj" fmla="val 11111"/>
            </a:avLst>
          </a:prstGeom>
          <a:solidFill>
            <a:srgbClr val="FFF2D5"/>
          </a:solidFill>
          <a:ln w="10160">
            <a:solidFill>
              <a:srgbClr val="FFF2D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 txBox="1"/>
          <p:nvPr/>
        </p:nvSpPr>
        <p:spPr>
          <a:xfrm>
            <a:off x="9582912" y="3986784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2B84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人审 / 难例池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2B84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阈值与规则迭代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508760" y="5285232"/>
            <a:ext cx="9162288" cy="576072"/>
          </a:xfrm>
          <a:prstGeom prst="roundRect">
            <a:avLst>
              <a:gd name="adj" fmla="val 19048"/>
            </a:avLst>
          </a:prstGeom>
          <a:solidFill>
            <a:srgbClr val="0B1F26"/>
          </a:solidFill>
          <a:ln w="10160">
            <a:solidFill>
              <a:srgbClr val="0B1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 txBox="1"/>
          <p:nvPr/>
        </p:nvSpPr>
        <p:spPr>
          <a:xfrm>
            <a:off x="1645920" y="5385816"/>
            <a:ext cx="8887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模型概率 ≠ 业务风险    ｜    不确定性不应被强行二分，而应被识别、路由与复核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60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PROJECT DIRECTORY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三个核心模型：按技术难度与答辩篇幅展开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kern="0" spc="11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PENG SHUO · RISK ALGORITHM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749040" y="6455664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89999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清晰度 &gt; 印章 &gt; 文书类型；电话号码作为其他产出简述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201400" y="642823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444752"/>
            <a:ext cx="4846320" cy="4187952"/>
          </a:xfrm>
          <a:prstGeom prst="roundRect">
            <a:avLst>
              <a:gd name="adj" fmla="val 3275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58368" y="1444752"/>
            <a:ext cx="4846320" cy="109728"/>
          </a:xfrm>
          <a:prstGeom prst="rect">
            <a:avLst/>
          </a:prstGeom>
          <a:solidFill>
            <a:srgbClr val="0E8F83"/>
          </a:solidFill>
          <a:ln w="10160">
            <a:solidFill>
              <a:srgbClr val="0E8F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886968" y="175564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087368" y="1755648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DDF5F1"/>
          </a:solidFill>
          <a:ln w="10160">
            <a:solidFill>
              <a:srgbClr val="DDF5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4087368" y="176022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重点展开 · 5 页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86968" y="23317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文书清晰度五级评估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886968" y="2926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技术难度  ★★★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86968" y="3456432"/>
            <a:ext cx="4389120" cy="658368"/>
          </a:xfrm>
          <a:prstGeom prst="roundRect">
            <a:avLst>
              <a:gd name="adj" fmla="val 12500"/>
            </a:avLst>
          </a:prstGeom>
          <a:solidFill>
            <a:srgbClr val="DDF5F1"/>
          </a:solidFill>
          <a:ln w="10160">
            <a:solidFill>
              <a:srgbClr val="DDF5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1042416" y="3557016"/>
            <a:ext cx="4078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任务重定义 + 数据构造 + VLM 微调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86968" y="4416552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从二分类双峰分数出发，重建五级序数任务，并构造可训练的数据与模型链路。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5833872" y="1444752"/>
            <a:ext cx="2926080" cy="418795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5833872" y="1444752"/>
            <a:ext cx="2926080" cy="109728"/>
          </a:xfrm>
          <a:prstGeom prst="rect">
            <a:avLst/>
          </a:prstGeom>
          <a:solidFill>
            <a:srgbClr val="7758C8"/>
          </a:solidFill>
          <a:ln w="10160">
            <a:solidFill>
              <a:srgbClr val="775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6062472" y="175564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7758C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342632" y="1755648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EEE9FA"/>
          </a:solidFill>
          <a:ln w="10160">
            <a:solidFill>
              <a:srgbClr val="EEE9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7342632" y="176022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758C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次重点 · 3 页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062472" y="2331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无印章识别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062472" y="2926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7758C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技术难度  ★★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62472" y="3456432"/>
            <a:ext cx="2468880" cy="658368"/>
          </a:xfrm>
          <a:prstGeom prst="roundRect">
            <a:avLst>
              <a:gd name="adj" fmla="val 12500"/>
            </a:avLst>
          </a:prstGeom>
          <a:solidFill>
            <a:srgbClr val="EEE9FA"/>
          </a:solidFill>
          <a:ln w="10160">
            <a:solidFill>
              <a:srgbClr val="EEE9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6217920" y="3557016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7758C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多模型融合 + 选择性分类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062472" y="4416552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2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融合版面、印章检测与视觉先验，通过 sure/unsure 路由控制漏检风险。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9089136" y="1444752"/>
            <a:ext cx="2423160" cy="4187952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9089136" y="1444752"/>
            <a:ext cx="2423160" cy="109728"/>
          </a:xfrm>
          <a:prstGeom prst="rect">
            <a:avLst/>
          </a:prstGeom>
          <a:solidFill>
            <a:srgbClr val="4C7DE8"/>
          </a:solidFill>
          <a:ln w="10160">
            <a:solidFill>
              <a:srgbClr val="4C7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 txBox="1"/>
          <p:nvPr/>
        </p:nvSpPr>
        <p:spPr>
          <a:xfrm>
            <a:off x="9317736" y="175564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4C7D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10094976" y="1755648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E8EEFC"/>
          </a:solidFill>
          <a:ln w="10160">
            <a:solidFill>
              <a:srgbClr val="E8EEF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 txBox="1"/>
          <p:nvPr/>
        </p:nvSpPr>
        <p:spPr>
          <a:xfrm>
            <a:off x="10094976" y="176022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C7D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精简说明 · 2 页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317736" y="23317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文书类型识别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317736" y="29260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4C7D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技术难度  ★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317736" y="3456432"/>
            <a:ext cx="1965960" cy="658368"/>
          </a:xfrm>
          <a:prstGeom prst="roundRect">
            <a:avLst>
              <a:gd name="adj" fmla="val 12500"/>
            </a:avLst>
          </a:prstGeom>
          <a:solidFill>
            <a:srgbClr val="E8EEFC"/>
          </a:solidFill>
          <a:ln w="10160">
            <a:solidFill>
              <a:srgbClr val="E8EEF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 txBox="1"/>
          <p:nvPr/>
        </p:nvSpPr>
        <p:spPr>
          <a:xfrm>
            <a:off x="9473184" y="3557016"/>
            <a:ext cx="1655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4C7D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OCR 鲁棒匹配 + 级联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9317736" y="4416552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2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稳定高频类型走快速规则路径，异常样本由 VL 兜底。</a:t>
            </a:r>
            <a:endParaRPr lang="en-US" sz="1120" dirty="0"/>
          </a:p>
        </p:txBody>
      </p:sp>
      <p:sp>
        <p:nvSpPr>
          <p:cNvPr id="37" name="Shape 35"/>
          <p:cNvSpPr/>
          <p:nvPr/>
        </p:nvSpPr>
        <p:spPr>
          <a:xfrm>
            <a:off x="1389888" y="5879592"/>
            <a:ext cx="9418320" cy="384048"/>
          </a:xfrm>
          <a:prstGeom prst="roundRect">
            <a:avLst>
              <a:gd name="adj" fmla="val 19048"/>
            </a:avLst>
          </a:prstGeom>
          <a:solidFill>
            <a:srgbClr val="0B1F26"/>
          </a:solidFill>
          <a:ln w="10160">
            <a:solidFill>
              <a:srgbClr val="0B1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 txBox="1"/>
          <p:nvPr/>
        </p:nvSpPr>
        <p:spPr>
          <a:xfrm>
            <a:off x="1572768" y="5934456"/>
            <a:ext cx="9052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篇幅分配遵循技术难度，而不是平均罗列业务需求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" y="64008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143B3B"/>
          </a:solidFill>
          <a:ln w="10160">
            <a:solidFill>
              <a:srgbClr val="143B3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 txBox="1"/>
          <p:nvPr/>
        </p:nvSpPr>
        <p:spPr>
          <a:xfrm>
            <a:off x="694944" y="64465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5FD2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· CLARITY MODEL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94944" y="1207008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文书清晰度五级评估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956816"/>
            <a:ext cx="5806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B8C8C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技术难度最高：原任务没有学习五级质量所需的序数信息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78892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5FD2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07592" y="27706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问题与关键判断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3035808" y="2788920"/>
            <a:ext cx="34015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0" dirty="0">
                <a:solidFill>
                  <a:srgbClr val="B8C8C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为什么二分类分数不能直接切五档</a:t>
            </a:r>
            <a:endParaRPr lang="en-US" sz="112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5021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5FD2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307592" y="348386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任务与数据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035808" y="3502152"/>
            <a:ext cx="34015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0" dirty="0">
                <a:solidFill>
                  <a:srgbClr val="B8C8C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二维可辨识度、弱标注与人工闭环</a:t>
            </a:r>
            <a:endParaRPr lang="en-US" sz="112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215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2B84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307592" y="419709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模型架构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035808" y="4215384"/>
            <a:ext cx="34015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0" dirty="0">
                <a:solidFill>
                  <a:srgbClr val="B8C8C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Qwen3.5-VL + LoRA + 五级软标签</a:t>
            </a:r>
            <a:endParaRPr lang="en-US" sz="112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4928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5FD2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307592" y="491032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结果与下一步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3035808" y="4928616"/>
            <a:ext cx="34015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0" dirty="0">
                <a:solidFill>
                  <a:srgbClr val="B8C8C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过拟合诊断与序数评测体系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7406640" y="658368"/>
            <a:ext cx="4114800" cy="5413248"/>
          </a:xfrm>
          <a:prstGeom prst="roundRect">
            <a:avLst>
              <a:gd name="adj" fmla="val 4000"/>
            </a:avLst>
          </a:prstGeom>
          <a:solidFill>
            <a:srgbClr val="102C32"/>
          </a:solidFill>
          <a:ln w="10160">
            <a:solidFill>
              <a:srgbClr val="1D45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7754112" y="106070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kern="0" spc="130" dirty="0">
                <a:solidFill>
                  <a:srgbClr val="5FD2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ARCHITECTURE PREVIEW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973568" y="1627632"/>
            <a:ext cx="2980944" cy="548640"/>
          </a:xfrm>
          <a:prstGeom prst="roundRect">
            <a:avLst>
              <a:gd name="adj" fmla="val 15000"/>
            </a:avLst>
          </a:prstGeom>
          <a:solidFill>
            <a:srgbClr val="17383E"/>
          </a:solidFill>
          <a:ln w="10160">
            <a:solidFill>
              <a:srgbClr val="2854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183880" y="1783080"/>
            <a:ext cx="219456" cy="219456"/>
          </a:xfrm>
          <a:prstGeom prst="ellipse">
            <a:avLst/>
          </a:prstGeom>
          <a:solidFill>
            <a:srgbClr val="4C7DE8"/>
          </a:solidFill>
          <a:ln w="7620">
            <a:solidFill>
              <a:srgbClr val="4C7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8540496" y="171907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Document Image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326880" y="2249424"/>
            <a:ext cx="256032" cy="219456"/>
          </a:xfrm>
          <a:prstGeom prst="downArrow">
            <a:avLst/>
          </a:prstGeom>
          <a:solidFill>
            <a:srgbClr val="0E8F83"/>
          </a:solidFill>
          <a:ln w="12700">
            <a:solidFill>
              <a:srgbClr val="0E8F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7973568" y="2596896"/>
            <a:ext cx="2980944" cy="548640"/>
          </a:xfrm>
          <a:prstGeom prst="roundRect">
            <a:avLst>
              <a:gd name="adj" fmla="val 15000"/>
            </a:avLst>
          </a:prstGeom>
          <a:solidFill>
            <a:srgbClr val="17383E"/>
          </a:solidFill>
          <a:ln w="10160">
            <a:solidFill>
              <a:srgbClr val="2854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183880" y="2752344"/>
            <a:ext cx="219456" cy="219456"/>
          </a:xfrm>
          <a:prstGeom prst="ellipse">
            <a:avLst/>
          </a:prstGeom>
          <a:solidFill>
            <a:srgbClr val="7758C8"/>
          </a:solidFill>
          <a:ln w="7620">
            <a:solidFill>
              <a:srgbClr val="775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 txBox="1"/>
          <p:nvPr/>
        </p:nvSpPr>
        <p:spPr>
          <a:xfrm>
            <a:off x="8540496" y="268833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Vision Encoder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326880" y="3218688"/>
            <a:ext cx="256032" cy="219456"/>
          </a:xfrm>
          <a:prstGeom prst="downArrow">
            <a:avLst/>
          </a:prstGeom>
          <a:solidFill>
            <a:srgbClr val="0E8F83"/>
          </a:solidFill>
          <a:ln w="12700">
            <a:solidFill>
              <a:srgbClr val="0E8F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7973568" y="3566160"/>
            <a:ext cx="2980944" cy="548640"/>
          </a:xfrm>
          <a:prstGeom prst="roundRect">
            <a:avLst>
              <a:gd name="adj" fmla="val 15000"/>
            </a:avLst>
          </a:prstGeom>
          <a:solidFill>
            <a:srgbClr val="17383E"/>
          </a:solidFill>
          <a:ln w="10160">
            <a:solidFill>
              <a:srgbClr val="2854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183880" y="3721608"/>
            <a:ext cx="219456" cy="219456"/>
          </a:xfrm>
          <a:prstGeom prst="ellipse">
            <a:avLst/>
          </a:prstGeom>
          <a:solidFill>
            <a:srgbClr val="0E8F83"/>
          </a:solidFill>
          <a:ln w="7620">
            <a:solidFill>
              <a:srgbClr val="0E8F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 txBox="1"/>
          <p:nvPr/>
        </p:nvSpPr>
        <p:spPr>
          <a:xfrm>
            <a:off x="8540496" y="365760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Multimodal LLM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326880" y="4187952"/>
            <a:ext cx="256032" cy="219456"/>
          </a:xfrm>
          <a:prstGeom prst="downArrow">
            <a:avLst/>
          </a:prstGeom>
          <a:solidFill>
            <a:srgbClr val="0E8F83"/>
          </a:solidFill>
          <a:ln w="12700">
            <a:solidFill>
              <a:srgbClr val="0E8F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7973568" y="4535424"/>
            <a:ext cx="2980944" cy="548640"/>
          </a:xfrm>
          <a:prstGeom prst="roundRect">
            <a:avLst>
              <a:gd name="adj" fmla="val 15000"/>
            </a:avLst>
          </a:prstGeom>
          <a:solidFill>
            <a:srgbClr val="17383E"/>
          </a:solidFill>
          <a:ln w="10160">
            <a:solidFill>
              <a:srgbClr val="2854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183880" y="4690872"/>
            <a:ext cx="219456" cy="219456"/>
          </a:xfrm>
          <a:prstGeom prst="ellipse">
            <a:avLst/>
          </a:prstGeom>
          <a:solidFill>
            <a:srgbClr val="F2B84B"/>
          </a:solidFill>
          <a:ln w="762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 txBox="1"/>
          <p:nvPr/>
        </p:nvSpPr>
        <p:spPr>
          <a:xfrm>
            <a:off x="8540496" y="4626864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5-level Distribution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8065008" y="5541264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2B84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约 6 分钟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11192256" y="641908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5FD2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60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CLARITY · PROBLEM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关键判断：二分类模型没有学习“模糊程度”，校准也无法补出序数信息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kern="0" spc="11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PENG SHUO · RISK ALGORITHM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749040" y="6455664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89999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原方案：569 维 XGBoost 二分类；blur_score 呈强双峰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201400" y="642823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4937760" cy="438912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 txBox="1"/>
          <p:nvPr/>
        </p:nvSpPr>
        <p:spPr>
          <a:xfrm>
            <a:off x="932688" y="170992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原模型输出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24128" y="4956048"/>
            <a:ext cx="4069080" cy="0"/>
          </a:xfrm>
          <a:prstGeom prst="line">
            <a:avLst/>
          </a:prstGeom>
          <a:noFill/>
          <a:ln w="12700">
            <a:solidFill>
              <a:srgbClr val="9FB0A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1024128" y="2414016"/>
            <a:ext cx="0" cy="2542032"/>
          </a:xfrm>
          <a:prstGeom prst="line">
            <a:avLst/>
          </a:prstGeom>
          <a:noFill/>
          <a:ln w="12700">
            <a:solidFill>
              <a:srgbClr val="9FB0A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1170432" y="3172968"/>
            <a:ext cx="201168" cy="1783080"/>
          </a:xfrm>
          <a:prstGeom prst="roundRect">
            <a:avLst>
              <a:gd name="adj" fmla="val 9091"/>
            </a:avLst>
          </a:prstGeom>
          <a:solidFill>
            <a:srgbClr val="0E8F83"/>
          </a:solidFill>
          <a:ln w="10160">
            <a:solidFill>
              <a:srgbClr val="0E8F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1508760" y="3538728"/>
            <a:ext cx="201168" cy="1417320"/>
          </a:xfrm>
          <a:prstGeom prst="roundRect">
            <a:avLst>
              <a:gd name="adj" fmla="val 9091"/>
            </a:avLst>
          </a:prstGeom>
          <a:solidFill>
            <a:srgbClr val="0E8F83"/>
          </a:solidFill>
          <a:ln w="10160">
            <a:solidFill>
              <a:srgbClr val="0E8F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1847088" y="4114800"/>
            <a:ext cx="201168" cy="841248"/>
          </a:xfrm>
          <a:prstGeom prst="roundRect">
            <a:avLst>
              <a:gd name="adj" fmla="val 9091"/>
            </a:avLst>
          </a:prstGeom>
          <a:solidFill>
            <a:srgbClr val="0E8F83"/>
          </a:solidFill>
          <a:ln w="10160">
            <a:solidFill>
              <a:srgbClr val="0E8F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2185416" y="4636008"/>
            <a:ext cx="201168" cy="320040"/>
          </a:xfrm>
          <a:prstGeom prst="roundRect">
            <a:avLst>
              <a:gd name="adj" fmla="val 9091"/>
            </a:avLst>
          </a:prstGeom>
          <a:solidFill>
            <a:srgbClr val="0E8F83"/>
          </a:solidFill>
          <a:ln w="10160">
            <a:solidFill>
              <a:srgbClr val="0E8F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2523744" y="4837176"/>
            <a:ext cx="201168" cy="118872"/>
          </a:xfrm>
          <a:prstGeom prst="roundRect">
            <a:avLst>
              <a:gd name="adj" fmla="val 15385"/>
            </a:avLst>
          </a:prstGeom>
          <a:solidFill>
            <a:srgbClr val="D7E1DF"/>
          </a:solidFill>
          <a:ln w="10160">
            <a:solidFill>
              <a:srgbClr val="D7E1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2862072" y="4882896"/>
            <a:ext cx="201168" cy="73152"/>
          </a:xfrm>
          <a:prstGeom prst="roundRect">
            <a:avLst>
              <a:gd name="adj" fmla="val 25000"/>
            </a:avLst>
          </a:prstGeom>
          <a:solidFill>
            <a:srgbClr val="D7E1DF"/>
          </a:solidFill>
          <a:ln w="10160">
            <a:solidFill>
              <a:srgbClr val="D7E1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3200400" y="4864608"/>
            <a:ext cx="201168" cy="91440"/>
          </a:xfrm>
          <a:prstGeom prst="roundRect">
            <a:avLst>
              <a:gd name="adj" fmla="val 20000"/>
            </a:avLst>
          </a:prstGeom>
          <a:solidFill>
            <a:srgbClr val="D7E1DF"/>
          </a:solidFill>
          <a:ln w="10160">
            <a:solidFill>
              <a:srgbClr val="D7E1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3538728" y="4718304"/>
            <a:ext cx="201168" cy="237744"/>
          </a:xfrm>
          <a:prstGeom prst="roundRect">
            <a:avLst>
              <a:gd name="adj" fmla="val 9091"/>
            </a:avLst>
          </a:prstGeom>
          <a:solidFill>
            <a:srgbClr val="D7E1DF"/>
          </a:solidFill>
          <a:ln w="10160">
            <a:solidFill>
              <a:srgbClr val="D7E1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3877056" y="4242816"/>
            <a:ext cx="201168" cy="713232"/>
          </a:xfrm>
          <a:prstGeom prst="roundRect">
            <a:avLst>
              <a:gd name="adj" fmla="val 9091"/>
            </a:avLst>
          </a:prstGeom>
          <a:solidFill>
            <a:srgbClr val="E9685B"/>
          </a:solidFill>
          <a:ln w="10160">
            <a:solidFill>
              <a:srgbClr val="E968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4215384" y="3602736"/>
            <a:ext cx="201168" cy="1353312"/>
          </a:xfrm>
          <a:prstGeom prst="roundRect">
            <a:avLst>
              <a:gd name="adj" fmla="val 9091"/>
            </a:avLst>
          </a:prstGeom>
          <a:solidFill>
            <a:srgbClr val="E9685B"/>
          </a:solidFill>
          <a:ln w="10160">
            <a:solidFill>
              <a:srgbClr val="E968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4553712" y="3072384"/>
            <a:ext cx="201168" cy="1883664"/>
          </a:xfrm>
          <a:prstGeom prst="roundRect">
            <a:avLst>
              <a:gd name="adj" fmla="val 9091"/>
            </a:avLst>
          </a:prstGeom>
          <a:solidFill>
            <a:srgbClr val="E9685B"/>
          </a:solidFill>
          <a:ln w="10160">
            <a:solidFill>
              <a:srgbClr val="E968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1097280" y="51480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清晰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313432" y="514807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中间区间样本极少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462272" y="514807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968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模糊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32688" y="2139696"/>
            <a:ext cx="1316736" cy="384048"/>
          </a:xfrm>
          <a:prstGeom prst="roundRect">
            <a:avLst>
              <a:gd name="adj" fmla="val 19048"/>
            </a:avLst>
          </a:prstGeom>
          <a:solidFill>
            <a:srgbClr val="DDF5F1"/>
          </a:solidFill>
          <a:ln w="10160">
            <a:solidFill>
              <a:srgbClr val="DDF5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 txBox="1"/>
          <p:nvPr/>
        </p:nvSpPr>
        <p:spPr>
          <a:xfrm>
            <a:off x="932688" y="219456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0.05 — 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977640" y="2139696"/>
            <a:ext cx="1316736" cy="384048"/>
          </a:xfrm>
          <a:prstGeom prst="roundRect">
            <a:avLst>
              <a:gd name="adj" fmla="val 19048"/>
            </a:avLst>
          </a:prstGeom>
          <a:solidFill>
            <a:srgbClr val="FCE9E7"/>
          </a:solidFill>
          <a:ln w="10160">
            <a:solidFill>
              <a:srgbClr val="FCE9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 txBox="1"/>
          <p:nvPr/>
        </p:nvSpPr>
        <p:spPr>
          <a:xfrm>
            <a:off x="3977640" y="219456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968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90 — 99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25312" y="1417320"/>
            <a:ext cx="5623560" cy="4389120"/>
          </a:xfrm>
          <a:prstGeom prst="roundRect">
            <a:avLst>
              <a:gd name="adj" fmla="val 2917"/>
            </a:avLst>
          </a:prstGeom>
          <a:solidFill>
            <a:srgbClr val="0B1F26"/>
          </a:solidFill>
          <a:ln w="10160">
            <a:solidFill>
              <a:srgbClr val="0B1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 txBox="1"/>
          <p:nvPr/>
        </p:nvSpPr>
        <p:spPr>
          <a:xfrm>
            <a:off x="6291072" y="17556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为什么直接切五档不可行？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309360" y="2514600"/>
            <a:ext cx="274320" cy="274320"/>
          </a:xfrm>
          <a:prstGeom prst="ellipse">
            <a:avLst/>
          </a:prstGeom>
          <a:solidFill>
            <a:srgbClr val="0E8F83"/>
          </a:solidFill>
          <a:ln w="7620">
            <a:solidFill>
              <a:srgbClr val="0E8F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 txBox="1"/>
          <p:nvPr/>
        </p:nvSpPr>
        <p:spPr>
          <a:xfrm>
            <a:off x="6309360" y="2542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6748272" y="244144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训练目标错位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028432" y="2423160"/>
            <a:ext cx="3108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B8C8C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二分类损失只要求跨过边界，不约束同类内部的质量排序。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6309360" y="3410712"/>
            <a:ext cx="274320" cy="274320"/>
          </a:xfrm>
          <a:prstGeom prst="ellipse">
            <a:avLst/>
          </a:prstGeom>
          <a:solidFill>
            <a:srgbClr val="0E8F83"/>
          </a:solidFill>
          <a:ln w="7620">
            <a:solidFill>
              <a:srgbClr val="0E8F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 txBox="1"/>
          <p:nvPr/>
        </p:nvSpPr>
        <p:spPr>
          <a:xfrm>
            <a:off x="6309360" y="343814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6748272" y="333756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分数不单调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8028432" y="3319272"/>
            <a:ext cx="3108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B8C8C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相近分数可能视觉差异大；视觉相近样本也可能分数差异大。</a:t>
            </a:r>
            <a:endParaRPr lang="en-US" sz="1060" dirty="0"/>
          </a:p>
        </p:txBody>
      </p:sp>
      <p:sp>
        <p:nvSpPr>
          <p:cNvPr id="39" name="Shape 37"/>
          <p:cNvSpPr/>
          <p:nvPr/>
        </p:nvSpPr>
        <p:spPr>
          <a:xfrm>
            <a:off x="6309360" y="4306824"/>
            <a:ext cx="274320" cy="274320"/>
          </a:xfrm>
          <a:prstGeom prst="ellipse">
            <a:avLst/>
          </a:prstGeom>
          <a:solidFill>
            <a:srgbClr val="F2B84B"/>
          </a:solidFill>
          <a:ln w="762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 txBox="1"/>
          <p:nvPr/>
        </p:nvSpPr>
        <p:spPr>
          <a:xfrm>
            <a:off x="6309360" y="433425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6748272" y="423367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校准能力有限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8028432" y="4215384"/>
            <a:ext cx="3108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B8C8C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Platt / Isotonic 只能重映射已有信息，不能创造等级 2-4。</a:t>
            </a:r>
            <a:endParaRPr lang="en-US" sz="1060" dirty="0"/>
          </a:p>
        </p:txBody>
      </p:sp>
      <p:sp>
        <p:nvSpPr>
          <p:cNvPr id="43" name="Shape 41"/>
          <p:cNvSpPr/>
          <p:nvPr/>
        </p:nvSpPr>
        <p:spPr>
          <a:xfrm>
            <a:off x="6291072" y="5074920"/>
            <a:ext cx="4828032" cy="438912"/>
          </a:xfrm>
          <a:prstGeom prst="roundRect">
            <a:avLst>
              <a:gd name="adj" fmla="val 16667"/>
            </a:avLst>
          </a:prstGeom>
          <a:solidFill>
            <a:srgbClr val="143B3C"/>
          </a:solidFill>
          <a:ln w="10160">
            <a:solidFill>
              <a:srgbClr val="143B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 txBox="1"/>
          <p:nvPr/>
        </p:nvSpPr>
        <p:spPr>
          <a:xfrm>
            <a:off x="6473952" y="5157216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2B84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因此：先重定义任务与标签，再选择模型。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60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CLARITY · TASK &amp; DATA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把“主观清晰度”转化为二维可辨识度，并以人机闭环构造数据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kern="0" spc="11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PENG SHUO · RISK ALGORITHM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201400" y="642823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389888"/>
            <a:ext cx="5623560" cy="4498848"/>
          </a:xfrm>
          <a:prstGeom prst="roundRect">
            <a:avLst>
              <a:gd name="adj" fmla="val 2846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 txBox="1"/>
          <p:nvPr/>
        </p:nvSpPr>
        <p:spPr>
          <a:xfrm>
            <a:off x="932688" y="16824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任务定义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2194560"/>
            <a:ext cx="50840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E8F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Quality = f ( unreadable_ratio , readable_sharpness 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32688" y="2889504"/>
            <a:ext cx="5065776" cy="868680"/>
          </a:xfrm>
          <a:prstGeom prst="roundRect">
            <a:avLst>
              <a:gd name="adj" fmla="val 10526"/>
            </a:avLst>
          </a:prstGeom>
          <a:solidFill>
            <a:srgbClr val="FFF2D5"/>
          </a:solidFill>
          <a:ln w="10160">
            <a:solidFill>
              <a:srgbClr val="FFF2D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1170432" y="301752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2B84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不可辨文字比例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761488" y="2999232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2761488" y="300380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2B84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决定 Level 3-5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041648" y="3008376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正文中有多少文字已无法辨认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32688" y="4032504"/>
            <a:ext cx="5065776" cy="868680"/>
          </a:xfrm>
          <a:prstGeom prst="roundRect">
            <a:avLst>
              <a:gd name="adj" fmla="val 10526"/>
            </a:avLst>
          </a:prstGeom>
          <a:solidFill>
            <a:srgbClr val="DDF5F1"/>
          </a:solidFill>
          <a:ln w="10160">
            <a:solidFill>
              <a:srgbClr val="DDF5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 txBox="1"/>
          <p:nvPr/>
        </p:nvSpPr>
        <p:spPr>
          <a:xfrm>
            <a:off x="1170432" y="416052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可辨区域锐度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761488" y="4142232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2761488" y="414680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区分 Level 1/2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041648" y="4151376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仍可读文字是否边缘发虚或粘连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932688" y="5367528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只评价正文印刷文字；签名、印章与表格线不计入。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01968" y="1389888"/>
            <a:ext cx="4937760" cy="4498848"/>
          </a:xfrm>
          <a:prstGeom prst="roundRect">
            <a:avLst>
              <a:gd name="adj" fmla="val 2846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6903720" y="16824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数据闭环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912864" y="2276856"/>
            <a:ext cx="256032" cy="256032"/>
          </a:xfrm>
          <a:prstGeom prst="ellipse">
            <a:avLst/>
          </a:prstGeom>
          <a:solidFill>
            <a:srgbClr val="4C7DE8"/>
          </a:solidFill>
          <a:ln w="7620">
            <a:solidFill>
              <a:srgbClr val="4C7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 txBox="1"/>
          <p:nvPr/>
        </p:nvSpPr>
        <p:spPr>
          <a:xfrm>
            <a:off x="6912864" y="23042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880" dirty="0"/>
          </a:p>
        </p:txBody>
      </p:sp>
      <p:sp>
        <p:nvSpPr>
          <p:cNvPr id="25" name="Text 23"/>
          <p:cNvSpPr txBox="1"/>
          <p:nvPr/>
        </p:nvSpPr>
        <p:spPr>
          <a:xfrm>
            <a:off x="7333488" y="2194560"/>
            <a:ext cx="1207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规则预标注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613648" y="218541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3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OCR 行置信度 + 字数/面积权重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6912864" y="2990088"/>
            <a:ext cx="256032" cy="256032"/>
          </a:xfrm>
          <a:prstGeom prst="ellipse">
            <a:avLst/>
          </a:prstGeom>
          <a:solidFill>
            <a:srgbClr val="F2B84B"/>
          </a:solidFill>
          <a:ln w="762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 txBox="1"/>
          <p:nvPr/>
        </p:nvSpPr>
        <p:spPr>
          <a:xfrm>
            <a:off x="6912864" y="301752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880" dirty="0"/>
          </a:p>
        </p:txBody>
      </p:sp>
      <p:sp>
        <p:nvSpPr>
          <p:cNvPr id="29" name="Text 27"/>
          <p:cNvSpPr txBox="1"/>
          <p:nvPr/>
        </p:nvSpPr>
        <p:spPr>
          <a:xfrm>
            <a:off x="7333488" y="2907792"/>
            <a:ext cx="1207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漏检补偿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613648" y="289864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3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二值化与连通域估计 OCR 未检文字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6912864" y="3703320"/>
            <a:ext cx="256032" cy="256032"/>
          </a:xfrm>
          <a:prstGeom prst="ellipse">
            <a:avLst/>
          </a:prstGeom>
          <a:solidFill>
            <a:srgbClr val="7758C8"/>
          </a:solidFill>
          <a:ln w="7620">
            <a:solidFill>
              <a:srgbClr val="775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 txBox="1"/>
          <p:nvPr/>
        </p:nvSpPr>
        <p:spPr>
          <a:xfrm>
            <a:off x="6912864" y="37307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880" dirty="0"/>
          </a:p>
        </p:txBody>
      </p:sp>
      <p:sp>
        <p:nvSpPr>
          <p:cNvPr id="33" name="Text 31"/>
          <p:cNvSpPr txBox="1"/>
          <p:nvPr/>
        </p:nvSpPr>
        <p:spPr>
          <a:xfrm>
            <a:off x="7333488" y="3621024"/>
            <a:ext cx="1207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人工校正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613648" y="361188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3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标注平台确认五级标签与边界 Case</a:t>
            </a:r>
            <a:endParaRPr lang="en-US" sz="1030" dirty="0"/>
          </a:p>
        </p:txBody>
      </p:sp>
      <p:sp>
        <p:nvSpPr>
          <p:cNvPr id="35" name="Shape 33"/>
          <p:cNvSpPr/>
          <p:nvPr/>
        </p:nvSpPr>
        <p:spPr>
          <a:xfrm>
            <a:off x="6912864" y="4416552"/>
            <a:ext cx="256032" cy="256032"/>
          </a:xfrm>
          <a:prstGeom prst="ellipse">
            <a:avLst/>
          </a:prstGeom>
          <a:solidFill>
            <a:srgbClr val="0E8F83"/>
          </a:solidFill>
          <a:ln w="7620">
            <a:solidFill>
              <a:srgbClr val="0E8F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 txBox="1"/>
          <p:nvPr/>
        </p:nvSpPr>
        <p:spPr>
          <a:xfrm>
            <a:off x="6912864" y="444398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880" dirty="0"/>
          </a:p>
        </p:txBody>
      </p:sp>
      <p:sp>
        <p:nvSpPr>
          <p:cNvPr id="37" name="Text 35"/>
          <p:cNvSpPr txBox="1"/>
          <p:nvPr/>
        </p:nvSpPr>
        <p:spPr>
          <a:xfrm>
            <a:off x="7333488" y="4334256"/>
            <a:ext cx="1207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训练采样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8613648" y="432511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3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1/√freq 缓解 Level 4/5 长尾</a:t>
            </a:r>
            <a:endParaRPr lang="en-US" sz="1030" dirty="0"/>
          </a:p>
        </p:txBody>
      </p:sp>
      <p:sp>
        <p:nvSpPr>
          <p:cNvPr id="39" name="Shape 37"/>
          <p:cNvSpPr/>
          <p:nvPr/>
        </p:nvSpPr>
        <p:spPr>
          <a:xfrm>
            <a:off x="6903720" y="5202936"/>
            <a:ext cx="4315968" cy="429768"/>
          </a:xfrm>
          <a:prstGeom prst="roundRect">
            <a:avLst>
              <a:gd name="adj" fmla="val 17021"/>
            </a:avLst>
          </a:prstGeom>
          <a:solidFill>
            <a:srgbClr val="0B1F26"/>
          </a:solidFill>
          <a:ln w="10160">
            <a:solidFill>
              <a:srgbClr val="0B1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 txBox="1"/>
          <p:nvPr/>
        </p:nvSpPr>
        <p:spPr>
          <a:xfrm>
            <a:off x="7077456" y="5285232"/>
            <a:ext cx="39684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 9,850 ｜ 测试 3,283 ｜ 独立 AppID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60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CLARITY · MODEL ARCHITECTURE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Qwen3.5-VL + LoRA：用五级概率分布学习业务质量标尺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kern="0" spc="11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PENG SHUO · RISK ALGORITHM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201400" y="642823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828800"/>
            <a:ext cx="1664208" cy="202996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58368" y="1828800"/>
            <a:ext cx="1664208" cy="100584"/>
          </a:xfrm>
          <a:prstGeom prst="rect">
            <a:avLst/>
          </a:prstGeom>
          <a:solidFill>
            <a:srgbClr val="4C7DE8"/>
          </a:solidFill>
          <a:ln w="10160">
            <a:solidFill>
              <a:srgbClr val="4C7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271016" y="2194560"/>
            <a:ext cx="438912" cy="438912"/>
          </a:xfrm>
          <a:prstGeom prst="ellipse">
            <a:avLst/>
          </a:prstGeom>
          <a:solidFill>
            <a:srgbClr val="4C7DE8"/>
          </a:solidFill>
          <a:ln w="7620">
            <a:solidFill>
              <a:srgbClr val="4C7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 txBox="1"/>
          <p:nvPr/>
        </p:nvSpPr>
        <p:spPr>
          <a:xfrm>
            <a:off x="1271016" y="225856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28346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文书图片</a:t>
            </a:r>
            <a:endParaRPr lang="en-US" sz="1330" dirty="0"/>
          </a:p>
        </p:txBody>
      </p:sp>
      <p:sp>
        <p:nvSpPr>
          <p:cNvPr id="12" name="Shape 10"/>
          <p:cNvSpPr/>
          <p:nvPr/>
        </p:nvSpPr>
        <p:spPr>
          <a:xfrm>
            <a:off x="822960" y="3227832"/>
            <a:ext cx="1335024" cy="438912"/>
          </a:xfrm>
          <a:prstGeom prst="roundRect">
            <a:avLst>
              <a:gd name="adj" fmla="val 14583"/>
            </a:avLst>
          </a:prstGeom>
          <a:solidFill>
            <a:srgbClr val="E8EEFC"/>
          </a:solidFill>
          <a:ln w="10160">
            <a:solidFill>
              <a:srgbClr val="E8EEF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868680" y="3264408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4C7D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扫描 / 拍照文档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2395728" y="2688336"/>
            <a:ext cx="228600" cy="164592"/>
          </a:xfrm>
          <a:prstGeom prst="rightArrow">
            <a:avLst/>
          </a:prstGeom>
          <a:solidFill>
            <a:srgbClr val="D7E1DF"/>
          </a:solidFill>
          <a:ln w="12700">
            <a:solidFill>
              <a:srgbClr val="D7E1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2706624" y="1828800"/>
            <a:ext cx="1847088" cy="2029968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2706624" y="1828800"/>
            <a:ext cx="1847088" cy="100584"/>
          </a:xfrm>
          <a:prstGeom prst="rect">
            <a:avLst/>
          </a:prstGeom>
          <a:solidFill>
            <a:srgbClr val="7758C8"/>
          </a:solidFill>
          <a:ln w="10160">
            <a:solidFill>
              <a:srgbClr val="775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3410712" y="2194560"/>
            <a:ext cx="438912" cy="438912"/>
          </a:xfrm>
          <a:prstGeom prst="ellipse">
            <a:avLst/>
          </a:prstGeom>
          <a:solidFill>
            <a:srgbClr val="7758C8"/>
          </a:solidFill>
          <a:ln w="7620">
            <a:solidFill>
              <a:srgbClr val="775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3410712" y="225856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2852928" y="283464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Vision Encoder</a:t>
            </a:r>
            <a:endParaRPr lang="en-US" sz="1330" dirty="0"/>
          </a:p>
        </p:txBody>
      </p:sp>
      <p:sp>
        <p:nvSpPr>
          <p:cNvPr id="20" name="Shape 18"/>
          <p:cNvSpPr/>
          <p:nvPr/>
        </p:nvSpPr>
        <p:spPr>
          <a:xfrm>
            <a:off x="2871216" y="3227832"/>
            <a:ext cx="1517904" cy="438912"/>
          </a:xfrm>
          <a:prstGeom prst="roundRect">
            <a:avLst>
              <a:gd name="adj" fmla="val 14583"/>
            </a:avLst>
          </a:prstGeom>
          <a:solidFill>
            <a:srgbClr val="EEE9FA"/>
          </a:solidFill>
          <a:ln w="10160">
            <a:solidFill>
              <a:srgbClr val="EEE9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2916936" y="3264408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7758C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冻结视觉塔</a:t>
            </a:r>
            <a:endParaRPr lang="en-US" sz="98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7758C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提取图像 token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4626864" y="2688336"/>
            <a:ext cx="228600" cy="164592"/>
          </a:xfrm>
          <a:prstGeom prst="rightArrow">
            <a:avLst/>
          </a:prstGeom>
          <a:solidFill>
            <a:srgbClr val="D7E1DF"/>
          </a:solidFill>
          <a:ln w="12700">
            <a:solidFill>
              <a:srgbClr val="D7E1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4937760" y="1828800"/>
            <a:ext cx="1508760" cy="2029968"/>
          </a:xfrm>
          <a:prstGeom prst="roundRect">
            <a:avLst>
              <a:gd name="adj" fmla="val 7879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4937760" y="1828800"/>
            <a:ext cx="1508760" cy="100584"/>
          </a:xfrm>
          <a:prstGeom prst="rect">
            <a:avLst/>
          </a:prstGeom>
          <a:solidFill>
            <a:srgbClr val="F2B84B"/>
          </a:solidFill>
          <a:ln w="1016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5472684" y="2194560"/>
            <a:ext cx="438912" cy="438912"/>
          </a:xfrm>
          <a:prstGeom prst="ellipse">
            <a:avLst/>
          </a:prstGeom>
          <a:solidFill>
            <a:srgbClr val="F2B84B"/>
          </a:solidFill>
          <a:ln w="762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 txBox="1"/>
          <p:nvPr/>
        </p:nvSpPr>
        <p:spPr>
          <a:xfrm>
            <a:off x="5472684" y="225856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084064" y="2834640"/>
            <a:ext cx="1216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Aligner</a:t>
            </a:r>
            <a:endParaRPr lang="en-US" sz="1330" dirty="0"/>
          </a:p>
        </p:txBody>
      </p:sp>
      <p:sp>
        <p:nvSpPr>
          <p:cNvPr id="28" name="Shape 26"/>
          <p:cNvSpPr/>
          <p:nvPr/>
        </p:nvSpPr>
        <p:spPr>
          <a:xfrm>
            <a:off x="5102352" y="3227832"/>
            <a:ext cx="1179576" cy="438912"/>
          </a:xfrm>
          <a:prstGeom prst="roundRect">
            <a:avLst>
              <a:gd name="adj" fmla="val 14583"/>
            </a:avLst>
          </a:prstGeom>
          <a:solidFill>
            <a:srgbClr val="FFF2D5"/>
          </a:solidFill>
          <a:ln w="10160">
            <a:solidFill>
              <a:srgbClr val="FFF2D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 txBox="1"/>
          <p:nvPr/>
        </p:nvSpPr>
        <p:spPr>
          <a:xfrm>
            <a:off x="5148072" y="3264408"/>
            <a:ext cx="1088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F2B84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冻结</a:t>
            </a:r>
            <a:endParaRPr lang="en-US" sz="98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F2B84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视觉-语言对齐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6519672" y="2688336"/>
            <a:ext cx="228600" cy="164592"/>
          </a:xfrm>
          <a:prstGeom prst="rightArrow">
            <a:avLst/>
          </a:prstGeom>
          <a:solidFill>
            <a:srgbClr val="D7E1DF"/>
          </a:solidFill>
          <a:ln w="12700">
            <a:solidFill>
              <a:srgbClr val="D7E1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6830568" y="1828800"/>
            <a:ext cx="2057400" cy="2029968"/>
          </a:xfrm>
          <a:prstGeom prst="roundRect">
            <a:avLst>
              <a:gd name="adj" fmla="val 5856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830568" y="1828800"/>
            <a:ext cx="2057400" cy="100584"/>
          </a:xfrm>
          <a:prstGeom prst="rect">
            <a:avLst/>
          </a:prstGeom>
          <a:solidFill>
            <a:srgbClr val="0E8F83"/>
          </a:solidFill>
          <a:ln w="10160">
            <a:solidFill>
              <a:srgbClr val="0E8F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7639812" y="2194560"/>
            <a:ext cx="438912" cy="438912"/>
          </a:xfrm>
          <a:prstGeom prst="ellipse">
            <a:avLst/>
          </a:prstGeom>
          <a:solidFill>
            <a:srgbClr val="0E8F83"/>
          </a:solidFill>
          <a:ln w="7620">
            <a:solidFill>
              <a:srgbClr val="0E8F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 txBox="1"/>
          <p:nvPr/>
        </p:nvSpPr>
        <p:spPr>
          <a:xfrm>
            <a:off x="7639812" y="225856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976872" y="2834640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Qwen3.5 LLM</a:t>
            </a:r>
            <a:endParaRPr lang="en-US" sz="1330" dirty="0"/>
          </a:p>
        </p:txBody>
      </p:sp>
      <p:sp>
        <p:nvSpPr>
          <p:cNvPr id="36" name="Shape 34"/>
          <p:cNvSpPr/>
          <p:nvPr/>
        </p:nvSpPr>
        <p:spPr>
          <a:xfrm>
            <a:off x="6995160" y="3227832"/>
            <a:ext cx="1728216" cy="438912"/>
          </a:xfrm>
          <a:prstGeom prst="roundRect">
            <a:avLst>
              <a:gd name="adj" fmla="val 14583"/>
            </a:avLst>
          </a:prstGeom>
          <a:solidFill>
            <a:srgbClr val="DDF5F1"/>
          </a:solidFill>
          <a:ln w="10160">
            <a:solidFill>
              <a:srgbClr val="DDF5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 txBox="1"/>
          <p:nvPr/>
        </p:nvSpPr>
        <p:spPr>
          <a:xfrm>
            <a:off x="7040880" y="3264408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LoRA 注入</a:t>
            </a:r>
            <a:endParaRPr lang="en-US" sz="98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学习质量语义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8961120" y="2688336"/>
            <a:ext cx="228600" cy="164592"/>
          </a:xfrm>
          <a:prstGeom prst="rightArrow">
            <a:avLst/>
          </a:prstGeom>
          <a:solidFill>
            <a:srgbClr val="D7E1DF"/>
          </a:solidFill>
          <a:ln w="12700">
            <a:solidFill>
              <a:srgbClr val="D7E1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9272016" y="1828800"/>
            <a:ext cx="2249424" cy="2029968"/>
          </a:xfrm>
          <a:prstGeom prst="roundRect">
            <a:avLst>
              <a:gd name="adj" fmla="val 5856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9272016" y="1828800"/>
            <a:ext cx="2249424" cy="100584"/>
          </a:xfrm>
          <a:prstGeom prst="rect">
            <a:avLst/>
          </a:prstGeom>
          <a:solidFill>
            <a:srgbClr val="E9685B"/>
          </a:solidFill>
          <a:ln w="10160">
            <a:solidFill>
              <a:srgbClr val="E968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10177272" y="2194560"/>
            <a:ext cx="438912" cy="438912"/>
          </a:xfrm>
          <a:prstGeom prst="ellipse">
            <a:avLst/>
          </a:prstGeom>
          <a:solidFill>
            <a:srgbClr val="E9685B"/>
          </a:solidFill>
          <a:ln w="7620">
            <a:solidFill>
              <a:srgbClr val="E968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 txBox="1"/>
          <p:nvPr/>
        </p:nvSpPr>
        <p:spPr>
          <a:xfrm>
            <a:off x="10177272" y="225856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9418320" y="2834640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等级 Token 概率</a:t>
            </a:r>
            <a:endParaRPr lang="en-US" sz="1330" dirty="0"/>
          </a:p>
        </p:txBody>
      </p:sp>
      <p:sp>
        <p:nvSpPr>
          <p:cNvPr id="44" name="Shape 42"/>
          <p:cNvSpPr/>
          <p:nvPr/>
        </p:nvSpPr>
        <p:spPr>
          <a:xfrm>
            <a:off x="9436608" y="3227832"/>
            <a:ext cx="1920240" cy="438912"/>
          </a:xfrm>
          <a:prstGeom prst="roundRect">
            <a:avLst>
              <a:gd name="adj" fmla="val 14583"/>
            </a:avLst>
          </a:prstGeom>
          <a:solidFill>
            <a:srgbClr val="FCE9E7"/>
          </a:solidFill>
          <a:ln w="10160">
            <a:solidFill>
              <a:srgbClr val="FCE9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 txBox="1"/>
          <p:nvPr/>
        </p:nvSpPr>
        <p:spPr>
          <a:xfrm>
            <a:off x="9482328" y="32644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E968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Closed-set Softmax</a:t>
            </a:r>
            <a:endParaRPr lang="en-US" sz="98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E968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P(L1…L5)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658368" y="4325112"/>
            <a:ext cx="6830568" cy="1298448"/>
          </a:xfrm>
          <a:prstGeom prst="roundRect">
            <a:avLst>
              <a:gd name="adj" fmla="val 8451"/>
            </a:avLst>
          </a:prstGeom>
          <a:solidFill>
            <a:srgbClr val="0B1F26"/>
          </a:solidFill>
          <a:ln w="10160">
            <a:solidFill>
              <a:srgbClr val="0B1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 txBox="1"/>
          <p:nvPr/>
        </p:nvSpPr>
        <p:spPr>
          <a:xfrm>
            <a:off x="914400" y="4572000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2B84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训练目标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1975104" y="452628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文本 Token：Next-Token CE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4096512" y="4526280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等级分布：KL / 分布对齐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1975104" y="5020056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40" dirty="0">
                <a:solidFill>
                  <a:srgbClr val="B8C8C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软标签：以五级有序分布表达相邻等级不确定性，避免边界样本被当作绝对真值。</a:t>
            </a:r>
            <a:endParaRPr lang="en-US" sz="1040" dirty="0"/>
          </a:p>
        </p:txBody>
      </p:sp>
      <p:sp>
        <p:nvSpPr>
          <p:cNvPr id="51" name="Shape 49"/>
          <p:cNvSpPr/>
          <p:nvPr/>
        </p:nvSpPr>
        <p:spPr>
          <a:xfrm>
            <a:off x="7818120" y="4325112"/>
            <a:ext cx="3703320" cy="1298448"/>
          </a:xfrm>
          <a:prstGeom prst="roundRect">
            <a:avLst>
              <a:gd name="adj" fmla="val 8451"/>
            </a:avLst>
          </a:prstGeom>
          <a:solidFill>
            <a:srgbClr val="DDF5F1"/>
          </a:solidFill>
          <a:ln w="10160">
            <a:solidFill>
              <a:srgbClr val="DDF5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 txBox="1"/>
          <p:nvPr/>
        </p:nvSpPr>
        <p:spPr>
          <a:xfrm>
            <a:off x="8083296" y="4572000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推理输出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9144000" y="452628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0" b="1" dirty="0">
                <a:solidFill>
                  <a:srgbClr val="102A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等级 = argmax P(Lk)</a:t>
            </a:r>
            <a:endParaRPr lang="en-US" sz="1120" dirty="0"/>
          </a:p>
        </p:txBody>
      </p:sp>
      <p:sp>
        <p:nvSpPr>
          <p:cNvPr id="54" name="Text 52"/>
          <p:cNvSpPr txBox="1"/>
          <p:nvPr/>
        </p:nvSpPr>
        <p:spPr>
          <a:xfrm>
            <a:off x="9144000" y="498348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70" b="1" dirty="0">
                <a:solidFill>
                  <a:srgbClr val="0E8F8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连续质量分数  q̂ = Σ pₖ · k</a:t>
            </a:r>
            <a:endParaRPr lang="en-US" sz="1070" dirty="0"/>
          </a:p>
        </p:txBody>
      </p:sp>
      <p:sp>
        <p:nvSpPr>
          <p:cNvPr id="55" name="Text 53"/>
          <p:cNvSpPr txBox="1"/>
          <p:nvPr/>
        </p:nvSpPr>
        <p:spPr>
          <a:xfrm>
            <a:off x="1280160" y="5943600"/>
            <a:ext cx="9646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968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关键设计：不是让 VLM 自由打分，而是把输出限制在可校准的五级概率空间。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60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CLARITY · RESULT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训练曲线揭示过拟合：当前瓶颈已转向数据泛化与序数评测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kern="0" spc="11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PENG SHUO · RISK ALGORITHM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749040" y="6455664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89999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最佳 checkpoint：step 1200，Eval Loss = 0.0757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201400" y="642823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99616"/>
            <a:ext cx="6537960" cy="4407408"/>
          </a:xfrm>
          <a:prstGeom prst="roundRect">
            <a:avLst>
              <a:gd name="adj" fmla="val 2905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" name="Chart 0"/>
          <p:cNvGraphicFramePr/>
          <p:nvPr/>
        </p:nvGraphicFramePr>
        <p:xfrm>
          <a:off x="960120" y="1847088"/>
          <a:ext cx="589788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2926080" y="4114800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A06A0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1200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64992" y="4407408"/>
            <a:ext cx="164592" cy="164592"/>
          </a:xfrm>
          <a:prstGeom prst="ellipse">
            <a:avLst/>
          </a:prstGeom>
          <a:solidFill>
            <a:srgbClr val="F2B84B"/>
          </a:solidFill>
          <a:ln w="762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7525512" y="1389888"/>
            <a:ext cx="4023360" cy="1115568"/>
          </a:xfrm>
          <a:prstGeom prst="roundRect">
            <a:avLst>
              <a:gd name="adj" fmla="val 9836"/>
            </a:avLst>
          </a:prstGeom>
          <a:solidFill>
            <a:srgbClr val="FCE9E7"/>
          </a:solidFill>
          <a:ln w="10160">
            <a:solidFill>
              <a:srgbClr val="FCE9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 txBox="1"/>
          <p:nvPr/>
        </p:nvSpPr>
        <p:spPr>
          <a:xfrm>
            <a:off x="7818120" y="1627632"/>
            <a:ext cx="10789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E968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+56%</a:t>
            </a:r>
            <a:endParaRPr lang="en-US" sz="2500" dirty="0"/>
          </a:p>
        </p:txBody>
      </p:sp>
      <p:sp>
        <p:nvSpPr>
          <p:cNvPr id="13" name="Text 10"/>
          <p:cNvSpPr txBox="1"/>
          <p:nvPr/>
        </p:nvSpPr>
        <p:spPr>
          <a:xfrm>
            <a:off x="9034272" y="166420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最佳点后 Eval Loss 上涨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525512" y="2852928"/>
            <a:ext cx="4023360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7726680" y="3063240"/>
            <a:ext cx="155448" cy="155448"/>
          </a:xfrm>
          <a:prstGeom prst="ellipse">
            <a:avLst/>
          </a:prstGeom>
          <a:solidFill>
            <a:srgbClr val="E9685B"/>
          </a:solidFill>
          <a:ln w="7620">
            <a:solidFill>
              <a:srgbClr val="E968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 txBox="1"/>
          <p:nvPr/>
        </p:nvSpPr>
        <p:spPr>
          <a:xfrm>
            <a:off x="7964424" y="299923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 1｜停止增加 epoch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726680" y="3401568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Train Loss≈0.01、Token Acc=0.996，但验证集恶化；继续拟合只会放大噪声。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525512" y="4197096"/>
            <a:ext cx="4023360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6"/>
          <p:cNvSpPr/>
          <p:nvPr/>
        </p:nvSpPr>
        <p:spPr>
          <a:xfrm>
            <a:off x="7726680" y="4407408"/>
            <a:ext cx="155448" cy="155448"/>
          </a:xfrm>
          <a:prstGeom prst="ellipse">
            <a:avLst/>
          </a:prstGeom>
          <a:solidFill>
            <a:srgbClr val="0E8F83"/>
          </a:solidFill>
          <a:ln w="7620">
            <a:solidFill>
              <a:srgbClr val="0E8F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 txBox="1"/>
          <p:nvPr/>
        </p:nvSpPr>
        <p:spPr>
          <a:xfrm>
            <a:off x="7964424" y="43434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 2｜重建评测体系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726680" y="4745736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下一步重点看 QWK、MAE、Macro-F1、L4/5 Recall 与概率校准。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5998464"/>
            <a:ext cx="9646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项目阶段结论：完成任务定义、数据闭环与模型架构；已定位下一阶段主要矛盾。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" y="64008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143B3B"/>
          </a:solidFill>
          <a:ln w="10160">
            <a:solidFill>
              <a:srgbClr val="143B3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 txBox="1"/>
          <p:nvPr/>
        </p:nvSpPr>
        <p:spPr>
          <a:xfrm>
            <a:off x="694944" y="64465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5FD2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· SEAL DETECTION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94944" y="1225296"/>
            <a:ext cx="4846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无印章识别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956816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B8C8C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技术难度第二：小目标、浅色章与极少负样本共同造成漏检风险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94436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5FD2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07592" y="29260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模型架构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2944368"/>
            <a:ext cx="3337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0" dirty="0">
                <a:solidFill>
                  <a:srgbClr val="B8C8C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三路检测信号 + 颜色先验</a:t>
            </a:r>
            <a:endParaRPr lang="en-US" sz="114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91363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2B84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307592" y="389534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决策与结果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3913632"/>
            <a:ext cx="3337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0" dirty="0">
                <a:solidFill>
                  <a:srgbClr val="B8C8C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选择性分类 + 切块/VLM 复核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7479792" y="658368"/>
            <a:ext cx="4041648" cy="5413248"/>
          </a:xfrm>
          <a:prstGeom prst="roundRect">
            <a:avLst>
              <a:gd name="adj" fmla="val 4072"/>
            </a:avLst>
          </a:prstGeom>
          <a:solidFill>
            <a:srgbClr val="102C32"/>
          </a:solidFill>
          <a:ln w="10160">
            <a:solidFill>
              <a:srgbClr val="1D45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7927848" y="1234440"/>
            <a:ext cx="3154680" cy="621792"/>
          </a:xfrm>
          <a:prstGeom prst="roundRect">
            <a:avLst>
              <a:gd name="adj" fmla="val 13235"/>
            </a:avLst>
          </a:prstGeom>
          <a:solidFill>
            <a:srgbClr val="17383E"/>
          </a:solidFill>
          <a:ln w="10160">
            <a:solidFill>
              <a:srgbClr val="2850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138160" y="1426464"/>
            <a:ext cx="228600" cy="228600"/>
          </a:xfrm>
          <a:prstGeom prst="ellipse">
            <a:avLst/>
          </a:prstGeom>
          <a:solidFill>
            <a:srgbClr val="4C7DE8"/>
          </a:solidFill>
          <a:ln w="7620">
            <a:solidFill>
              <a:srgbClr val="4C7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8485632" y="13258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LayoutV2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9692640" y="132588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20" dirty="0">
                <a:solidFill>
                  <a:srgbClr val="B8C8C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RT-DETR + Pointer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927848" y="2167128"/>
            <a:ext cx="3154680" cy="621792"/>
          </a:xfrm>
          <a:prstGeom prst="roundRect">
            <a:avLst>
              <a:gd name="adj" fmla="val 13235"/>
            </a:avLst>
          </a:prstGeom>
          <a:solidFill>
            <a:srgbClr val="17383E"/>
          </a:solidFill>
          <a:ln w="10160">
            <a:solidFill>
              <a:srgbClr val="2850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138160" y="2359152"/>
            <a:ext cx="228600" cy="228600"/>
          </a:xfrm>
          <a:prstGeom prst="ellipse">
            <a:avLst/>
          </a:prstGeom>
          <a:solidFill>
            <a:srgbClr val="7758C8"/>
          </a:solidFill>
          <a:ln w="7620">
            <a:solidFill>
              <a:srgbClr val="775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8485632" y="22585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Layout-L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9692640" y="225856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20" dirty="0">
                <a:solidFill>
                  <a:srgbClr val="B8C8C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RT-DETR-L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7927848" y="3099816"/>
            <a:ext cx="3154680" cy="621792"/>
          </a:xfrm>
          <a:prstGeom prst="roundRect">
            <a:avLst>
              <a:gd name="adj" fmla="val 13235"/>
            </a:avLst>
          </a:prstGeom>
          <a:solidFill>
            <a:srgbClr val="17383E"/>
          </a:solidFill>
          <a:ln w="10160">
            <a:solidFill>
              <a:srgbClr val="2850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8138160" y="3291840"/>
            <a:ext cx="228600" cy="228600"/>
          </a:xfrm>
          <a:prstGeom prst="ellipse">
            <a:avLst/>
          </a:prstGeom>
          <a:solidFill>
            <a:srgbClr val="F2B84B"/>
          </a:solidFill>
          <a:ln w="762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 txBox="1"/>
          <p:nvPr/>
        </p:nvSpPr>
        <p:spPr>
          <a:xfrm>
            <a:off x="8485632" y="31912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Seal Detector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9692640" y="3191256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20" dirty="0">
                <a:solidFill>
                  <a:srgbClr val="B8C8C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ResNet + FPN/PSE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7927848" y="4032504"/>
            <a:ext cx="3154680" cy="621792"/>
          </a:xfrm>
          <a:prstGeom prst="roundRect">
            <a:avLst>
              <a:gd name="adj" fmla="val 13235"/>
            </a:avLst>
          </a:prstGeom>
          <a:solidFill>
            <a:srgbClr val="17383E"/>
          </a:solidFill>
          <a:ln w="10160">
            <a:solidFill>
              <a:srgbClr val="2850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138160" y="4224528"/>
            <a:ext cx="228600" cy="228600"/>
          </a:xfrm>
          <a:prstGeom prst="ellipse">
            <a:avLst/>
          </a:prstGeom>
          <a:solidFill>
            <a:srgbClr val="0E8F83"/>
          </a:solidFill>
          <a:ln w="7620">
            <a:solidFill>
              <a:srgbClr val="0E8F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 txBox="1"/>
          <p:nvPr/>
        </p:nvSpPr>
        <p:spPr>
          <a:xfrm>
            <a:off x="8485632" y="41239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HSV Blob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9692640" y="4123944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20" dirty="0">
                <a:solidFill>
                  <a:srgbClr val="B8C8C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颜色与几何先验</a:t>
            </a:r>
            <a:endParaRPr lang="en-US" sz="920" dirty="0"/>
          </a:p>
        </p:txBody>
      </p:sp>
      <p:sp>
        <p:nvSpPr>
          <p:cNvPr id="30" name="Text 28"/>
          <p:cNvSpPr txBox="1"/>
          <p:nvPr/>
        </p:nvSpPr>
        <p:spPr>
          <a:xfrm>
            <a:off x="11192256" y="641908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5FD2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60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SEAL · MODEL ARCHITECTURE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三类模型覆盖不同视觉线索，颜色先验补充浅色印章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kern="0" spc="11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PENG SHUO · RISK ALGORITHM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749040" y="6455664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89999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模型参数：53.05M / 32.26M / 28.49M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201400" y="642823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2816352" cy="32461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58368" y="1417320"/>
            <a:ext cx="2816352" cy="100584"/>
          </a:xfrm>
          <a:prstGeom prst="rect">
            <a:avLst/>
          </a:prstGeom>
          <a:solidFill>
            <a:srgbClr val="4C7DE8"/>
          </a:solidFill>
          <a:ln w="10160">
            <a:solidFill>
              <a:srgbClr val="4C7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859536" y="1755648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PP-DocLayoutV2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77824" y="2304288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E8EEFC"/>
          </a:solidFill>
          <a:ln w="10160">
            <a:solidFill>
              <a:srgbClr val="E8EEF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969264" y="2395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C7D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RT-DETR + Pointer Network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77824" y="3090672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800×800｜23 类版面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77824" y="358444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C7D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主要贡献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618488" y="354787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标准版面与印章框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47872" y="2889504"/>
            <a:ext cx="182880" cy="164592"/>
          </a:xfrm>
          <a:prstGeom prst="rightArrow">
            <a:avLst/>
          </a:prstGeom>
          <a:solidFill>
            <a:srgbClr val="D7E1DF"/>
          </a:solidFill>
          <a:ln w="12700">
            <a:solidFill>
              <a:srgbClr val="D7E1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3785616" y="1417320"/>
            <a:ext cx="2816352" cy="32461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3785616" y="1417320"/>
            <a:ext cx="2816352" cy="100584"/>
          </a:xfrm>
          <a:prstGeom prst="rect">
            <a:avLst/>
          </a:prstGeom>
          <a:solidFill>
            <a:srgbClr val="7758C8"/>
          </a:solidFill>
          <a:ln w="10160">
            <a:solidFill>
              <a:srgbClr val="775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3986784" y="1755648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PP-DocLayout-L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005072" y="2304288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EEE9FA"/>
          </a:solidFill>
          <a:ln w="10160">
            <a:solidFill>
              <a:srgbClr val="EEE9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 txBox="1"/>
          <p:nvPr/>
        </p:nvSpPr>
        <p:spPr>
          <a:xfrm>
            <a:off x="4096512" y="2395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758C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RT-DETR-L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005072" y="3090672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640×640｜23 类版面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005072" y="358444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7758C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主要贡献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745736" y="354787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实际主力检测信号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75120" y="2889504"/>
            <a:ext cx="182880" cy="164592"/>
          </a:xfrm>
          <a:prstGeom prst="rightArrow">
            <a:avLst/>
          </a:prstGeom>
          <a:solidFill>
            <a:srgbClr val="D7E1DF"/>
          </a:solidFill>
          <a:ln w="12700">
            <a:solidFill>
              <a:srgbClr val="D7E1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912864" y="1417320"/>
            <a:ext cx="2816352" cy="32461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912864" y="1417320"/>
            <a:ext cx="2816352" cy="100584"/>
          </a:xfrm>
          <a:prstGeom prst="rect">
            <a:avLst/>
          </a:prstGeom>
          <a:solidFill>
            <a:srgbClr val="F2B84B"/>
          </a:solidFill>
          <a:ln w="1016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 txBox="1"/>
          <p:nvPr/>
        </p:nvSpPr>
        <p:spPr>
          <a:xfrm>
            <a:off x="7114032" y="1755648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Seal Detector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132320" y="2304288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FF2D5"/>
          </a:solidFill>
          <a:ln w="10160">
            <a:solidFill>
              <a:srgbClr val="FFF2D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 txBox="1"/>
          <p:nvPr/>
        </p:nvSpPr>
        <p:spPr>
          <a:xfrm>
            <a:off x="7223760" y="2395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2B84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ResNet + FPN / PSE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132320" y="3090672"/>
            <a:ext cx="2377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动态长边 736｜弯曲文本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132320" y="358444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2B84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主要贡献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7872984" y="354787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圆形印章文字碎片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040112" y="1417320"/>
            <a:ext cx="1499616" cy="3246120"/>
          </a:xfrm>
          <a:prstGeom prst="roundRect">
            <a:avLst>
              <a:gd name="adj" fmla="val 8537"/>
            </a:avLst>
          </a:prstGeom>
          <a:solidFill>
            <a:srgbClr val="0B1F26"/>
          </a:solidFill>
          <a:ln w="10160">
            <a:solidFill>
              <a:srgbClr val="0B1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 txBox="1"/>
          <p:nvPr/>
        </p:nvSpPr>
        <p:spPr>
          <a:xfrm>
            <a:off x="10332720" y="18105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5FD2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HSV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10277856" y="2432304"/>
            <a:ext cx="10241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双红区间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形态学去噪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连通域面积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10241280" y="390448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2B84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补浅色章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353312" y="5093208"/>
            <a:ext cx="9491472" cy="594360"/>
          </a:xfrm>
          <a:prstGeom prst="roundRect">
            <a:avLst>
              <a:gd name="adj" fmla="val 15385"/>
            </a:avLst>
          </a:prstGeom>
          <a:solidFill>
            <a:srgbClr val="0B1F26"/>
          </a:solidFill>
          <a:ln w="10160">
            <a:solidFill>
              <a:srgbClr val="0B1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 txBox="1"/>
          <p:nvPr/>
        </p:nvSpPr>
        <p:spPr>
          <a:xfrm>
            <a:off x="1591056" y="52669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2B84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融合逻辑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2670048" y="523036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高分直接判有章  ｜  中分需 Seal/颜色确认  ｜  低分且无辅助信号判无章  ｜  其余进入 UNSURE</a:t>
            </a:r>
            <a:endParaRPr lang="en-US" sz="1220" dirty="0"/>
          </a:p>
        </p:txBody>
      </p:sp>
      <p:sp>
        <p:nvSpPr>
          <p:cNvPr id="40" name="Text 38"/>
          <p:cNvSpPr txBox="1"/>
          <p:nvPr/>
        </p:nvSpPr>
        <p:spPr>
          <a:xfrm>
            <a:off x="1280160" y="5989320"/>
            <a:ext cx="9646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20" b="1" dirty="0">
                <a:solidFill>
                  <a:srgbClr val="7758C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技术核心不是简单投票，而是让不同模型覆盖版面、弯曲文字与颜色三类互补证据。</a:t>
            </a:r>
            <a:endParaRPr lang="en-US" sz="12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60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SEAL · DECISION &amp; RESULT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选择性分类管理不确定性：先自动处理高置信样本，再升级难例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kern="0" spc="11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PENG SHUO · RISK ALGORITHM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201400" y="642823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444752"/>
            <a:ext cx="3163824" cy="2267712"/>
          </a:xfrm>
          <a:prstGeom prst="roundRect">
            <a:avLst>
              <a:gd name="adj" fmla="val 5242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77824" y="1737360"/>
            <a:ext cx="804672" cy="310896"/>
          </a:xfrm>
          <a:prstGeom prst="roundRect">
            <a:avLst>
              <a:gd name="adj" fmla="val 50000"/>
            </a:avLst>
          </a:prstGeom>
          <a:solidFill>
            <a:srgbClr val="E8EEFC"/>
          </a:solidFill>
          <a:ln w="10160">
            <a:solidFill>
              <a:srgbClr val="E8EEF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877824" y="1741932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C7D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Stage 1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2304288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整页三模型融合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987552" y="2916936"/>
            <a:ext cx="2505456" cy="457200"/>
          </a:xfrm>
          <a:prstGeom prst="roundRect">
            <a:avLst>
              <a:gd name="adj" fmla="val 16000"/>
            </a:avLst>
          </a:prstGeom>
          <a:solidFill>
            <a:srgbClr val="E8EEFC"/>
          </a:solidFill>
          <a:ln w="10160">
            <a:solidFill>
              <a:srgbClr val="E8EEF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 txBox="1"/>
          <p:nvPr/>
        </p:nvSpPr>
        <p:spPr>
          <a:xfrm>
            <a:off x="1097280" y="2999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7D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HAS / NO / UNSURE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86200" y="2468880"/>
            <a:ext cx="246888" cy="182880"/>
          </a:xfrm>
          <a:prstGeom prst="rightArrow">
            <a:avLst/>
          </a:prstGeom>
          <a:solidFill>
            <a:srgbClr val="D7E1DF"/>
          </a:solidFill>
          <a:ln w="12700">
            <a:solidFill>
              <a:srgbClr val="D7E1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206240" y="1444752"/>
            <a:ext cx="3163824" cy="2267712"/>
          </a:xfrm>
          <a:prstGeom prst="roundRect">
            <a:avLst>
              <a:gd name="adj" fmla="val 5242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425696" y="1737360"/>
            <a:ext cx="804672" cy="310896"/>
          </a:xfrm>
          <a:prstGeom prst="roundRect">
            <a:avLst>
              <a:gd name="adj" fmla="val 50000"/>
            </a:avLst>
          </a:prstGeom>
          <a:solidFill>
            <a:srgbClr val="EEE9FA"/>
          </a:solidFill>
          <a:ln w="10160">
            <a:solidFill>
              <a:srgbClr val="EEE9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 txBox="1"/>
          <p:nvPr/>
        </p:nvSpPr>
        <p:spPr>
          <a:xfrm>
            <a:off x="4425696" y="1741932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758C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Stage 2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425696" y="2304288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 块切分，15% 重叠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535424" y="2916936"/>
            <a:ext cx="2505456" cy="457200"/>
          </a:xfrm>
          <a:prstGeom prst="roundRect">
            <a:avLst>
              <a:gd name="adj" fmla="val 16000"/>
            </a:avLst>
          </a:prstGeom>
          <a:solidFill>
            <a:srgbClr val="EEE9FA"/>
          </a:solidFill>
          <a:ln w="10160">
            <a:solidFill>
              <a:srgbClr val="EEE9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4645152" y="2999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7758C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放大小印章占比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34072" y="2468880"/>
            <a:ext cx="246888" cy="182880"/>
          </a:xfrm>
          <a:prstGeom prst="rightArrow">
            <a:avLst/>
          </a:prstGeom>
          <a:solidFill>
            <a:srgbClr val="D7E1DF"/>
          </a:solidFill>
          <a:ln w="12700">
            <a:solidFill>
              <a:srgbClr val="D7E1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7754112" y="1444752"/>
            <a:ext cx="3163824" cy="2267712"/>
          </a:xfrm>
          <a:prstGeom prst="roundRect">
            <a:avLst>
              <a:gd name="adj" fmla="val 5242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7973568" y="1737360"/>
            <a:ext cx="804672" cy="310896"/>
          </a:xfrm>
          <a:prstGeom prst="roundRect">
            <a:avLst>
              <a:gd name="adj" fmla="val 50000"/>
            </a:avLst>
          </a:prstGeom>
          <a:solidFill>
            <a:srgbClr val="DDF5F1"/>
          </a:solidFill>
          <a:ln w="10160">
            <a:solidFill>
              <a:srgbClr val="DDF5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 txBox="1"/>
          <p:nvPr/>
        </p:nvSpPr>
        <p:spPr>
          <a:xfrm>
            <a:off x="7973568" y="1741932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Stage 3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973568" y="2304288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每批 5 页 VLM 复核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8083296" y="2916936"/>
            <a:ext cx="2505456" cy="457200"/>
          </a:xfrm>
          <a:prstGeom prst="roundRect">
            <a:avLst>
              <a:gd name="adj" fmla="val 16000"/>
            </a:avLst>
          </a:prstGeom>
          <a:solidFill>
            <a:srgbClr val="DDF5F1"/>
          </a:solidFill>
          <a:ln w="10160">
            <a:solidFill>
              <a:srgbClr val="DDF5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 txBox="1"/>
          <p:nvPr/>
        </p:nvSpPr>
        <p:spPr>
          <a:xfrm>
            <a:off x="8193024" y="2999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消解剩余 UNSURE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" y="4169664"/>
            <a:ext cx="3886200" cy="1280160"/>
          </a:xfrm>
          <a:prstGeom prst="roundRect">
            <a:avLst>
              <a:gd name="adj" fmla="val 8571"/>
            </a:avLst>
          </a:prstGeom>
          <a:solidFill>
            <a:srgbClr val="0B1F26"/>
          </a:solidFill>
          <a:ln w="10160">
            <a:solidFill>
              <a:srgbClr val="0B1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 txBox="1"/>
          <p:nvPr/>
        </p:nvSpPr>
        <p:spPr>
          <a:xfrm>
            <a:off x="960120" y="444398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5FD2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100%</a:t>
            </a:r>
            <a:endParaRPr lang="en-US" sz="2900" dirty="0"/>
          </a:p>
        </p:txBody>
      </p:sp>
      <p:sp>
        <p:nvSpPr>
          <p:cNvPr id="29" name="Text 27"/>
          <p:cNvSpPr txBox="1"/>
          <p:nvPr/>
        </p:nvSpPr>
        <p:spPr>
          <a:xfrm>
            <a:off x="960120" y="495604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B8C8C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2514600" y="444398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2B84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98.94%</a:t>
            </a:r>
            <a:endParaRPr lang="en-US" sz="2900" dirty="0"/>
          </a:p>
        </p:txBody>
      </p:sp>
      <p:sp>
        <p:nvSpPr>
          <p:cNvPr id="31" name="Text 29"/>
          <p:cNvSpPr txBox="1"/>
          <p:nvPr/>
        </p:nvSpPr>
        <p:spPr>
          <a:xfrm>
            <a:off x="2944368" y="495604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B8C8C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Recall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92040" y="4169664"/>
            <a:ext cx="6647688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 txBox="1"/>
          <p:nvPr/>
        </p:nvSpPr>
        <p:spPr>
          <a:xfrm>
            <a:off x="5212080" y="442569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模型贡献分析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212080" y="4818888"/>
            <a:ext cx="4041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b="1" dirty="0">
                <a:solidFill>
                  <a:srgbClr val="7758C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Layout-L 覆盖约 98.5% 的有章检出；V2 独立贡献约 0.2%</a:t>
            </a:r>
            <a:endParaRPr lang="en-US" sz="1180" dirty="0"/>
          </a:p>
        </p:txBody>
      </p:sp>
      <p:sp>
        <p:nvSpPr>
          <p:cNvPr id="35" name="Text 33"/>
          <p:cNvSpPr txBox="1"/>
          <p:nvPr/>
        </p:nvSpPr>
        <p:spPr>
          <a:xfrm>
            <a:off x="5212080" y="5166360"/>
            <a:ext cx="5779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下一步：用数据驱动的轻量融合器替代手工阈值，并评估单模型微调。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1170432" y="5989320"/>
            <a:ext cx="9829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E968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* Precision / Recall 为高置信自动处理子集口径，正式答辩前与 97.62% 版本统一。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" y="640080"/>
            <a:ext cx="1847088" cy="310896"/>
          </a:xfrm>
          <a:prstGeom prst="roundRect">
            <a:avLst>
              <a:gd name="adj" fmla="val 50000"/>
            </a:avLst>
          </a:prstGeom>
          <a:solidFill>
            <a:srgbClr val="143B3B"/>
          </a:solidFill>
          <a:ln w="10160">
            <a:solidFill>
              <a:srgbClr val="143B3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 txBox="1"/>
          <p:nvPr/>
        </p:nvSpPr>
        <p:spPr>
          <a:xfrm>
            <a:off x="694944" y="644652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5FD2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· DOCUMENT TYPE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94944" y="1225296"/>
            <a:ext cx="4846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文书类型识别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956816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B8C8C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技术难度第三：核心是把稳定高频模式与长尾异常分开处理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94436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5FD2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07592" y="29260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级联架构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2944368"/>
            <a:ext cx="3337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0" dirty="0">
                <a:solidFill>
                  <a:srgbClr val="B8C8C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OCR 快路径 + VL 慢路径</a:t>
            </a:r>
            <a:endParaRPr lang="en-US" sz="114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91363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2B84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307592" y="389534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关键技术与结果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3913632"/>
            <a:ext cx="3337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0" dirty="0">
                <a:solidFill>
                  <a:srgbClr val="B8C8C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鲁棒标题匹配，Accuracy 99.99%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7479792" y="658368"/>
            <a:ext cx="4041648" cy="5413248"/>
          </a:xfrm>
          <a:prstGeom prst="roundRect">
            <a:avLst>
              <a:gd name="adj" fmla="val 4072"/>
            </a:avLst>
          </a:prstGeom>
          <a:solidFill>
            <a:srgbClr val="102C32"/>
          </a:solidFill>
          <a:ln w="10160">
            <a:solidFill>
              <a:srgbClr val="1D45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119872" y="1426464"/>
            <a:ext cx="2761488" cy="658368"/>
          </a:xfrm>
          <a:prstGeom prst="roundRect">
            <a:avLst>
              <a:gd name="adj" fmla="val 12500"/>
            </a:avLst>
          </a:prstGeom>
          <a:solidFill>
            <a:srgbClr val="17383E"/>
          </a:solidFill>
          <a:ln w="10160">
            <a:solidFill>
              <a:srgbClr val="2850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 txBox="1"/>
          <p:nvPr/>
        </p:nvSpPr>
        <p:spPr>
          <a:xfrm>
            <a:off x="8321040" y="15361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PP-OCRv6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802368" y="15361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≈269ms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363456" y="2157984"/>
            <a:ext cx="256032" cy="246888"/>
          </a:xfrm>
          <a:prstGeom prst="downArrow">
            <a:avLst/>
          </a:prstGeom>
          <a:solidFill>
            <a:srgbClr val="0E8F83"/>
          </a:solidFill>
          <a:ln w="12700">
            <a:solidFill>
              <a:srgbClr val="0E8F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119872" y="2633472"/>
            <a:ext cx="2761488" cy="658368"/>
          </a:xfrm>
          <a:prstGeom prst="roundRect">
            <a:avLst>
              <a:gd name="adj" fmla="val 12500"/>
            </a:avLst>
          </a:prstGeom>
          <a:solidFill>
            <a:srgbClr val="17383E"/>
          </a:solidFill>
          <a:ln w="10160">
            <a:solidFill>
              <a:srgbClr val="2850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8321040" y="2743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白名单匹配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802368" y="2743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C7D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 类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363456" y="3364992"/>
            <a:ext cx="256032" cy="246888"/>
          </a:xfrm>
          <a:prstGeom prst="downArrow">
            <a:avLst/>
          </a:prstGeom>
          <a:solidFill>
            <a:srgbClr val="0E8F83"/>
          </a:solidFill>
          <a:ln w="12700">
            <a:solidFill>
              <a:srgbClr val="0E8F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119872" y="3840480"/>
            <a:ext cx="2761488" cy="658368"/>
          </a:xfrm>
          <a:prstGeom prst="roundRect">
            <a:avLst>
              <a:gd name="adj" fmla="val 12500"/>
            </a:avLst>
          </a:prstGeom>
          <a:solidFill>
            <a:srgbClr val="17383E"/>
          </a:solidFill>
          <a:ln w="10160">
            <a:solidFill>
              <a:srgbClr val="2850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8321040" y="39502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VL 兜底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802368" y="39502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758C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≈12.6s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1192256" y="641908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5FD2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60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DOC TYPE · ARCHITECTURE &amp; RESULT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OCR 快路径 + VL 慢路径：用三层匹配抵抗标题噪声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kern="0" spc="11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PENG SHUO · RISK ALGORITHM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749040" y="6455664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89999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五批数万条人工标注评测｜主链路约 0.28s/条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201400" y="642823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938528" cy="1261872"/>
          </a:xfrm>
          <a:prstGeom prst="roundRect">
            <a:avLst>
              <a:gd name="adj" fmla="val 7971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408176" y="1627632"/>
            <a:ext cx="438912" cy="438912"/>
          </a:xfrm>
          <a:prstGeom prst="ellipse">
            <a:avLst/>
          </a:prstGeom>
          <a:solidFill>
            <a:srgbClr val="0E8F83"/>
          </a:solidFill>
          <a:ln w="7620">
            <a:solidFill>
              <a:srgbClr val="0E8F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408176" y="169164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185416"/>
            <a:ext cx="1609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8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PP-OCRv6</a:t>
            </a:r>
            <a:endParaRPr lang="en-US" sz="118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45973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全文识别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42616" y="1901952"/>
            <a:ext cx="182880" cy="146304"/>
          </a:xfrm>
          <a:prstGeom prst="rightArrow">
            <a:avLst/>
          </a:prstGeom>
          <a:solidFill>
            <a:srgbClr val="D7E1DF"/>
          </a:solidFill>
          <a:ln w="12700">
            <a:solidFill>
              <a:srgbClr val="D7E1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2898648" y="1417320"/>
            <a:ext cx="1938528" cy="1261872"/>
          </a:xfrm>
          <a:prstGeom prst="roundRect">
            <a:avLst>
              <a:gd name="adj" fmla="val 7971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3648456" y="1627632"/>
            <a:ext cx="438912" cy="438912"/>
          </a:xfrm>
          <a:prstGeom prst="ellipse">
            <a:avLst/>
          </a:prstGeom>
          <a:solidFill>
            <a:srgbClr val="4C7DE8"/>
          </a:solidFill>
          <a:ln w="7620">
            <a:solidFill>
              <a:srgbClr val="4C7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3648456" y="169164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2185416"/>
            <a:ext cx="1609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8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业务归一化</a:t>
            </a:r>
            <a:endParaRPr lang="en-US" sz="1180" dirty="0"/>
          </a:p>
        </p:txBody>
      </p:sp>
      <p:sp>
        <p:nvSpPr>
          <p:cNvPr id="17" name="Text 15"/>
          <p:cNvSpPr txBox="1"/>
          <p:nvPr/>
        </p:nvSpPr>
        <p:spPr>
          <a:xfrm>
            <a:off x="3063240" y="245973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繁简 / 同义词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82896" y="1901952"/>
            <a:ext cx="182880" cy="146304"/>
          </a:xfrm>
          <a:prstGeom prst="rightArrow">
            <a:avLst/>
          </a:prstGeom>
          <a:solidFill>
            <a:srgbClr val="D7E1DF"/>
          </a:solidFill>
          <a:ln w="12700">
            <a:solidFill>
              <a:srgbClr val="D7E1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5138928" y="1417320"/>
            <a:ext cx="1938528" cy="1261872"/>
          </a:xfrm>
          <a:prstGeom prst="roundRect">
            <a:avLst>
              <a:gd name="adj" fmla="val 7971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5888736" y="1627632"/>
            <a:ext cx="438912" cy="438912"/>
          </a:xfrm>
          <a:prstGeom prst="ellipse">
            <a:avLst/>
          </a:prstGeom>
          <a:solidFill>
            <a:srgbClr val="7758C8"/>
          </a:solidFill>
          <a:ln w="7620">
            <a:solidFill>
              <a:srgbClr val="775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5888736" y="169164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2185416"/>
            <a:ext cx="1609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8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鲁棒匹配</a:t>
            </a:r>
            <a:endParaRPr lang="en-US" sz="1180" dirty="0"/>
          </a:p>
        </p:txBody>
      </p:sp>
      <p:sp>
        <p:nvSpPr>
          <p:cNvPr id="23" name="Text 21"/>
          <p:cNvSpPr txBox="1"/>
          <p:nvPr/>
        </p:nvSpPr>
        <p:spPr>
          <a:xfrm>
            <a:off x="5303520" y="245973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编辑距离 + 锚点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123176" y="1901952"/>
            <a:ext cx="182880" cy="146304"/>
          </a:xfrm>
          <a:prstGeom prst="rightArrow">
            <a:avLst/>
          </a:prstGeom>
          <a:solidFill>
            <a:srgbClr val="D7E1DF"/>
          </a:solidFill>
          <a:ln w="12700">
            <a:solidFill>
              <a:srgbClr val="D7E1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7379208" y="1417320"/>
            <a:ext cx="1938528" cy="1261872"/>
          </a:xfrm>
          <a:prstGeom prst="roundRect">
            <a:avLst>
              <a:gd name="adj" fmla="val 7971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129016" y="1627632"/>
            <a:ext cx="438912" cy="438912"/>
          </a:xfrm>
          <a:prstGeom prst="ellipse">
            <a:avLst/>
          </a:prstGeom>
          <a:solidFill>
            <a:srgbClr val="F2B84B"/>
          </a:solidFill>
          <a:ln w="762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 txBox="1"/>
          <p:nvPr/>
        </p:nvSpPr>
        <p:spPr>
          <a:xfrm>
            <a:off x="8129016" y="169164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543800" y="2185416"/>
            <a:ext cx="1609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8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最长匹配</a:t>
            </a:r>
            <a:endParaRPr lang="en-US" sz="1180" dirty="0"/>
          </a:p>
        </p:txBody>
      </p:sp>
      <p:sp>
        <p:nvSpPr>
          <p:cNvPr id="29" name="Text 27"/>
          <p:cNvSpPr txBox="1"/>
          <p:nvPr/>
        </p:nvSpPr>
        <p:spPr>
          <a:xfrm>
            <a:off x="7543800" y="245973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冲突消解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363456" y="1901952"/>
            <a:ext cx="182880" cy="146304"/>
          </a:xfrm>
          <a:prstGeom prst="rightArrow">
            <a:avLst/>
          </a:prstGeom>
          <a:solidFill>
            <a:srgbClr val="D7E1DF"/>
          </a:solidFill>
          <a:ln w="12700">
            <a:solidFill>
              <a:srgbClr val="D7E1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9619488" y="1417320"/>
            <a:ext cx="1938528" cy="1261872"/>
          </a:xfrm>
          <a:prstGeom prst="roundRect">
            <a:avLst>
              <a:gd name="adj" fmla="val 7971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10369296" y="1627632"/>
            <a:ext cx="438912" cy="438912"/>
          </a:xfrm>
          <a:prstGeom prst="ellipse">
            <a:avLst/>
          </a:prstGeom>
          <a:solidFill>
            <a:srgbClr val="E9685B"/>
          </a:solidFill>
          <a:ln w="7620">
            <a:solidFill>
              <a:srgbClr val="E968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 txBox="1"/>
          <p:nvPr/>
        </p:nvSpPr>
        <p:spPr>
          <a:xfrm>
            <a:off x="10369296" y="169164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784080" y="2185416"/>
            <a:ext cx="1609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8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未命中</a:t>
            </a:r>
            <a:endParaRPr lang="en-US" sz="1180" dirty="0"/>
          </a:p>
        </p:txBody>
      </p:sp>
      <p:sp>
        <p:nvSpPr>
          <p:cNvPr id="35" name="Text 33"/>
          <p:cNvSpPr txBox="1"/>
          <p:nvPr/>
        </p:nvSpPr>
        <p:spPr>
          <a:xfrm>
            <a:off x="9784080" y="245973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VL 兜底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58368" y="3172968"/>
            <a:ext cx="3401568" cy="1344168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59536" y="3383280"/>
            <a:ext cx="155448" cy="155448"/>
          </a:xfrm>
          <a:prstGeom prst="ellipse">
            <a:avLst/>
          </a:prstGeom>
          <a:solidFill>
            <a:srgbClr val="4C7DE8"/>
          </a:solidFill>
          <a:ln w="7620">
            <a:solidFill>
              <a:srgbClr val="4C7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 txBox="1"/>
          <p:nvPr/>
        </p:nvSpPr>
        <p:spPr>
          <a:xfrm>
            <a:off x="1097280" y="3319272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自适应编辑距离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859536" y="3721608"/>
            <a:ext cx="299923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≤6 字精确；长标题按长度允许 k=1/2/3，容忍少量 OCR 错字。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389120" y="3172968"/>
            <a:ext cx="3401568" cy="1344168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4590288" y="3383280"/>
            <a:ext cx="155448" cy="155448"/>
          </a:xfrm>
          <a:prstGeom prst="ellipse">
            <a:avLst/>
          </a:prstGeom>
          <a:solidFill>
            <a:srgbClr val="7758C8"/>
          </a:solidFill>
          <a:ln w="7620">
            <a:solidFill>
              <a:srgbClr val="775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 txBox="1"/>
          <p:nvPr/>
        </p:nvSpPr>
        <p:spPr>
          <a:xfrm>
            <a:off x="4828032" y="3319272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锚点顺序匹配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590288" y="3721608"/>
            <a:ext cx="299923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长标题切 2-4 个锚点，保持顺序并容忍水印或拼图插字。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119872" y="3172968"/>
            <a:ext cx="3401568" cy="1344168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8321040" y="3383280"/>
            <a:ext cx="155448" cy="155448"/>
          </a:xfrm>
          <a:prstGeom prst="ellipse">
            <a:avLst/>
          </a:prstGeom>
          <a:solidFill>
            <a:srgbClr val="F2B84B"/>
          </a:solidFill>
          <a:ln w="762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 txBox="1"/>
          <p:nvPr/>
        </p:nvSpPr>
        <p:spPr>
          <a:xfrm>
            <a:off x="8558784" y="3319272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最长匹配优先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8321040" y="3721608"/>
            <a:ext cx="299923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同时收集候选，返回归一化后最长标题，避免短标题抢占。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58368" y="5001768"/>
            <a:ext cx="3986784" cy="786384"/>
          </a:xfrm>
          <a:prstGeom prst="roundRect">
            <a:avLst>
              <a:gd name="adj" fmla="val 12791"/>
            </a:avLst>
          </a:prstGeom>
          <a:solidFill>
            <a:srgbClr val="0B1F26"/>
          </a:solidFill>
          <a:ln w="10160">
            <a:solidFill>
              <a:srgbClr val="0B1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 txBox="1"/>
          <p:nvPr/>
        </p:nvSpPr>
        <p:spPr>
          <a:xfrm>
            <a:off x="914400" y="5175504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B8C8C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94.59%</a:t>
            </a:r>
            <a:endParaRPr lang="en-US" sz="2200" dirty="0"/>
          </a:p>
        </p:txBody>
      </p:sp>
      <p:sp>
        <p:nvSpPr>
          <p:cNvPr id="50" name="Shape 48"/>
          <p:cNvSpPr/>
          <p:nvPr/>
        </p:nvSpPr>
        <p:spPr>
          <a:xfrm>
            <a:off x="2240280" y="5266944"/>
            <a:ext cx="438912" cy="173736"/>
          </a:xfrm>
          <a:prstGeom prst="rightArrow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 txBox="1"/>
          <p:nvPr/>
        </p:nvSpPr>
        <p:spPr>
          <a:xfrm>
            <a:off x="2816352" y="517550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5FD2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99.99%</a:t>
            </a:r>
            <a:endParaRPr lang="en-US" sz="2200" dirty="0"/>
          </a:p>
        </p:txBody>
      </p:sp>
      <p:sp>
        <p:nvSpPr>
          <p:cNvPr id="52" name="Text 50"/>
          <p:cNvSpPr txBox="1"/>
          <p:nvPr/>
        </p:nvSpPr>
        <p:spPr>
          <a:xfrm>
            <a:off x="914400" y="555040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B8C8C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Accuracy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983480" y="5001768"/>
            <a:ext cx="2240280" cy="786384"/>
          </a:xfrm>
          <a:prstGeom prst="roundRect">
            <a:avLst>
              <a:gd name="adj" fmla="val 12791"/>
            </a:avLst>
          </a:prstGeom>
          <a:solidFill>
            <a:srgbClr val="DDF5F1"/>
          </a:solidFill>
          <a:ln w="10160">
            <a:solidFill>
              <a:srgbClr val="DDF5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 txBox="1"/>
          <p:nvPr/>
        </p:nvSpPr>
        <p:spPr>
          <a:xfrm>
            <a:off x="5230368" y="51389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0.28s</a:t>
            </a:r>
            <a:endParaRPr lang="en-US" sz="2300" dirty="0"/>
          </a:p>
        </p:txBody>
      </p:sp>
      <p:sp>
        <p:nvSpPr>
          <p:cNvPr id="55" name="Text 53"/>
          <p:cNvSpPr txBox="1"/>
          <p:nvPr/>
        </p:nvSpPr>
        <p:spPr>
          <a:xfrm>
            <a:off x="5230368" y="553212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主链路单条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7516368" y="5093208"/>
            <a:ext cx="3767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核心价值：稳定模式由确定性算法快速处理，长尾样本才购买更昂贵的模型能力。</a:t>
            </a:r>
            <a:endParaRPr lang="en-US" sz="1150" dirty="0"/>
          </a:p>
        </p:txBody>
      </p:sp>
      <p:sp>
        <p:nvSpPr>
          <p:cNvPr id="57" name="Text 55"/>
          <p:cNvSpPr txBox="1"/>
          <p:nvPr/>
        </p:nvSpPr>
        <p:spPr>
          <a:xfrm>
            <a:off x="7516368" y="5705856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E968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* 99.99% 正式答辩前补充总样本数、错误数与置信区间。</a:t>
            </a:r>
            <a:endParaRPr lang="en-US" sz="8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60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PRACTICE &amp; OTHER OUTPUT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技术路线由风险、吞吐与确定性共同决定，而不是统一使用大模型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kern="0" spc="11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PENG SHUO · RISK ALGORITHM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749040" y="6455664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89999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电话号码校验作为其他产出简述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201400" y="642823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690372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58368" y="1417320"/>
            <a:ext cx="82296" cy="658368"/>
          </a:xfrm>
          <a:prstGeom prst="rect">
            <a:avLst/>
          </a:prstGeom>
          <a:solidFill>
            <a:srgbClr val="0E8F83"/>
          </a:solidFill>
          <a:ln w="10160">
            <a:solidFill>
              <a:srgbClr val="0E8F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932688" y="15270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清晰度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011680" y="150876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VLM 微调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712464" y="1508760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需要学习主观序数标尺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658368" y="2286000"/>
            <a:ext cx="690372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58368" y="2286000"/>
            <a:ext cx="82296" cy="658368"/>
          </a:xfrm>
          <a:prstGeom prst="rect">
            <a:avLst/>
          </a:prstGeom>
          <a:solidFill>
            <a:srgbClr val="7758C8"/>
          </a:solidFill>
          <a:ln w="10160">
            <a:solidFill>
              <a:srgbClr val="775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 txBox="1"/>
          <p:nvPr/>
        </p:nvSpPr>
        <p:spPr>
          <a:xfrm>
            <a:off x="932688" y="23957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7758C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印章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23774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多模型 + VLM 复核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712464" y="2377440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视觉证据互补且漏检成本高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658368" y="3154680"/>
            <a:ext cx="690372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58368" y="3154680"/>
            <a:ext cx="82296" cy="658368"/>
          </a:xfrm>
          <a:prstGeom prst="rect">
            <a:avLst/>
          </a:prstGeom>
          <a:solidFill>
            <a:srgbClr val="4C7DE8"/>
          </a:solidFill>
          <a:ln w="10160">
            <a:solidFill>
              <a:srgbClr val="4C7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932688" y="32644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4C7D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文书类型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011680" y="324612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OCR 规则 + VL 兜底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712464" y="3246120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高频稳定、长尾复杂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658368" y="4023360"/>
            <a:ext cx="690372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58368" y="4023360"/>
            <a:ext cx="82296" cy="658368"/>
          </a:xfrm>
          <a:prstGeom prst="rect">
            <a:avLst/>
          </a:prstGeom>
          <a:solidFill>
            <a:srgbClr val="F2B84B"/>
          </a:solidFill>
          <a:ln w="1016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 txBox="1"/>
          <p:nvPr/>
        </p:nvSpPr>
        <p:spPr>
          <a:xfrm>
            <a:off x="932688" y="4133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2B84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电话号码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011680" y="411480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正则 + 地理库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712464" y="4114800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高吞吐、可枚举、不能误拦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7936992" y="1417320"/>
            <a:ext cx="3611880" cy="3264408"/>
          </a:xfrm>
          <a:prstGeom prst="roundRect">
            <a:avLst>
              <a:gd name="adj" fmla="val 3922"/>
            </a:avLst>
          </a:prstGeom>
          <a:solidFill>
            <a:srgbClr val="0B1F26"/>
          </a:solidFill>
          <a:ln w="10160">
            <a:solidFill>
              <a:srgbClr val="0B1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 txBox="1"/>
          <p:nvPr/>
        </p:nvSpPr>
        <p:spPr>
          <a:xfrm>
            <a:off x="8247888" y="1719072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的三个高杠杆位置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84464" y="2340864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163B3C"/>
          </a:solidFill>
          <a:ln w="10160">
            <a:solidFill>
              <a:srgbClr val="163B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 txBox="1"/>
          <p:nvPr/>
        </p:nvSpPr>
        <p:spPr>
          <a:xfrm>
            <a:off x="8284464" y="234543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5FD2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探索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9125712" y="233172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B8C8C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快速验证假设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84464" y="2980944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163B3C"/>
          </a:solidFill>
          <a:ln w="10160">
            <a:solidFill>
              <a:srgbClr val="163B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 txBox="1"/>
          <p:nvPr/>
        </p:nvSpPr>
        <p:spPr>
          <a:xfrm>
            <a:off x="8284464" y="298551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2B84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路由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9125712" y="297180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B8C8C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处理高信息增益难例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284464" y="3621024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163B3C"/>
          </a:solidFill>
          <a:ln w="10160">
            <a:solidFill>
              <a:srgbClr val="163B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 txBox="1"/>
          <p:nvPr/>
        </p:nvSpPr>
        <p:spPr>
          <a:xfrm>
            <a:off x="8284464" y="362559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5FD2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沉淀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9125712" y="361188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B8C8C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转化为标签、规则与参数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8368" y="5038344"/>
            <a:ext cx="10881360" cy="685800"/>
          </a:xfrm>
          <a:prstGeom prst="roundRect">
            <a:avLst>
              <a:gd name="adj" fmla="val 14667"/>
            </a:avLst>
          </a:prstGeom>
          <a:solidFill>
            <a:srgbClr val="0B1F26"/>
          </a:solidFill>
          <a:ln w="10160">
            <a:solidFill>
              <a:srgbClr val="0B1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 txBox="1"/>
          <p:nvPr/>
        </p:nvSpPr>
        <p:spPr>
          <a:xfrm>
            <a:off x="914400" y="52395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2B84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电话号码校验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2304288" y="5202936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278,407 条规则验证：号码提取 → 归一化 → 区号补全 → 唯一候选才修复</a:t>
            </a:r>
            <a:endParaRPr lang="en-US" sz="1220" dirty="0"/>
          </a:p>
        </p:txBody>
      </p:sp>
      <p:sp>
        <p:nvSpPr>
          <p:cNvPr id="41" name="Text 39"/>
          <p:cNvSpPr txBox="1"/>
          <p:nvPr/>
        </p:nvSpPr>
        <p:spPr>
          <a:xfrm>
            <a:off x="9125712" y="5193792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dirty="0">
                <a:solidFill>
                  <a:srgbClr val="B8C8C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大模型不适合：成本高、输出不确定、难以满足误拦约束</a:t>
            </a:r>
            <a:endParaRPr lang="en-US" sz="980" dirty="0"/>
          </a:p>
        </p:txBody>
      </p:sp>
      <p:sp>
        <p:nvSpPr>
          <p:cNvPr id="42" name="Text 40"/>
          <p:cNvSpPr txBox="1"/>
          <p:nvPr/>
        </p:nvSpPr>
        <p:spPr>
          <a:xfrm>
            <a:off x="1280160" y="5998464"/>
            <a:ext cx="9646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最强模型不等于最佳系统；每种能力应只处理它最擅长、最划算、最可控的样本。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60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REFLECTION &amp; NEXT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最大的成长：从优化单点指标，转向用业务风险和数据闭环设计系统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kern="0" spc="11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PENG SHUO · RISK ALGORITHM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749040" y="6455664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89999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总结与展望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201400" y="642823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41732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E8F8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做得好的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847088"/>
            <a:ext cx="340156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59536" y="2057400"/>
            <a:ext cx="155448" cy="155448"/>
          </a:xfrm>
          <a:prstGeom prst="ellipse">
            <a:avLst/>
          </a:prstGeom>
          <a:solidFill>
            <a:srgbClr val="0E8F83"/>
          </a:solidFill>
          <a:ln w="7620">
            <a:solidFill>
              <a:srgbClr val="0E8F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 txBox="1"/>
          <p:nvPr/>
        </p:nvSpPr>
        <p:spPr>
          <a:xfrm>
            <a:off x="1097280" y="1993392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回到任务定义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2395728"/>
            <a:ext cx="2999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先判断监督信息是否存在，再决定校准、重标注或重建任务。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" y="3182112"/>
            <a:ext cx="340156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59536" y="3392424"/>
            <a:ext cx="155448" cy="155448"/>
          </a:xfrm>
          <a:prstGeom prst="ellipse">
            <a:avLst/>
          </a:prstGeom>
          <a:solidFill>
            <a:srgbClr val="4C7DE8"/>
          </a:solidFill>
          <a:ln w="7620">
            <a:solidFill>
              <a:srgbClr val="4C7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 txBox="1"/>
          <p:nvPr/>
        </p:nvSpPr>
        <p:spPr>
          <a:xfrm>
            <a:off x="1097280" y="3328416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实验驱动判断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" y="3730752"/>
            <a:ext cx="2999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用对照实验排除错误方向，避免只凭经验选择更大模型。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" y="4517136"/>
            <a:ext cx="340156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59536" y="4727448"/>
            <a:ext cx="155448" cy="155448"/>
          </a:xfrm>
          <a:prstGeom prst="ellipse">
            <a:avLst/>
          </a:prstGeom>
          <a:solidFill>
            <a:srgbClr val="7758C8"/>
          </a:solidFill>
          <a:ln w="7620">
            <a:solidFill>
              <a:srgbClr val="7758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1097280" y="466344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构建决策闭环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59536" y="5065776"/>
            <a:ext cx="2999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将模型、规则、选择性路由、人审与难例回流统一设计。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407408" y="141732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968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需要提升的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07408" y="1847088"/>
            <a:ext cx="340156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4608576" y="2057400"/>
            <a:ext cx="155448" cy="155448"/>
          </a:xfrm>
          <a:prstGeom prst="ellipse">
            <a:avLst/>
          </a:prstGeom>
          <a:solidFill>
            <a:srgbClr val="E9685B"/>
          </a:solidFill>
          <a:ln w="7620">
            <a:solidFill>
              <a:srgbClr val="E9685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 txBox="1"/>
          <p:nvPr/>
        </p:nvSpPr>
        <p:spPr>
          <a:xfrm>
            <a:off x="4846320" y="1993392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实验前置设计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608576" y="2395728"/>
            <a:ext cx="2999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前期探索略散；后续先建立假设树、Benchmark 与停止条件。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407408" y="3182112"/>
            <a:ext cx="340156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4608576" y="3392424"/>
            <a:ext cx="155448" cy="155448"/>
          </a:xfrm>
          <a:prstGeom prst="ellipse">
            <a:avLst/>
          </a:prstGeom>
          <a:solidFill>
            <a:srgbClr val="F2B84B"/>
          </a:solidFill>
          <a:ln w="762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 txBox="1"/>
          <p:nvPr/>
        </p:nvSpPr>
        <p:spPr>
          <a:xfrm>
            <a:off x="4846320" y="3328416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指标版本治理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608576" y="3730752"/>
            <a:ext cx="2999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统一数据版本、评测子集和指标分母，避免结果口径漂移。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407408" y="4517136"/>
            <a:ext cx="340156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1DF"/>
            </a:solidFill>
            <a:prstDash val="solid"/>
          </a:ln>
          <a:effectLst>
            <a:outerShdw blurRad="25400" dist="50800" dir="8100000" algn="bl" rotWithShape="0">
              <a:srgbClr val="0B1F26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4608576" y="4727448"/>
            <a:ext cx="155448" cy="155448"/>
          </a:xfrm>
          <a:prstGeom prst="ellipse">
            <a:avLst/>
          </a:prstGeom>
          <a:solidFill>
            <a:srgbClr val="4C7DE8"/>
          </a:solidFill>
          <a:ln w="7620">
            <a:solidFill>
              <a:srgbClr val="4C7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 txBox="1"/>
          <p:nvPr/>
        </p:nvSpPr>
        <p:spPr>
          <a:xfrm>
            <a:off x="4846320" y="466344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泛化与校准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608576" y="5065776"/>
            <a:ext cx="2999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7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继续补充时间外测试、序数评测、概率校准与线上漂移监控。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156448" y="1417320"/>
            <a:ext cx="3383280" cy="4197096"/>
          </a:xfrm>
          <a:prstGeom prst="roundRect">
            <a:avLst>
              <a:gd name="adj" fmla="val 4324"/>
            </a:avLst>
          </a:prstGeom>
          <a:solidFill>
            <a:srgbClr val="0B1F26"/>
          </a:solidFill>
          <a:ln w="10160">
            <a:solidFill>
              <a:srgbClr val="0B1F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 txBox="1"/>
          <p:nvPr/>
        </p:nvSpPr>
        <p:spPr>
          <a:xfrm>
            <a:off x="8485632" y="17647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下一阶段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503920" y="2377440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163B3C"/>
          </a:solidFill>
          <a:ln w="10160">
            <a:solidFill>
              <a:srgbClr val="163B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 txBox="1"/>
          <p:nvPr/>
        </p:nvSpPr>
        <p:spPr>
          <a:xfrm>
            <a:off x="8503920" y="238201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5FD2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短期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9345168" y="2359152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B8C8C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统一指标口径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B8C8C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补齐 QWK / L4-5 Recall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503920" y="3337560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163B3C"/>
          </a:solidFill>
          <a:ln w="10160">
            <a:solidFill>
              <a:srgbClr val="163B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 txBox="1"/>
          <p:nvPr/>
        </p:nvSpPr>
        <p:spPr>
          <a:xfrm>
            <a:off x="8503920" y="334213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2B84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中期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9345168" y="3319272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B8C8C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主动学习高熵样本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B8C8C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序数目标与轻量融合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503920" y="4297680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163B3C"/>
          </a:solidFill>
          <a:ln w="10160">
            <a:solidFill>
              <a:srgbClr val="163B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 txBox="1"/>
          <p:nvPr/>
        </p:nvSpPr>
        <p:spPr>
          <a:xfrm>
            <a:off x="8503920" y="430225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长期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9345168" y="4279392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B8C8C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统一文档 Benchmark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B8C8C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多任务共享编码器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8485632" y="4910328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5FD2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不是换更大的模型，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5FD2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而是让系统更准、更轻、更持续。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566928"/>
            <a:ext cx="3520440" cy="5285232"/>
          </a:xfrm>
          <a:prstGeom prst="roundRect">
            <a:avLst>
              <a:gd name="adj" fmla="val 5714"/>
            </a:avLst>
          </a:prstGeom>
          <a:solidFill>
            <a:srgbClr val="102C32"/>
          </a:solidFill>
          <a:ln w="10160">
            <a:solidFill>
              <a:srgbClr val="1C45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8558784" y="1188720"/>
            <a:ext cx="164592" cy="164592"/>
          </a:xfrm>
          <a:prstGeom prst="ellipse">
            <a:avLst/>
          </a:prstGeom>
          <a:solidFill>
            <a:srgbClr val="19B8A3"/>
          </a:solidFill>
          <a:ln w="7620">
            <a:solidFill>
              <a:srgbClr val="19B8A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8659368" y="1353312"/>
            <a:ext cx="1115568" cy="640080"/>
          </a:xfrm>
          <a:prstGeom prst="line">
            <a:avLst/>
          </a:prstGeom>
          <a:noFill/>
          <a:ln w="15240">
            <a:solidFill>
              <a:srgbClr val="2E5C5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9875520" y="1993392"/>
            <a:ext cx="164592" cy="164592"/>
          </a:xfrm>
          <a:prstGeom prst="ellipse">
            <a:avLst/>
          </a:prstGeom>
          <a:solidFill>
            <a:srgbClr val="F2B84B"/>
          </a:solidFill>
          <a:ln w="762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976104" y="2157984"/>
            <a:ext cx="0" cy="640080"/>
          </a:xfrm>
          <a:prstGeom prst="line">
            <a:avLst/>
          </a:prstGeom>
          <a:noFill/>
          <a:ln w="15240">
            <a:solidFill>
              <a:srgbClr val="2E5C5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558784" y="2798064"/>
            <a:ext cx="164592" cy="164592"/>
          </a:xfrm>
          <a:prstGeom prst="ellipse">
            <a:avLst/>
          </a:prstGeom>
          <a:solidFill>
            <a:srgbClr val="19B8A3"/>
          </a:solidFill>
          <a:ln w="7620">
            <a:solidFill>
              <a:srgbClr val="19B8A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659368" y="2962656"/>
            <a:ext cx="1115568" cy="640080"/>
          </a:xfrm>
          <a:prstGeom prst="line">
            <a:avLst/>
          </a:prstGeom>
          <a:noFill/>
          <a:ln w="15240">
            <a:solidFill>
              <a:srgbClr val="2E5C5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9875520" y="3602736"/>
            <a:ext cx="164592" cy="164592"/>
          </a:xfrm>
          <a:prstGeom prst="ellipse">
            <a:avLst/>
          </a:prstGeom>
          <a:solidFill>
            <a:srgbClr val="F2B84B"/>
          </a:solidFill>
          <a:ln w="762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9976104" y="3767328"/>
            <a:ext cx="0" cy="640080"/>
          </a:xfrm>
          <a:prstGeom prst="line">
            <a:avLst/>
          </a:prstGeom>
          <a:noFill/>
          <a:ln w="15240">
            <a:solidFill>
              <a:srgbClr val="2E5C5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8558784" y="4407408"/>
            <a:ext cx="164592" cy="164592"/>
          </a:xfrm>
          <a:prstGeom prst="ellipse">
            <a:avLst/>
          </a:prstGeom>
          <a:solidFill>
            <a:srgbClr val="19B8A3"/>
          </a:solidFill>
          <a:ln w="7620">
            <a:solidFill>
              <a:srgbClr val="19B8A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713232" y="786384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143B3B"/>
          </a:solidFill>
          <a:ln w="10160">
            <a:solidFill>
              <a:srgbClr val="143B3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713232" y="790956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5FD2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SUMMARY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1508760"/>
            <a:ext cx="658368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让模型输出可解释</a:t>
            </a:r>
            <a:endParaRPr lang="en-US" sz="2700" dirty="0"/>
          </a:p>
          <a:p>
            <a:pPr marL="0" indent="0" algn="l">
              <a:lnSpc>
                <a:spcPct val="96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让不确定性可管理</a:t>
            </a:r>
            <a:endParaRPr lang="en-US" sz="2700" dirty="0"/>
          </a:p>
          <a:p>
            <a:pPr marL="0" indent="0" algn="l">
              <a:lnSpc>
                <a:spcPct val="96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让每次反馈都沉淀为系统能力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11480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kern="0" spc="200" dirty="0">
                <a:solidFill>
                  <a:srgbClr val="5FD2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THANKS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47731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2B84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Q&amp;A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583387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B8C8C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彭硕 · 华中科技大学 · 腾讯风控算法实习生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1201400" y="642823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5FD2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4159</Words>
  <Application>Microsoft Macintosh PowerPoint</Application>
  <PresentationFormat>宽屏</PresentationFormat>
  <Paragraphs>651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等线</vt:lpstr>
      <vt:lpstr>PingFang SC</vt:lpstr>
      <vt:lpstr>Arial</vt:lpstr>
      <vt:lpstr>Menlo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腾讯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从“模型可用”到“业务可信”：司法风控单据智能校验实践</dc:title>
  <dc:subject>腾讯风控算法实习答辩</dc:subject>
  <dc:creator>彭硕</dc:creator>
  <cp:lastModifiedBy>T210709</cp:lastModifiedBy>
  <cp:revision>2</cp:revision>
  <dcterms:created xsi:type="dcterms:W3CDTF">2026-08-17T09:06:50Z</dcterms:created>
  <dcterms:modified xsi:type="dcterms:W3CDTF">2026-08-17T12:42:00Z</dcterms:modified>
</cp:coreProperties>
</file>