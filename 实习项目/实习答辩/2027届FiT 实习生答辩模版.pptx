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5.xml" /><Relationship Id="rId1" Type="http://schemas.openxmlformats.org/officeDocument/2006/relationships/slideMaster" Target="slideMasters/slideMaster2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4.xml" /><Relationship Id="rId2" Type="http://schemas.openxmlformats.org/officeDocument/2006/relationships/slide" Target="slides/slide1.xml" /><Relationship Id="rId7" Type="http://schemas.openxmlformats.org/officeDocument/2006/relationships/tableStyles" Target="tableStyles.xml" /><Relationship Id="rId3" Type="http://schemas.openxmlformats.org/officeDocument/2006/relationships/slide" Target="slides/slide2.xml" /><Relationship Id="rId4" Type="http://schemas.openxmlformats.org/officeDocument/2006/relationships/slide" Target="slides/slide3.xml" /></Relationships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EA5F197D-F38D-44A1-AB91-036FD639EC85}" type="slidenum">
              <a:rPr lang="en-US" smtClean="false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kumimoji="true" lang="zh-CN" altLang="en-US" dirty="false"/>
          </a:p>
        </p:txBody>
      </p:sp>
      <p:sp>
        <p:nvSpPr>
          <p:cNvPr id="8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EA5F197D-F38D-44A1-AB91-036FD639EC85}" type="slidenum">
              <a:rPr lang="en-US" smtClean="false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kumimoji="true" lang="zh-CN" altLang="en-US" dirty="false"/>
          </a:p>
        </p:txBody>
      </p:sp>
      <p:sp>
        <p:nvSpPr>
          <p:cNvPr id="12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EA5F197D-F38D-44A1-AB91-036FD639EC85}" type="slidenum">
              <a:rPr lang="en-US" smtClean="false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_rels/slideLayout1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占位符 6"/>
          <p:cNvSpPr>
            <a:spLocks noGrp="true"/>
          </p:cNvSpPr>
          <p:nvPr>
            <p:ph type="body" idx="13"/>
          </p:nvPr>
        </p:nvSpPr>
        <p:spPr>
          <a:xfrm>
            <a:off x="508024" y="330257"/>
            <a:ext cx="11124869" cy="599545"/>
          </a:xfrm>
        </p:spPr>
        <p:txBody>
          <a:bodyPr/>
          <a:lstStyle>
            <a:lvl1pPr marL="0" indent="0">
              <a:buNone/>
              <a:defRPr sz="2025" b="true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true"/>
              <a:t>单击此处编辑母版文本样式</a:t>
            </a:r>
            <a:endParaRPr/>
          </a:p>
        </p:txBody>
      </p:sp>
    </p:spTree>
  </p:cSld>
  <p:clrMapOvr>
    <a:masterClrMapping/>
  </p:clrMapOvr>
  <p:transition advClick="false"/>
</p:sldLayout>
</file>

<file path=ppt/slideLayouts/slideLayout13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占位符 6"/>
          <p:cNvSpPr>
            <a:spLocks noGrp="true"/>
          </p:cNvSpPr>
          <p:nvPr>
            <p:ph type="body" idx="13"/>
          </p:nvPr>
        </p:nvSpPr>
        <p:spPr>
          <a:xfrm>
            <a:off x="508024" y="330257"/>
            <a:ext cx="11124869" cy="904398"/>
          </a:xfrm>
        </p:spPr>
        <p:txBody>
          <a:bodyPr/>
          <a:lstStyle>
            <a:lvl1pPr marL="0" indent="0">
              <a:buNone/>
              <a:defRPr sz="2000" b="true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true"/>
              <a:t>单击此处编辑母版文本样式</a:t>
            </a:r>
            <a:endParaRPr/>
          </a:p>
        </p:txBody>
      </p:sp>
      <p:sp>
        <p:nvSpPr>
          <p:cNvPr id="74" name="内容占位符 7"/>
          <p:cNvSpPr>
            <a:spLocks noGrp="true"/>
          </p:cNvSpPr>
          <p:nvPr>
            <p:ph sz="half" idx="1"/>
          </p:nvPr>
        </p:nvSpPr>
        <p:spPr>
          <a:xfrm>
            <a:off x="508024" y="1083076"/>
            <a:ext cx="11124869" cy="4527918"/>
          </a:xfrm>
        </p:spPr>
        <p:txBody>
          <a:bodyPr/>
          <a:lstStyle>
            <a:lvl1pPr marL="0" indent="0">
              <a:buNone/>
              <a:defRPr sz="1300" b="tru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zh-CN" altLang="en-US" noProof="true"/>
              <a:t>单击此处编辑母版文本样式</a:t>
            </a:r>
            <a:endParaRPr/>
          </a:p>
          <a:p>
            <a:pPr lvl="1"/>
            <a:r>
              <a:rPr lang="zh-CN" altLang="en-US" noProof="true"/>
              <a:t>第二级</a:t>
            </a:r>
            <a:endParaRPr/>
          </a:p>
          <a:p>
            <a:pPr lvl="2"/>
            <a:r>
              <a:rPr lang="zh-CN" altLang="en-US" noProof="true"/>
              <a:t>第三级</a:t>
            </a:r>
            <a:endParaRPr/>
          </a:p>
          <a:p>
            <a:pPr lvl="3"/>
            <a:r>
              <a:rPr lang="zh-CN" altLang="en-US" noProof="true"/>
              <a:t>第四级</a:t>
            </a:r>
            <a:endParaRPr/>
          </a:p>
          <a:p>
            <a:pPr lvl="4"/>
            <a:r>
              <a:rPr lang="zh-CN" altLang="en-US" noProof="true"/>
              <a:t>第五级</a:t>
            </a:r>
            <a:endParaRPr/>
          </a:p>
        </p:txBody>
      </p:sp>
    </p:spTree>
  </p:cSld>
  <p:clrMapOvr>
    <a:masterClrMapping/>
  </p:clrMapOvr>
  <p:transition advClick="false"/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/Relationships>
</file>

<file path=ppt/slideMasters/_rels/slideMaster2.xml.rels><?xml version="1.0" encoding="UTF-8" standalone="yes"?><Relationships xmlns="http://schemas.openxmlformats.org/package/2006/relationships"><Relationship Id="rId3" Type="http://schemas.openxmlformats.org/officeDocument/2006/relationships/image" Target="media/image1.png" /><Relationship Id="rId2" Type="http://schemas.openxmlformats.org/officeDocument/2006/relationships/theme" Target="../theme/theme2.xml" /><Relationship Id="rId0" Type="http://schemas.openxmlformats.org/officeDocument/2006/relationships/slideLayout" Target="../slideLayouts/slideLayout12.xml" /><Relationship Id="rId1" Type="http://schemas.openxmlformats.org/officeDocument/2006/relationships/slideLayout" Target="../slideLayouts/slideLayout1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true"/>
          </p:cNvSpPr>
          <p:nvPr>
            <p:ph type="title"/>
          </p:nvPr>
        </p:nvSpPr>
        <p:spPr>
          <a:xfrm>
            <a:off x="838200" y="366184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4724400" y="6356350"/>
            <a:ext cx="2743200" cy="366182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A75453A2-1481-445F-BF00-2B9BCB57E56B}" type="slidenum">
              <a:rPr lang="en-US" smtClean="false"/>
              <a:t>‹#›</a:t>
            </a:fld>
            <a:endParaRPr lang="en-US"/>
          </a:p>
        </p:txBody>
      </p:sp>
      <p:pic>
        <p:nvPicPr>
          <p:cNvPr id="11" name="图片 2" descr="1111"/>
          <p:cNvPicPr>
            <a:picLocks noChangeAspect="true"/>
          </p:cNvPicPr>
          <p:nvPr userDrawn="true"/>
        </p:nvPicPr>
        <p:blipFill>
          <a:blip r:embed="rId3"/>
          <a:stretch>
            <a:fillRect/>
          </a:stretch>
        </p:blipFill>
        <p:spPr>
          <a:xfrm>
            <a:off x="10144760" y="6461760"/>
            <a:ext cx="1517226" cy="2328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0"/>
    <p:sldLayoutId id="2147483662" r:id="rId1"/>
  </p:sldLayoutIdLst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2.xml" /><Relationship Id="rId3" Type="http://schemas.openxmlformats.org/officeDocument/2006/relationships/image" Target="media/image3.png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3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3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4.jpg" /><Relationship Id="rId0" Type="http://schemas.openxmlformats.org/officeDocument/2006/relationships/slideLayout" Target="../slideLayouts/slideLayout13.xml" /><Relationship Id="rId1" Type="http://schemas.openxmlformats.org/officeDocument/2006/relationships/notesSlide" Target="../notesSlides/notesSlide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false">
  <p:cSld>
    <p:bg>
      <p:bgPr>
        <a:solidFill>
          <a:srgbClr val="239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true"/>
          <p:nvPr/>
        </p:nvSpPr>
        <p:spPr>
          <a:xfrm rot="0" flipH="false" flipV="false">
            <a:off x="2023145" y="2039401"/>
            <a:ext cx="3725806" cy="199390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dist"/>
            <a:r>
              <a:rPr lang="en-US" altLang="zh-CN" sz="3200" b="true" dirty="false" err="true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FiT</a:t>
            </a:r>
            <a:r>
              <a:rPr lang="zh-CN" altLang="en-US" sz="3200" b="true" dirty="false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实习生留用答辩</a:t>
            </a:r>
            <a:endParaRPr lang="en-US" altLang="zh-CN" sz="3200" b="true" dirty="false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pPr/>
            <a:endParaRPr lang="en-US" altLang="zh-CN" sz="3200" b="true" dirty="false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pPr/>
            <a:r>
              <a:rPr lang="zh-CN" altLang="en-US" sz="3200" b="true" dirty="false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答辩人：</a:t>
            </a:r>
            <a:endParaRPr/>
          </a:p>
        </p:txBody>
      </p:sp>
      <p:pic>
        <p:nvPicPr>
          <p:cNvPr id="3" name="图片 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525" y="-15594"/>
            <a:ext cx="3593782" cy="6874013"/>
          </a:xfrm>
          <a:prstGeom prst="rect">
            <a:avLst/>
          </a:prstGeom>
        </p:spPr>
      </p:pic>
      <p:grpSp>
        <p:nvGrpSpPr>
          <p:cNvPr id="4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5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16"/>
          <p:cNvGrpSpPr/>
          <p:nvPr/>
        </p:nvGrpSpPr>
        <p:grpSpPr>
          <a:xfrm>
            <a:off x="1632888" y="718114"/>
            <a:ext cx="62924" cy="5222224"/>
            <a:chOff x="253672" y="443646"/>
            <a:chExt cx="47195" cy="3916872"/>
          </a:xfrm>
        </p:grpSpPr>
        <p:sp>
          <p:nvSpPr>
            <p:cNvPr id="11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2"/>
          <p:cNvGrpSpPr/>
          <p:nvPr/>
        </p:nvGrpSpPr>
        <p:grpSpPr>
          <a:xfrm>
            <a:off x="2926965" y="718114"/>
            <a:ext cx="62924" cy="5222224"/>
            <a:chOff x="253672" y="443646"/>
            <a:chExt cx="47195" cy="3916872"/>
          </a:xfrm>
        </p:grpSpPr>
        <p:sp>
          <p:nvSpPr>
            <p:cNvPr id="17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8"/>
          <p:cNvGrpSpPr/>
          <p:nvPr/>
        </p:nvGrpSpPr>
        <p:grpSpPr>
          <a:xfrm>
            <a:off x="4221041" y="718114"/>
            <a:ext cx="62924" cy="5222224"/>
            <a:chOff x="253672" y="443646"/>
            <a:chExt cx="47195" cy="3916872"/>
          </a:xfrm>
        </p:grpSpPr>
        <p:sp>
          <p:nvSpPr>
            <p:cNvPr id="23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40"/>
          <p:cNvGrpSpPr/>
          <p:nvPr/>
        </p:nvGrpSpPr>
        <p:grpSpPr>
          <a:xfrm>
            <a:off x="5515118" y="718114"/>
            <a:ext cx="62924" cy="5222224"/>
            <a:chOff x="253672" y="443646"/>
            <a:chExt cx="47195" cy="3916872"/>
          </a:xfrm>
        </p:grpSpPr>
        <p:sp>
          <p:nvSpPr>
            <p:cNvPr id="29" name="矩形 4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4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4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4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4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46"/>
          <p:cNvGrpSpPr/>
          <p:nvPr/>
        </p:nvGrpSpPr>
        <p:grpSpPr>
          <a:xfrm>
            <a:off x="6809192" y="718114"/>
            <a:ext cx="62924" cy="5222224"/>
            <a:chOff x="253672" y="443646"/>
            <a:chExt cx="47195" cy="3916872"/>
          </a:xfrm>
        </p:grpSpPr>
        <p:sp>
          <p:nvSpPr>
            <p:cNvPr id="35" name="矩形 4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4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4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5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5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58"/>
          <p:cNvGrpSpPr/>
          <p:nvPr/>
        </p:nvGrpSpPr>
        <p:grpSpPr>
          <a:xfrm>
            <a:off x="11461192" y="718114"/>
            <a:ext cx="62924" cy="5222224"/>
            <a:chOff x="253672" y="443646"/>
            <a:chExt cx="47195" cy="3916872"/>
          </a:xfrm>
        </p:grpSpPr>
        <p:sp>
          <p:nvSpPr>
            <p:cNvPr id="41" name="矩形 5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6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6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6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6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6" name="图片 1" descr="效果图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92" y="512861"/>
            <a:ext cx="2085232" cy="299704"/>
          </a:xfrm>
          <a:prstGeom prst="rect">
            <a:avLst/>
          </a:prstGeom>
        </p:spPr>
      </p:pic>
    </p:spTree>
  </p:cSld>
  <p:clrMapOvr>
    <a:masterClrMapping/>
  </p:clrMapOvr>
  <p:transition advClick="false"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Placeholder 1"/>
          <p:cNvSpPr>
            <a:spLocks noGrp="true"/>
          </p:cNvSpPr>
          <p:nvPr>
            <p:ph type="body" idx="13"/>
          </p:nvPr>
        </p:nvSpPr>
        <p:spPr>
          <a:xfrm rot="0" flipH="false" flipV="false">
            <a:off x="768350" y="364342"/>
            <a:ext cx="11124869" cy="425932"/>
          </a:xfrm>
        </p:spPr>
        <p:txBody>
          <a:bodyPr>
            <a:normAutofit fontScale="100000"/>
          </a:bodyPr>
          <a:lstStyle/>
          <a:p>
            <a:pPr/>
            <a:r>
              <a:rPr lang="zh-CN" altLang="en-US" dirty="false">
                <a:solidFill>
                  <a:srgbClr val="2392E4"/>
                </a:solidFill>
                <a:latin typeface="腾讯体 W7" panose="020C08030202040F0204" pitchFamily="34" charset="-122"/>
                <a:ea typeface="腾讯体 W7" panose="020C08030202040F0204" pitchFamily="34" charset="-122"/>
                <a:sym typeface="+mn-ea"/>
              </a:rPr>
              <a:t>答辩说明</a:t>
            </a:r>
            <a:endParaRPr/>
          </a:p>
        </p:txBody>
      </p:sp>
      <p:sp>
        <p:nvSpPr>
          <p:cNvPr id="49" name="TextBox 4"/>
          <p:cNvSpPr txBox="true"/>
          <p:nvPr/>
        </p:nvSpPr>
        <p:spPr>
          <a:xfrm rot="0" flipH="false" flipV="false">
            <a:off x="768350" y="1087917"/>
            <a:ext cx="10655300" cy="283210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marL="0"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1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、答辩评审时间为</a:t>
            </a: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25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分钟，</a:t>
            </a: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15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分钟个人陈述</a:t>
            </a: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+10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分钟评委提问，有计时员；</a:t>
            </a:r>
            <a:endParaRPr sz="1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  <a:p>
            <a:pPr marL="0"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2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、答辩同学可以邀请导师陪同参加答辩，但导师在现场仅作旁听，全程不发言；</a:t>
            </a:r>
            <a:endParaRPr/>
          </a:p>
          <a:p>
            <a:pPr marL="0"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3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、请同学按照答辩评审安排的时间提早</a:t>
            </a: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10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分钟在对应会议室门口等待；</a:t>
            </a:r>
            <a:endParaRPr sz="1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  <a:p>
            <a:pPr marL="0"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4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、答辩结果不做公开沟通，仅作为部门内留用的重要参考因素之一。</a:t>
            </a:r>
            <a:endParaRPr lang="en-US" sz="1866">
              <a:solidFill>
                <a:schemeClr val="tx1">
                  <a:alpha val="100000"/>
                </a:schemeClr>
              </a:solidFill>
              <a:latin typeface="TencentSans W3"/>
              <a:ea typeface="TencentSans W3"/>
            </a:endParaRPr>
          </a:p>
          <a:p>
            <a:pPr marL="0"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zh-CN" sz="1800" b="false" i="false" u="none" strike="noStrike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5</a:t>
            </a:r>
            <a:r>
              <a:rPr lang="zh-CN" sz="1800" b="false" i="false" u="none" strike="noStrike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、</a:t>
            </a:r>
            <a:r>
              <a:rPr lang="zh-CN" sz="1800" b="false" i="false" u="none" strike="noStrike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 </a:t>
            </a:r>
            <a:r>
              <a:rPr lang="zh-CN" sz="1800" b="false" i="false" u="none" strike="noStrike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答辩材料格式统一为</a:t>
            </a:r>
            <a:r>
              <a:rPr lang="zh-CN" sz="1800" b="false" i="false" u="none" strike="noStrike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PPT</a:t>
            </a:r>
            <a:r>
              <a:rPr lang="zh-CN" sz="1800" b="false" i="false" u="none" strike="noStrike">
                <a:solidFill>
                  <a:schemeClr val="tx1">
                    <a:alpha val="100000"/>
                  </a:schemeClr>
                </a:solidFill>
                <a:latin typeface="TencentSans W3"/>
                <a:ea typeface="TencentSans W3"/>
              </a:rPr>
              <a:t>，请按下页“答辩内容目录”进行准备</a:t>
            </a:r>
            <a:endParaRPr/>
          </a:p>
        </p:txBody>
      </p:sp>
    </p:spTree>
  </p:cSld>
  <p:clrMapOvr>
    <a:masterClrMapping/>
  </p:clrMapOvr>
  <p:transition advClick="false"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true"/>
          <p:nvPr/>
        </p:nvSpPr>
        <p:spPr>
          <a:xfrm rot="0" flipH="false" flipV="false">
            <a:off x="781050" y="914400"/>
            <a:ext cx="10629900" cy="5029200"/>
          </a:xfrm>
          <a:prstGeom prst="rect"/>
        </p:spPr>
        <p:txBody>
          <a:bodyPr>
            <a:spAutoFit/>
          </a:bodyPr>
          <a:p>
            <a:pPr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 b="false">
                <a:solidFill>
                  <a:schemeClr val="tx1">
                    <a:alpha val="100000"/>
                  </a:schemeClr>
                </a:solidFill>
                <a:latin typeface="TencentSans W7"/>
                <a:ea typeface="TencentSans W7"/>
              </a:rPr>
              <a:t>1. </a:t>
            </a:r>
            <a:r>
              <a:rPr lang="zh-CN" sz="1800" b="false">
                <a:solidFill>
                  <a:schemeClr val="tx1">
                    <a:alpha val="100000"/>
                  </a:schemeClr>
                </a:solidFill>
                <a:latin typeface="TencentSans W7"/>
                <a:ea typeface="TencentSans W7"/>
              </a:rPr>
              <a:t>自我介绍：</a:t>
            </a:r>
            <a:r>
              <a:rPr sz="1800">
                <a:solidFill>
                  <a:srgbClr val="1F2329">
                    <a:alpha val="100000"/>
                  </a:srgbClr>
                </a:solidFill>
                <a:latin typeface="TencentSans W3"/>
                <a:ea typeface="TencentSans W3"/>
              </a:rPr>
              <a:t>个人</a:t>
            </a:r>
            <a:r>
              <a:rPr sz="1800">
                <a:solidFill>
                  <a:srgbClr val="1F2329">
                    <a:alpha val="100000"/>
                  </a:srgbClr>
                </a:solidFill>
                <a:latin typeface="TencentSans W3"/>
                <a:ea typeface="TencentSans W3"/>
              </a:rPr>
              <a:t>基础信息、</a:t>
            </a:r>
            <a:r>
              <a:rPr sz="1800">
                <a:solidFill>
                  <a:srgbClr val="1F2329">
                    <a:alpha val="100000"/>
                  </a:srgbClr>
                </a:solidFill>
                <a:latin typeface="TencentSans W3"/>
                <a:ea typeface="TencentSans W3"/>
              </a:rPr>
              <a:t>学校专业信息、在校经历等</a:t>
            </a:r>
            <a:endParaRPr/>
          </a:p>
          <a:p>
            <a:pPr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 b="fals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2. </a:t>
            </a:r>
            <a:r>
              <a:rPr sz="1800" b="fals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工作内容与产出</a:t>
            </a:r>
            <a:r>
              <a:rPr lang="zh-CN" sz="1800" b="fals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：</a:t>
            </a:r>
            <a:r>
              <a:rPr sz="1800">
                <a:solidFill>
                  <a:srgbClr val="333333">
                    <a:alpha val="100000"/>
                  </a:srgbClr>
                </a:solidFill>
                <a:latin typeface="TencentSans W3"/>
                <a:ea typeface="TencentSans W3"/>
              </a:rPr>
              <a:t>实习期间你所负责的主要工作，聚焦1-2 个主导/深度参与项目</a:t>
            </a:r>
            <a:endParaRPr/>
          </a:p>
          <a:p>
            <a:pPr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sz="1800">
                <a:solidFill>
                  <a:srgbClr val="333333">
                    <a:alpha val="100000"/>
                  </a:srgbClr>
                </a:solidFill>
                <a:latin typeface="TencentSans W3"/>
                <a:ea typeface="TencentSans W3"/>
              </a:rPr>
              <a:t>讲清：背景痛点与关键问题 → 你的工作思路 → 工作进展、产出与业务价值（数据量化） → 经验和方法论的总结</a:t>
            </a:r>
            <a:endParaRPr sz="1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  <a:p>
            <a:pPr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 b="false" i="false" u="none" strike="noStrik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3. </a:t>
            </a:r>
            <a:r>
              <a:rPr lang="zh-CN" sz="1800" b="false" i="false" u="none" strike="noStrik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AI 实践与思考</a:t>
            </a:r>
            <a:endParaRPr/>
          </a:p>
          <a:p>
            <a:pPr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sz="1800">
                <a:solidFill>
                  <a:srgbClr val="333333">
                    <a:alpha val="100000"/>
                  </a:srgbClr>
                </a:solidFill>
                <a:latin typeface="TencentSans W3"/>
                <a:ea typeface="TencentSans W3"/>
              </a:rPr>
              <a:t>分享你在实习期间如何用 AI 工具来帮自己提高工作效率、解决业务难题或驱动创新，以及在这个过程中，你总结出了哪些好用的经验和方法论</a:t>
            </a:r>
            <a:endParaRPr/>
          </a:p>
          <a:p>
            <a:pPr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lang="en-US" sz="1800" b="false" i="false" u="none" strike="noStrik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4. </a:t>
            </a:r>
            <a:r>
              <a:rPr lang="zh-CN" sz="1800" b="false" i="false" u="none" strike="noStrik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总</a:t>
            </a:r>
            <a:r>
              <a:rPr lang="zh-CN" sz="1800" b="false" i="false" u="none" strike="noStrik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结</a:t>
            </a:r>
            <a:r>
              <a:rPr lang="zh-CN" sz="1800" b="false" i="false" u="none" strike="noStrike">
                <a:solidFill>
                  <a:srgbClr val="1F2329">
                    <a:alpha val="100000"/>
                  </a:srgbClr>
                </a:solidFill>
                <a:latin typeface="TencentSans W7"/>
                <a:ea typeface="TencentSans W7"/>
              </a:rPr>
              <a:t>与展望</a:t>
            </a:r>
            <a:endParaRPr/>
          </a:p>
          <a:p>
            <a:pPr lvl="0" indent="0" algn="l" defTabSz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>
                    <a:alpha val="100000"/>
                  </a:schemeClr>
                </a:solidFill>
                <a:latin typeface="Arial"/>
                <a:ea typeface="Microsoft YaHei"/>
              </a:defRPr>
            </a:pPr>
            <a:r>
              <a:rPr sz="1800">
                <a:solidFill>
                  <a:srgbClr val="333333">
                    <a:alpha val="100000"/>
                  </a:srgbClr>
                </a:solidFill>
                <a:latin typeface="TencentSans W3"/>
                <a:ea typeface="TencentSans W3"/>
              </a:rPr>
              <a:t>实习期间的反思与收获</a:t>
            </a:r>
            <a:r>
              <a:rPr sz="1800">
                <a:solidFill>
                  <a:srgbClr val="333333">
                    <a:alpha val="100000"/>
                  </a:srgbClr>
                </a:solidFill>
                <a:latin typeface="TencentSans W3"/>
                <a:ea typeface="TencentSans W3"/>
              </a:rPr>
              <a:t>（做的好与不好的地方、进步与成长等）</a:t>
            </a:r>
            <a:r>
              <a:rPr sz="1800">
                <a:solidFill>
                  <a:srgbClr val="333333">
                    <a:alpha val="100000"/>
                  </a:srgbClr>
                </a:solidFill>
                <a:latin typeface="TencentSans W3"/>
                <a:ea typeface="TencentSans W3"/>
              </a:rPr>
              <a:t>、待提升点</a:t>
            </a:r>
            <a:r>
              <a:rPr sz="1800">
                <a:solidFill>
                  <a:srgbClr val="333333">
                    <a:alpha val="100000"/>
                  </a:srgbClr>
                </a:solidFill>
                <a:latin typeface="TencentSans W3"/>
                <a:ea typeface="TencentSans W3"/>
              </a:rPr>
              <a:t>与提升计划等</a:t>
            </a:r>
            <a:endParaRPr sz="1800">
              <a:solidFill>
                <a:schemeClr val="tx1">
                  <a:alpha val="100000"/>
                </a:schemeClr>
              </a:solidFill>
              <a:latin typeface="Arial"/>
              <a:ea typeface="Microsoft YaHei"/>
            </a:endParaRPr>
          </a:p>
        </p:txBody>
      </p:sp>
      <p:sp>
        <p:nvSpPr>
          <p:cNvPr id="52" name="Text Placeholder 1"/>
          <p:cNvSpPr txBox="true">
            <a:spLocks noGrp="true"/>
          </p:cNvSpPr>
          <p:nvPr/>
        </p:nvSpPr>
        <p:spPr>
          <a:xfrm rot="0" flipH="false" flipV="false">
            <a:off x="768350" y="364342"/>
            <a:ext cx="11124869" cy="425932"/>
          </a:xfrm>
          <a:prstGeom prst="rect">
            <a:avLst/>
          </a:prstGeom>
          <a:ln>
            <a:extLst/>
          </a:ln>
        </p:spPr>
        <p:txBody>
          <a:bodyPr vert="horz" lIns="91440" tIns="45720" rIns="91440" bIns="45720">
            <a:normAutofit fontScale="100000"/>
          </a:bodyPr>
          <a:lstStyle/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true">
                <a:solidFill>
                  <a:srgbClr val="259DEE">
                    <a:alpha val="100000"/>
                  </a:srgbClr>
                </a:solidFill>
                <a:latin typeface="Calibri"/>
                <a:ea typeface="等线"/>
                <a:cs typeface="+mn-cs"/>
              </a:defRPr>
            </a:pPr>
            <a:r>
              <a:rPr lang="zh-CN" sz="2000" b="true">
                <a:solidFill>
                  <a:srgbClr val="2392E4">
                    <a:alpha val="100000"/>
                  </a:srgbClr>
                </a:solidFill>
                <a:latin typeface="腾讯体 W7"/>
                <a:ea typeface="腾讯体 W7"/>
                <a:cs typeface="+mn-cs"/>
                <a:sym typeface="等线"/>
              </a:rPr>
              <a:t>答辩内容目录</a:t>
            </a:r>
            <a:endParaRPr/>
          </a:p>
        </p:txBody>
      </p:sp>
    </p:spTree>
  </p:cSld>
  <p:clrMapOvr>
    <a:masterClrMapping/>
  </p:clrMapOvr>
  <p:transition advClick="false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4"/>
          <p:cNvPicPr>
            <a:picLocks noChangeAspect="true" noChangeArrowheads="true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1402" y="1432578"/>
            <a:ext cx="6937374" cy="439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" name="Text Placeholder 1"/>
          <p:cNvSpPr txBox="true">
            <a:spLocks noGrp="true"/>
          </p:cNvSpPr>
          <p:nvPr/>
        </p:nvSpPr>
        <p:spPr>
          <a:xfrm rot="0" flipH="false" flipV="false">
            <a:off x="768350" y="364342"/>
            <a:ext cx="11124869" cy="425932"/>
          </a:xfrm>
          <a:prstGeom prst="rect">
            <a:avLst/>
          </a:prstGeom>
          <a:ln>
            <a:extLst/>
          </a:ln>
        </p:spPr>
        <p:txBody>
          <a:bodyPr vert="horz" lIns="91440" tIns="45720" rIns="91440" bIns="45720">
            <a:normAutofit fontScale="100000"/>
          </a:bodyPr>
          <a:lstStyle/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true">
                <a:solidFill>
                  <a:srgbClr val="259DEE">
                    <a:alpha val="100000"/>
                  </a:srgbClr>
                </a:solidFill>
                <a:latin typeface="Calibri"/>
                <a:ea typeface="等线"/>
                <a:cs typeface="+mn-cs"/>
              </a:defRPr>
            </a:pPr>
            <a:r>
              <a:rPr lang="zh-CN" sz="2000" b="true">
                <a:solidFill>
                  <a:srgbClr val="2392E4">
                    <a:alpha val="100000"/>
                  </a:srgbClr>
                </a:solidFill>
                <a:latin typeface="腾讯体 W7"/>
                <a:ea typeface="腾讯体 W7"/>
                <a:cs typeface="+mn-cs"/>
                <a:sym typeface="等线"/>
              </a:rPr>
              <a:t>评委提问和点评</a:t>
            </a:r>
            <a:endParaRPr/>
          </a:p>
        </p:txBody>
      </p:sp>
    </p:spTree>
  </p:cSld>
  <p:clrMapOvr>
    <a:masterClrMapping/>
  </p:clrMapOvr>
  <p:transition advClick="false"/>
</p:sld>
</file>

<file path=ppt/slides/slide5.xml><?xml version="1.0" encoding="utf-8"?>
<p:sld xmlns:a="http://schemas.openxmlformats.org/drawingml/2006/main" xmlns:p="http://schemas.openxmlformats.org/presentationml/2006/main" showMasterSp="false">
  <p:cSld>
    <p:bg>
      <p:bgPr>
        <a:solidFill>
          <a:srgbClr val="2392E4"/>
        </a:solid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框 5"/>
          <p:cNvSpPr txBox="true"/>
          <p:nvPr/>
        </p:nvSpPr>
        <p:spPr>
          <a:xfrm>
            <a:off x="4777332" y="2847970"/>
            <a:ext cx="2637902" cy="861774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dist"/>
            <a:r>
              <a:rPr lang="en-US" sz="4800" b="true" dirty="false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THANKS</a:t>
            </a:r>
            <a:endParaRPr/>
          </a:p>
        </p:txBody>
      </p:sp>
      <p:grpSp>
        <p:nvGrpSpPr>
          <p:cNvPr id="58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59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16"/>
          <p:cNvGrpSpPr/>
          <p:nvPr/>
        </p:nvGrpSpPr>
        <p:grpSpPr>
          <a:xfrm>
            <a:off x="1575154" y="718114"/>
            <a:ext cx="62650" cy="5222224"/>
            <a:chOff x="253672" y="443646"/>
            <a:chExt cx="47195" cy="3916872"/>
          </a:xfrm>
        </p:grpSpPr>
        <p:sp>
          <p:nvSpPr>
            <p:cNvPr id="65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22"/>
          <p:cNvGrpSpPr/>
          <p:nvPr/>
        </p:nvGrpSpPr>
        <p:grpSpPr>
          <a:xfrm>
            <a:off x="2811222" y="718114"/>
            <a:ext cx="62650" cy="5222224"/>
            <a:chOff x="253672" y="443646"/>
            <a:chExt cx="47195" cy="3916872"/>
          </a:xfrm>
        </p:grpSpPr>
        <p:sp>
          <p:nvSpPr>
            <p:cNvPr id="71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28"/>
          <p:cNvGrpSpPr/>
          <p:nvPr/>
        </p:nvGrpSpPr>
        <p:grpSpPr>
          <a:xfrm>
            <a:off x="4047292" y="718114"/>
            <a:ext cx="62650" cy="5222224"/>
            <a:chOff x="253672" y="443646"/>
            <a:chExt cx="47195" cy="3916872"/>
          </a:xfrm>
        </p:grpSpPr>
        <p:sp>
          <p:nvSpPr>
            <p:cNvPr id="77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1"/>
          <p:cNvGrpSpPr/>
          <p:nvPr/>
        </p:nvGrpSpPr>
        <p:grpSpPr>
          <a:xfrm>
            <a:off x="5283361" y="718114"/>
            <a:ext cx="62650" cy="5222224"/>
            <a:chOff x="253672" y="443646"/>
            <a:chExt cx="47195" cy="3916872"/>
          </a:xfrm>
        </p:grpSpPr>
        <p:sp>
          <p:nvSpPr>
            <p:cNvPr id="83" name="矩形 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9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14"/>
          <p:cNvGrpSpPr/>
          <p:nvPr/>
        </p:nvGrpSpPr>
        <p:grpSpPr>
          <a:xfrm>
            <a:off x="6519430" y="718114"/>
            <a:ext cx="62650" cy="5222224"/>
            <a:chOff x="253672" y="443646"/>
            <a:chExt cx="47195" cy="3916872"/>
          </a:xfrm>
        </p:grpSpPr>
        <p:sp>
          <p:nvSpPr>
            <p:cNvPr id="88" name="矩形 34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35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1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140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组合 141"/>
          <p:cNvGrpSpPr/>
          <p:nvPr/>
        </p:nvGrpSpPr>
        <p:grpSpPr>
          <a:xfrm>
            <a:off x="11463705" y="718114"/>
            <a:ext cx="62650" cy="5222224"/>
            <a:chOff x="253672" y="443646"/>
            <a:chExt cx="47195" cy="3916872"/>
          </a:xfrm>
        </p:grpSpPr>
        <p:sp>
          <p:nvSpPr>
            <p:cNvPr id="93" name="矩形 14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14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144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145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146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组合 180"/>
          <p:cNvGrpSpPr/>
          <p:nvPr/>
        </p:nvGrpSpPr>
        <p:grpSpPr>
          <a:xfrm>
            <a:off x="7755498" y="718961"/>
            <a:ext cx="62650" cy="5222224"/>
            <a:chOff x="253672" y="443646"/>
            <a:chExt cx="47195" cy="3916872"/>
          </a:xfrm>
        </p:grpSpPr>
        <p:sp>
          <p:nvSpPr>
            <p:cNvPr id="99" name="矩形 18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18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8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8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8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4" name="组合 186"/>
          <p:cNvGrpSpPr/>
          <p:nvPr/>
        </p:nvGrpSpPr>
        <p:grpSpPr>
          <a:xfrm>
            <a:off x="8991568" y="718961"/>
            <a:ext cx="62650" cy="5222224"/>
            <a:chOff x="253672" y="443646"/>
            <a:chExt cx="47195" cy="3916872"/>
          </a:xfrm>
        </p:grpSpPr>
        <p:sp>
          <p:nvSpPr>
            <p:cNvPr id="105" name="矩形 18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8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8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9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9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组合 192"/>
          <p:cNvGrpSpPr/>
          <p:nvPr/>
        </p:nvGrpSpPr>
        <p:grpSpPr>
          <a:xfrm>
            <a:off x="10227637" y="719808"/>
            <a:ext cx="62650" cy="5222224"/>
            <a:chOff x="253672" y="443646"/>
            <a:chExt cx="47195" cy="3916872"/>
          </a:xfrm>
        </p:grpSpPr>
        <p:sp>
          <p:nvSpPr>
            <p:cNvPr id="111" name="矩形 19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9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9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9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9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advClick="false"/>
</p:sld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2026-08-19T23:53:00Z</dcterms:created>
  <dcterms:modified xsi:type="dcterms:W3CDTF">2026-08-19T23:53:00Z</dcterms:modified>
</cp:coreProperties>
</file>