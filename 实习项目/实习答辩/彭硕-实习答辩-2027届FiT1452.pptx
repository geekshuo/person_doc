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0" r:id="rId21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58"/>
  </p:normalViewPr>
  <p:slideViewPr>
    <p:cSldViewPr snapToGrid="0">
      <p:cViewPr varScale="1">
        <p:scale>
          <a:sx n="93" d="100"/>
          <a:sy n="93" d="100"/>
        </p:scale>
        <p:origin x="24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2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F197D-F38D-44A1-AB91-036FD639EC8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8/20/26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8/20/26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8/20/26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8/20/26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8/20/26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8/20/26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8/20/26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8/20/26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8/20/26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8/20/26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8/20/26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599545"/>
          </a:xfrm>
        </p:spPr>
        <p:txBody>
          <a:bodyPr/>
          <a:lstStyle>
            <a:lvl1pPr marL="0" indent="0">
              <a:buNone/>
              <a:defRPr sz="2025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904398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74" name="内容占位符 7"/>
          <p:cNvSpPr>
            <a:spLocks noGrp="1"/>
          </p:cNvSpPr>
          <p:nvPr>
            <p:ph sz="half" idx="1"/>
          </p:nvPr>
        </p:nvSpPr>
        <p:spPr>
          <a:xfrm>
            <a:off x="508024" y="1083076"/>
            <a:ext cx="11124869" cy="4527918"/>
          </a:xfrm>
        </p:spPr>
        <p:txBody>
          <a:bodyPr/>
          <a:lstStyle>
            <a:lvl1pPr marL="0" indent="0"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8/20/26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6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453A2-1481-445F-BF00-2B9BCB57E56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图片 2" descr="1111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0144760" y="6461760"/>
            <a:ext cx="1517226" cy="232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/>
        </p:nvSpPr>
        <p:spPr>
          <a:xfrm>
            <a:off x="2023145" y="2039401"/>
            <a:ext cx="5669280" cy="173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FiT 实习生留用答辩</a:t>
            </a:r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答辩人：彭硕</a:t>
            </a:r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292525" y="-15594"/>
            <a:ext cx="3593782" cy="6874013"/>
          </a:xfrm>
          <a:prstGeom prst="rect">
            <a:avLst/>
          </a:prstGeom>
        </p:spPr>
      </p:pic>
      <p:grpSp>
        <p:nvGrpSpPr>
          <p:cNvPr id="4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16"/>
          <p:cNvGrpSpPr/>
          <p:nvPr/>
        </p:nvGrpSpPr>
        <p:grpSpPr>
          <a:xfrm>
            <a:off x="1632888" y="718114"/>
            <a:ext cx="62924" cy="5222224"/>
            <a:chOff x="253672" y="443646"/>
            <a:chExt cx="47195" cy="3916872"/>
          </a:xfrm>
        </p:grpSpPr>
        <p:sp>
          <p:nvSpPr>
            <p:cNvPr id="11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2"/>
          <p:cNvGrpSpPr/>
          <p:nvPr/>
        </p:nvGrpSpPr>
        <p:grpSpPr>
          <a:xfrm>
            <a:off x="2926965" y="718114"/>
            <a:ext cx="62924" cy="5222224"/>
            <a:chOff x="253672" y="443646"/>
            <a:chExt cx="47195" cy="3916872"/>
          </a:xfrm>
        </p:grpSpPr>
        <p:sp>
          <p:nvSpPr>
            <p:cNvPr id="17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8"/>
          <p:cNvGrpSpPr/>
          <p:nvPr/>
        </p:nvGrpSpPr>
        <p:grpSpPr>
          <a:xfrm>
            <a:off x="4221041" y="718114"/>
            <a:ext cx="62924" cy="5222224"/>
            <a:chOff x="253672" y="443646"/>
            <a:chExt cx="47195" cy="3916872"/>
          </a:xfrm>
        </p:grpSpPr>
        <p:sp>
          <p:nvSpPr>
            <p:cNvPr id="23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40"/>
          <p:cNvGrpSpPr/>
          <p:nvPr/>
        </p:nvGrpSpPr>
        <p:grpSpPr>
          <a:xfrm>
            <a:off x="5515118" y="718114"/>
            <a:ext cx="62924" cy="5222224"/>
            <a:chOff x="253672" y="443646"/>
            <a:chExt cx="47195" cy="3916872"/>
          </a:xfrm>
        </p:grpSpPr>
        <p:sp>
          <p:nvSpPr>
            <p:cNvPr id="29" name="矩形 4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4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4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4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4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46"/>
          <p:cNvGrpSpPr/>
          <p:nvPr/>
        </p:nvGrpSpPr>
        <p:grpSpPr>
          <a:xfrm>
            <a:off x="6809192" y="718114"/>
            <a:ext cx="62924" cy="5222224"/>
            <a:chOff x="253672" y="443646"/>
            <a:chExt cx="47195" cy="3916872"/>
          </a:xfrm>
        </p:grpSpPr>
        <p:sp>
          <p:nvSpPr>
            <p:cNvPr id="35" name="矩形 4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4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4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5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5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58"/>
          <p:cNvGrpSpPr/>
          <p:nvPr/>
        </p:nvGrpSpPr>
        <p:grpSpPr>
          <a:xfrm>
            <a:off x="11461192" y="718114"/>
            <a:ext cx="62924" cy="5222224"/>
            <a:chOff x="253672" y="443646"/>
            <a:chExt cx="47195" cy="3916872"/>
          </a:xfrm>
        </p:grpSpPr>
        <p:sp>
          <p:nvSpPr>
            <p:cNvPr id="41" name="矩形 5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6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6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6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6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1" descr="效果图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4292" y="512861"/>
            <a:ext cx="2085232" cy="29970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20824" y="411480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司法风控单据智能校验实践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0824" y="5806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华中科技大学 · 网络空间安全 ｜ 腾讯 · 风控算法实习生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答辩内容目录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6916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1691640"/>
            <a:ext cx="82296" cy="7498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18105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739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939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近 11 个月连续多模态算法实践：从模型训练到业务负责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6060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2606040"/>
            <a:ext cx="82296" cy="749808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883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主要工作总结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083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司法单据校验链路 × 四项子任务 × 线上拒单漏斗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5204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3520440"/>
            <a:ext cx="82296" cy="749808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36393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027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具体实现路径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227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电话 / 印章 / 文书类型 + 清晰度五级评估（本次重点）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4348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3040" y="4434840"/>
            <a:ext cx="82296" cy="749808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45537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171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371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AI 是效率放大器：六个应用环节与六条落地经验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3492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63040" y="5349240"/>
            <a:ext cx="82296" cy="749808"/>
          </a:xfrm>
          <a:prstGeom prst="rect">
            <a:avLst/>
          </a:prstGeom>
          <a:solidFill>
            <a:srgbClr val="00A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3080" y="54681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0A3F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315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7515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收获、不足与提升计划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自我介绍：一条“训练 → 数据 → 业务”的能力演进路径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" y="1737360"/>
            <a:ext cx="3200400" cy="128016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2743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彭 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风控算法实习生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300" b="1" i="0">
              <a:solidFill>
                <a:srgbClr val="2972F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华中科技大学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网络空间安全专业 · 硕士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2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腾讯 · 可疑与评级模型团队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面向法院、公安的司法单据，完成清晰度、印章、文书类型、电话有效性校验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1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汇报主题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不止步于离线准确率，更追求低误拦、可解释、可持续迭代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1737360"/>
            <a:ext cx="82296" cy="1371600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47088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第一阶段 · 京东 AI 安全部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多模态大模型后训练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89 万条 SFT 数据构建 / Qwen3-VL 全参数训练 / GDPO 强化学习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解决“如何把模型训练出来”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73552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73552"/>
            <a:ext cx="82296" cy="1371600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第二阶段 · 京东零售 AIGC 团队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数据与评测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训练数据清洗 / OCR 部署 / 生成模型评测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关注“如何构造可靠数据、如何评价模型”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809744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4809744"/>
            <a:ext cx="82296" cy="1371600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4919472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第三阶段 · 腾讯风控（当前）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业务落地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任务定义 / 决策路由 / 人审闭环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回答“如何让模型真正成为稳定的业务能力”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206374"/>
            <a:ext cx="10515600" cy="1325563"/>
          </a:xfrm>
        </p:spPr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主要工作总结：司法单据有效性与一致性校验链路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756" y="4791455"/>
            <a:ext cx="3520440" cy="138988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77B0FB3-1521-3F71-923B-E41459AEAFC0}"/>
              </a:ext>
            </a:extLst>
          </p:cNvPr>
          <p:cNvGrpSpPr/>
          <p:nvPr/>
        </p:nvGrpSpPr>
        <p:grpSpPr>
          <a:xfrm>
            <a:off x="535138" y="4819317"/>
            <a:ext cx="3300985" cy="1469840"/>
            <a:chOff x="865914" y="5261738"/>
            <a:chExt cx="3300985" cy="1469840"/>
          </a:xfrm>
        </p:grpSpPr>
        <p:sp>
          <p:nvSpPr>
            <p:cNvPr id="5" name="Rectangle 4"/>
            <p:cNvSpPr/>
            <p:nvPr/>
          </p:nvSpPr>
          <p:spPr>
            <a:xfrm>
              <a:off x="865914" y="5261738"/>
              <a:ext cx="82296" cy="1389888"/>
            </a:xfrm>
            <a:prstGeom prst="rect">
              <a:avLst/>
            </a:prstGeom>
            <a:solidFill>
              <a:srgbClr val="297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12219" y="5497138"/>
              <a:ext cx="3154680" cy="1234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300" b="1" i="0">
                  <a:solidFill>
                    <a:srgbClr val="2972F4"/>
                  </a:solidFill>
                  <a:latin typeface="Microsoft YaHei"/>
                  <a:ea typeface="Microsoft YaHei"/>
                  <a:cs typeface="Microsoft YaHei"/>
                </a:rPr>
                <a:t>业务场景</a:t>
              </a:r>
            </a:p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05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法官执行文书（裁定书 + 通知书 + 2 份工作证）提交银行冻结前，必须完成有效性校验与一致性校验。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267213" y="4791455"/>
            <a:ext cx="3520440" cy="1467612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76842" y="4845362"/>
            <a:ext cx="82296" cy="1389888"/>
          </a:xfrm>
          <a:prstGeom prst="rect">
            <a:avLst/>
          </a:prstGeom>
          <a:solidFill>
            <a:srgbClr val="DE3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6257" y="5010912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最大挑战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在保证不误拦文书的前提下，尽可能提高拦截率。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855464"/>
            <a:ext cx="3520440" cy="1389888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4855464"/>
            <a:ext cx="82296" cy="1389888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4946903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我的工作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聚焦四个子任务：电话号码有效性校验、印章检测、文书类型检测、清晰度检测。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229C760-AD06-42A3-5522-D20338203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06" y="1426304"/>
            <a:ext cx="11079454" cy="305000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D23BDA7-E13D-E82B-FFE1-26FA3EC49923}"/>
              </a:ext>
            </a:extLst>
          </p:cNvPr>
          <p:cNvSpPr/>
          <p:nvPr/>
        </p:nvSpPr>
        <p:spPr>
          <a:xfrm>
            <a:off x="3966196" y="1603708"/>
            <a:ext cx="1467041" cy="2041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5CAB43-FF3A-6234-E111-E799E97C9BF6}"/>
              </a:ext>
            </a:extLst>
          </p:cNvPr>
          <p:cNvSpPr/>
          <p:nvPr/>
        </p:nvSpPr>
        <p:spPr>
          <a:xfrm>
            <a:off x="7629604" y="2246978"/>
            <a:ext cx="1190846" cy="754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B84366-A6EF-DE8B-0DEA-C8B402770233}"/>
              </a:ext>
            </a:extLst>
          </p:cNvPr>
          <p:cNvSpPr/>
          <p:nvPr/>
        </p:nvSpPr>
        <p:spPr>
          <a:xfrm>
            <a:off x="9112102" y="2246978"/>
            <a:ext cx="1137684" cy="130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8B4934-EC5B-3DF8-F718-2EE05E02C142}"/>
              </a:ext>
            </a:extLst>
          </p:cNvPr>
          <p:cNvSpPr txBox="1"/>
          <p:nvPr/>
        </p:nvSpPr>
        <p:spPr>
          <a:xfrm>
            <a:off x="2152813" y="3363544"/>
            <a:ext cx="1228340" cy="28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50"/>
              <a:t>电话号码校验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D75679-4A83-99CB-DCF0-676D0A6B6EDA}"/>
              </a:ext>
            </a:extLst>
          </p:cNvPr>
          <p:cNvSpPr/>
          <p:nvPr/>
        </p:nvSpPr>
        <p:spPr>
          <a:xfrm>
            <a:off x="2205976" y="3429000"/>
            <a:ext cx="1345298" cy="216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四项子任务：最新数万条数据集上精准率均达 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42976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电话号码校验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印章校验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文书类型判断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清晰度检测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4526280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目前进度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离线模型开发完成，等待业务接入；右侧为预计线上拒单量。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口径：最新一批数万条数据集</a:t>
            </a:r>
          </a:p>
        </p:txBody>
      </p:sp>
      <p:pic>
        <p:nvPicPr>
          <p:cNvPr id="5" name="Picture 4" descr="02_拒单漏斗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60274" y="1691640"/>
            <a:ext cx="5812971" cy="406908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349240" y="58064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四任务日均拦截漏斗：日均输入 388,180 条，合计预计拦截 38,198 条（9.84%）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电话号码校验：宁可放过、不可错拦的硬规则链路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输入无约束、号码变种繁多（国际前缀 / 前导零 / 分机 / 粘连 / 案号金额混入），且判无效必须 100% 正确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输入清洗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国际前缀 / 前导零
特殊分隔符归一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规则解析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白名单 + 号码库
20+ 有序分支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提取修复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 档可信度切分
候选不唯一不猜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地域裁决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法院名推断区号
确认无效才拦截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标准不是“能不能打通”，而是“看起来像不像号码”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误拦真实司法请求的代价远高于漏拦，规则围绕零误拦设计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硬规则替代大模型：低成本、无幻觉、结果可解释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规则可枚举、输出要求确定的任务，不为用 AI 而用 AI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能放过的都放过；唯一候选才允许修复；区号不一致仅提示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三条核心原则保障下，v2.0→v2.1 放行率 88.31%→91%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616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用大模型归纳错误 case、生成规则测试样例与边界条件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bad case 回流驱动规则迭代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278,407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</a:t>
            </a:r>
            <a:r>
              <a:rPr lang="zh-CN" altLang="en-US"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号码</a:t>
            </a: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25,045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条确认无效（9.0%）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判无效精准率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4,775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altLang="en-US" sz="950">
                <a:solidFill>
                  <a:srgbClr val="595959"/>
                </a:solidFill>
                <a:latin typeface="Microsoft YaHei"/>
                <a:cs typeface="Microsoft YaHei"/>
              </a:rPr>
              <a:t>指令数</a:t>
            </a: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/日预计拦截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印章检测：高置信快速终结，不确定样本逐级升级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印章极浅 / 极小 / 非红色、七八页拼接长图、几十页 PDF ｜ 单条耗时 &lt; 3 秒硬约束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三模型三分类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layoutV2 + layoutL
+ seal_det + 颜色 blob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8 块切分召回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15% 重叠逐块复跑
任一块有章即有章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VLM 多页复核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仅 UNSURE 进入
每批 5 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人工审核闭环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结果按文档聚合
难例沉淀回流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不强迫单一模型覆盖全部样本：高分直判、中分互证、边界升级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绝大多数样本在 Stage 1 终结，算力花在信息增益最高的样本上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classify_v5 阈值来自数百种“分数 × 信号”组合的实验筛选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不是多数投票，而是按分数区间组织模型协同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发现 Layout-L 承担约 98.5% 有章检出，V2 独立贡献仅 0.2%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为后续单模型微调 / 蒸馏、链路轻量化提供依据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VLM 仅复核 UNSURE 样本，每批 5 页多页判定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多页 VLM 复核找回 163 个有章文档，避免漏拦风险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高置信子集精准率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98.94%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高置信子集召回率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单条耗时硬约束内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12,034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文书类型识别：从失败样本抽象机制，而非逐条打补丁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错别字 / 多字少字需宽容、多图并排 OCR 结果不连续、删除线、旋转文书 ｜ 27 类白名单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v6 OCR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PP-OCRv6 medium
≈269 ms/条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白名单分类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归一化 + 编辑距离
+ 锚点顺序匹配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VL 兜底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仅未命中 / 异常调用
≈1.26 s/条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人工闭环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错误类型沉淀
反哺规则与白名单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每条规则对应一种稳定的 OCR 失败模式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归一化治错字、锚点顺序治水印插入与错序、最长匹配防短标题抢占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按样本难度分配成本：高频白名单走快路径，困难样本才交给 VL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关闭误判高的前置旋转检测，真正旋转文档由 VL 兜底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自适应编辑距离：≤6 字精确、7-12 字 k=1、13-20 字 k=2、&gt;20 字 k=3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短标题防误吸附，长标题允许更多噪声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VL 模型兜底未命中 / 异常样本，覆盖旋转文书等长尾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五批数万条人工评测 + case 回流，Accuracy 94.59%→99.99%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99.99%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五批评测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0.28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主链路单条耗时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27 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高频白名单覆盖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4,697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清晰度检测：漏斗占比最高、ROI 最高的核心任务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544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6420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4.3%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66420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模糊拒单占数据漏斗比例最高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对提升拒单率贡献最大、ROI 最高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544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6420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6420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印章 / 文书类型疑难样本中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约 37% 因文书模糊而难以识别，前置检出可大幅减负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原方案：XGBoost 二分类（569 维特征）</a:t>
            </a:r>
          </a:p>
        </p:txBody>
      </p:sp>
      <p:pic>
        <p:nvPicPr>
          <p:cNvPr id="10" name="Picture 9" descr="12_双峰分布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29510" y="3017520"/>
            <a:ext cx="2623874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841248" y="5440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blur_score 呈强双峰：清晰集中 0.05-1，模糊集中 90-99，中间档样本极少，无法直接切分五档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与安管对齐 case：三张相似文书分别被判为 模糊 / 清晰 / 模糊</a:t>
            </a:r>
          </a:p>
        </p:txBody>
      </p:sp>
      <p:pic>
        <p:nvPicPr>
          <p:cNvPr id="13" name="Picture 12" descr="09_case1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14340" y="3017520"/>
            <a:ext cx="1635558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4" name="Picture 13" descr="10_case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30623" y="3017520"/>
            <a:ext cx="1683552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5" name="Picture 14" descr="11_case3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273965" y="3017520"/>
            <a:ext cx="1751749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480560" y="54406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清晰与模糊无公认界定标准，人受先验知识影响、会自动剔除水印/纹路/反光干扰；XGBoost 结果与安管规则一致性仅 </a:t>
            </a:r>
            <a:r>
              <a:rPr sz="100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23%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，直接标注的数据质量无法训练可用模型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6108192"/>
            <a:ext cx="10515600" cy="530352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619048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结论：二分类 → 五档序数分类 ｜ 更贴合真实数据分布 · 支持“不拒单但转人工”等中间策略 · 阈值随业务规则灵活调整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探索过程：五类替代方案验证，瓶颈在监督信号而非模型容量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1051560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失败原因与结论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XGBoost 打分直接五分类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难以制定标准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blur_score 极度双峰，中间区间数据极少，难以直接切分 5 档阈值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零样本分类（不微调）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64.5%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训练目标是图文语义匹配而非质量评估，清晰/模糊 cosine 相似度差异仅 0.006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特征 + 线性分类头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98.36%（vs XGB）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高分只是拟合弱监督标签：82 条分歧 case 上仅 29.7% 正确（远低于 XGB 的 70.3%），纯 CLIP 特征缺少 OCR 质量信息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VLM（Qwen3-VL-235B）直接评分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能读出文字内容就判为清晰，从不给出 4 或 5 分，无法做绝对评分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 两两对比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能分辨差异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能识别相对清晰度，但不适合绝对评分，且大规模两两对比成本太高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6108192"/>
            <a:ext cx="10515600" cy="53035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619048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文献调研结论：OCR 置信度是文档质量评估最关键的特征 → 对 1,000 条数据实测 OCR 置信度，重新推导分类标准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标准重定义：可辨识度 = 不可辨比例 + 可辨文字清晰程度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6949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分类依据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1 · 完全清晰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文字笔画边缘清楚锐利，所有内容轻松可读，无任何模糊感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EB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2 · 轻微模糊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字迹可辨认，但笔画边缘发虚 / 粘连，不影响阅读内容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8882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3 · 局部模糊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10%-50% 文字看不清或难以辨认，不影响理解主要内容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E86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4 · 大部分模糊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50%-90% 文字无法辨认，只能看清少量内容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5 · 完全无法辨认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 以上文字不可辨认，几乎或完全无法阅读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257800"/>
            <a:ext cx="6949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边界规则（单独判别）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印章 / 签名 / 手写部分的模糊不计入，只看正文印刷文字；表格线、边框断裂不算模糊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“可根据上下文猜出来，但笔画看不清”应算不可辨认；按可辨认程度判断，而非整体美观度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空白页、严重遮挡、非文书图片等特殊情况单独判别，不污染五档标签</a:t>
            </a:r>
          </a:p>
        </p:txBody>
      </p:sp>
      <p:pic>
        <p:nvPicPr>
          <p:cNvPr id="5" name="Picture 4" descr="13_置信度分析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78751" y="1691640"/>
            <a:ext cx="2827776" cy="39776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001000" y="57607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模糊率 ≈ OCR 识别准确率过低的比例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以逐行 OCR 置信度锚定可操作、可标注的五级标准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规则预标注：用 OCR 置信度低成本生成五级初始标签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只有一名标注人员 —— 需要规则低成本初标 + 高置信筛选，人工只复核边界样本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输入预处理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逐行提取置信度 / 字数 / 面积
轻量印章检测排除干扰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212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360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248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基础等级判定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w = 0.7×字数 + 0.3×面积
unreadable_ratio 定 L3-L5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448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596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484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锐度 + 漏检补偿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拉普拉斯方差 / 边缘强度分 L1/L2
连通域分析补偿 OCR 漏检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OCR 置信度低是一种模糊证据；OCR 完全漏检是更强的证据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Otsu 二值化 + 连通域分析计算 undetected_ratio，显式补偿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规则产出的是伪标签：价值在低成本初标 + 高置信筛选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印章、手写体、生僻字造成的低置信偏差，交人工复核纠正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任务定义先于模型技巧：先把“清晰/模糊”翻译成可计算的 OCR 信号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等级 = min（基础等级 + 漏检补偿，5），阈值经多轮实验筛选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OCR 置信度作为质量信号，印章模型排除干扰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AI 辅助开发标注平台：中间特征可视化，反馈即时回流改规则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13,133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条人工确认标签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 倍+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标注效率提升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完成全部数据构建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 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最大漏检补偿幅度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数据构建：规则预标注 + 平台化人工复核闭环</a:t>
            </a:r>
          </a:p>
        </p:txBody>
      </p:sp>
      <p:pic>
        <p:nvPicPr>
          <p:cNvPr id="3" name="Picture 2" descr="15_标注平台页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2264" y="1783080"/>
            <a:ext cx="6307327" cy="3547872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自研标注平台（AI 辅助开发）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判别原因展示 / 检索分页 / 缩放 / 快捷键；异常随时反馈、阈值即时调整，较共享 Excel 效率提升 </a:t>
            </a:r>
            <a:r>
              <a:rPr sz="10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5 倍以上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783080"/>
            <a:ext cx="3977639" cy="2286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901952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数据集构成（人工确认标签）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训练集 9,850 条（75%）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L1 53.3%｜L2 34.0%｜L3 8.4%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L4 3.4%｜L5 0.9%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测试集 3,283 条（25%）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平方根反频率过采样 → 13,523 条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防止模型偏好输出低档位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25196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4370832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序数高斯标签平滑（σ≈0.55）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L3 硬标签 [0,0,1,0,0] → [0.001, 0.137, 0.724, 0.137, 0.001]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相邻档分得更高权重，保留序数结构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标注不确定性显式注入监督信号，抑制预标签噪声过拟合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允许边界样本输出“介于两档之间”的分布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模型训练：Qwen3.5-9B + LoRA 微调，学习五级质量标尺</a:t>
            </a:r>
          </a:p>
        </p:txBody>
      </p:sp>
      <p:pic>
        <p:nvPicPr>
          <p:cNvPr id="3" name="Picture 2" descr="16_训练流程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075688" y="1554672"/>
            <a:ext cx="8046720" cy="2185031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841248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096512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Loss 设计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取 “The quality of the image is” 句末 “is” 位置 5 个类别 token 的 logits z∈R⁵，batch 平均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软标签交叉熵 H(q, softmax(z))，等价于 KL(q‖p) + const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9088" y="4096512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训练配置（ms-swift）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LoRA rank=8 ｜ lr=1e-4 ｜ batch=2 ｜ grad_accum=4 ｜ epochs=3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BF16 + SDPA ｜ 冻结视觉塔与 aligner ｜ 总步数 2,538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85216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5943600"/>
            <a:ext cx="10195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为什么选 VLM：</a:t>
            </a: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复用文字区域/字符结构/版面布局等预训练知识，少量标注即可迁移；理解五档序数递进而非互斥硬类别；LoRA 低成本适配；输出可扩展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训练结果：1.4 个 epoch 收敛早停，组内准确率 99.82%</a:t>
            </a:r>
          </a:p>
        </p:txBody>
      </p:sp>
      <p:pic>
        <p:nvPicPr>
          <p:cNvPr id="3" name="Picture 2" descr="18_训练曲线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2030" y="1691640"/>
            <a:ext cx="5804875" cy="429768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41248" y="6035040"/>
            <a:ext cx="5806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step 1200（≈1.4 epoch）Eval Loss 触底 0.0757，继续训练过拟合 → 及时早停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783080"/>
          <a:ext cx="44348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评测指标（测试集 3,283 条）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绝对准确率（与预标签完全一致）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组内准确率（前三/后二不跨档）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前→后跨档（好图判差）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5029200"/>
            <a:ext cx="4434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评测口径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业务拟拒 Level 4/5，重点统计“好图判差”的前→后跨档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Review 模型推理与预标签分歧，同步纠正初始错误标签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消融实验：软标签 + LLM 语义理解综合最优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45920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exact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规则预标注（原始 labels）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96.50%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98.05%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97.78%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软标签（本方案）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硬标签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65.03%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97.26%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98.63%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纯视觉头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70.36%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98.69%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98.54%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40233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组内准确率 = 前三类 / 后两类不互相跨档即算对；±1 准确率 = 偏差 ≤1 且不犯前→后跨档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43484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4434840"/>
            <a:ext cx="82296" cy="621792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软标签 vs 硬标签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498848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硬标签把预标签噪声当确定事实拟合（exact 跌至 65.03%、前→后跨档 25 条）；软标签保留相邻档 ±0.3 的合理不确定性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84648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5184648"/>
            <a:ext cx="82296" cy="621792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248656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LLM vs 纯视觉头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248656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纯视觉头缺“读字”能力，无法理解“表格线断裂不算模糊”等语义规则，易把印章水印误判为模糊（跨档 30 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5934456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" y="5934456"/>
            <a:ext cx="82296" cy="621792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998464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下一步与落地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998464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模型替代规则做预标、只复核分歧样本、补 L4/5 长尾；LLM LoRA 主方案（9B 单卡部署、拒 L4/5、L3 转人审）+ 视觉头前置粗筛，组成两级路由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实践与思考：效率放大器，而非能力替代品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539496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具体用法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编写训练代码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训练脚本、数据清洗、评估指标的编写与重构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开发标注平台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编程全流程开发多套标注平台，效率提升 5 倍+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文献调研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 IQA 论文脉络，定位“OCR 置信度”关键结论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分析问题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bad case 归因、数据分布分析、实验失败排查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设计实验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方案枚举对比、消融实验设计、评估指标定义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监控训练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训练日志实时监控脚本，异常及时告警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六条落地经验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01168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206654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可交互页面代替静态文档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bad case 展示、数据分布做成可筛选缩放的 HTML 页面，沟通效率远高于 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34056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779776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维护个性化 memory.md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网络环境、工具用法、业务术语写入项目记忆，AI 每次对话自带上下文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456432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11296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502152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上下文质量决定输出质量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喂错误日志原文、真实样例、规则条文，输入越具体返工越少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78808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23367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224528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小步快跑，边写边验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复杂任务拆成可独立运行的小模块，勤 commit 防改飞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901184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9560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946904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关键逻辑必须人工把关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标签对齐、指标口径这类地方 AI 容易埋隐蔽的坑，必须自己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62356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567842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66928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负责广度，人负责判断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“二分类改五分类”这类决策，对业务数据的理解才是决策依据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思维转变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从离线指标到业务可信，模型问题常是任务定义问题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全链路视角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向上延伸到任务定义与数据标准，向下延伸到标注平台与人审闭环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数据质量优先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规则预标注+人工复核+平台化反馈，效率提升5倍，标签质量有机制保障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效果与成本平衡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单人标注完成数万条；单卡可部署，推理满足3秒硬约束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5404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5404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DE3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5404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做得不好的地方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根因识别偏晚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前期在 XGBoost 阈值、CLIP 零样本上试错较多，应更早做任务定义推演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业务对齐不够前置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安管侧判断逻辑与模型一致性仅 23%，应通过早期 case 对齐会议消除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实验管理不够系统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部分实验配置与结果记录分散，横向对比成本较高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价值尚未完全兑现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离线模型未接线上，拒单收益与误拦风险未经真实检验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09560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业务理解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量化拒单率、误拦成本与人审工时，决策以业务 ROI 为锚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工程落地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补齐部署与推理加速短板，推动清晰度模型上线接入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数据闭环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建立 bad case 回流机制，形成完整迭代闭环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实验管理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统一实验记录模板，配置、数据版本、结果可追溯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98932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485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6062472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长期：深耕多模态大模型在垂直业务场景的落地 —— 从“训练模型的人”到“对业务结果负责的人”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 5"/>
          <p:cNvSpPr txBox="1"/>
          <p:nvPr/>
        </p:nvSpPr>
        <p:spPr>
          <a:xfrm>
            <a:off x="3813048" y="2606040"/>
            <a:ext cx="4572000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THANKS</a:t>
            </a:r>
            <a:endParaRPr/>
          </a:p>
        </p:txBody>
      </p:sp>
      <p:grpSp>
        <p:nvGrpSpPr>
          <p:cNvPr id="58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9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16"/>
          <p:cNvGrpSpPr/>
          <p:nvPr/>
        </p:nvGrpSpPr>
        <p:grpSpPr>
          <a:xfrm>
            <a:off x="1575154" y="718114"/>
            <a:ext cx="62650" cy="5222224"/>
            <a:chOff x="253672" y="443646"/>
            <a:chExt cx="47195" cy="3916872"/>
          </a:xfrm>
        </p:grpSpPr>
        <p:sp>
          <p:nvSpPr>
            <p:cNvPr id="65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22"/>
          <p:cNvGrpSpPr/>
          <p:nvPr/>
        </p:nvGrpSpPr>
        <p:grpSpPr>
          <a:xfrm>
            <a:off x="2811222" y="718114"/>
            <a:ext cx="62650" cy="5222224"/>
            <a:chOff x="253672" y="443646"/>
            <a:chExt cx="47195" cy="3916872"/>
          </a:xfrm>
        </p:grpSpPr>
        <p:sp>
          <p:nvSpPr>
            <p:cNvPr id="71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28"/>
          <p:cNvGrpSpPr/>
          <p:nvPr/>
        </p:nvGrpSpPr>
        <p:grpSpPr>
          <a:xfrm>
            <a:off x="4047292" y="718114"/>
            <a:ext cx="62650" cy="5222224"/>
            <a:chOff x="253672" y="443646"/>
            <a:chExt cx="47195" cy="3916872"/>
          </a:xfrm>
        </p:grpSpPr>
        <p:sp>
          <p:nvSpPr>
            <p:cNvPr id="77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1"/>
          <p:cNvGrpSpPr/>
          <p:nvPr/>
        </p:nvGrpSpPr>
        <p:grpSpPr>
          <a:xfrm>
            <a:off x="5283361" y="718114"/>
            <a:ext cx="62650" cy="5222224"/>
            <a:chOff x="253672" y="443646"/>
            <a:chExt cx="47195" cy="3916872"/>
          </a:xfrm>
        </p:grpSpPr>
        <p:sp>
          <p:nvSpPr>
            <p:cNvPr id="83" name="矩形 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9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14"/>
          <p:cNvGrpSpPr/>
          <p:nvPr/>
        </p:nvGrpSpPr>
        <p:grpSpPr>
          <a:xfrm>
            <a:off x="6519430" y="718114"/>
            <a:ext cx="62650" cy="5222224"/>
            <a:chOff x="253672" y="443646"/>
            <a:chExt cx="47195" cy="3916872"/>
          </a:xfrm>
        </p:grpSpPr>
        <p:sp>
          <p:nvSpPr>
            <p:cNvPr id="88" name="矩形 34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35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1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140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组合 141"/>
          <p:cNvGrpSpPr/>
          <p:nvPr/>
        </p:nvGrpSpPr>
        <p:grpSpPr>
          <a:xfrm>
            <a:off x="11463705" y="718114"/>
            <a:ext cx="62650" cy="5222224"/>
            <a:chOff x="253672" y="443646"/>
            <a:chExt cx="47195" cy="3916872"/>
          </a:xfrm>
        </p:grpSpPr>
        <p:sp>
          <p:nvSpPr>
            <p:cNvPr id="93" name="矩形 14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14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144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145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146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180"/>
          <p:cNvGrpSpPr/>
          <p:nvPr/>
        </p:nvGrpSpPr>
        <p:grpSpPr>
          <a:xfrm>
            <a:off x="7755498" y="718961"/>
            <a:ext cx="62650" cy="5222224"/>
            <a:chOff x="253672" y="443646"/>
            <a:chExt cx="47195" cy="3916872"/>
          </a:xfrm>
        </p:grpSpPr>
        <p:sp>
          <p:nvSpPr>
            <p:cNvPr id="99" name="矩形 18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18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8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8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8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4" name="组合 186"/>
          <p:cNvGrpSpPr/>
          <p:nvPr/>
        </p:nvGrpSpPr>
        <p:grpSpPr>
          <a:xfrm>
            <a:off x="8991568" y="718961"/>
            <a:ext cx="62650" cy="5222224"/>
            <a:chOff x="253672" y="443646"/>
            <a:chExt cx="47195" cy="3916872"/>
          </a:xfrm>
        </p:grpSpPr>
        <p:sp>
          <p:nvSpPr>
            <p:cNvPr id="105" name="矩形 18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8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8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9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9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92"/>
          <p:cNvGrpSpPr/>
          <p:nvPr/>
        </p:nvGrpSpPr>
        <p:grpSpPr>
          <a:xfrm>
            <a:off x="10227637" y="719808"/>
            <a:ext cx="62650" cy="5222224"/>
            <a:chOff x="253672" y="443646"/>
            <a:chExt cx="47195" cy="3916872"/>
          </a:xfrm>
        </p:grpSpPr>
        <p:sp>
          <p:nvSpPr>
            <p:cNvPr id="111" name="矩形 19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9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9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9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9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4956048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55848" y="45720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恳请各位评委老师批评指正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彭硕 ｜ 华中科技大学 · 网络空间安全 ｜ 腾讯 · 风控算法实习生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1791</Words>
  <Application>Microsoft Macintosh PowerPoint</Application>
  <PresentationFormat>宽屏</PresentationFormat>
  <Paragraphs>398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腾讯体 W7</vt:lpstr>
      <vt:lpstr>Microsoft YaHei</vt:lpstr>
      <vt:lpstr>Arial</vt:lpstr>
      <vt:lpstr>Calibri</vt:lpstr>
      <vt:lpstr>Calibri Light</vt:lpstr>
      <vt:lpstr>Office 默认主题​</vt:lpstr>
      <vt:lpstr>Custom Design</vt:lpstr>
      <vt:lpstr>PowerPoint 演示文稿</vt:lpstr>
      <vt:lpstr>答辩内容目录</vt:lpstr>
      <vt:lpstr>自我介绍：一条“训练 → 数据 → 业务”的能力演进路径</vt:lpstr>
      <vt:lpstr>主要工作总结：司法单据有效性与一致性校验链路</vt:lpstr>
      <vt:lpstr>四项子任务：最新数万条数据集上精准率均达 100%</vt:lpstr>
      <vt:lpstr>PowerPoint 演示文稿</vt:lpstr>
      <vt:lpstr>PowerPoint 演示文稿</vt:lpstr>
      <vt:lpstr>PowerPoint 演示文稿</vt:lpstr>
      <vt:lpstr>清晰度检测：漏斗占比最高、ROI 最高的核心任务</vt:lpstr>
      <vt:lpstr>探索过程：五类替代方案验证，瓶颈在监督信号而非模型容量</vt:lpstr>
      <vt:lpstr>标准重定义：可辨识度 = 不可辨比例 + 可辨文字清晰程度</vt:lpstr>
      <vt:lpstr>PowerPoint 演示文稿</vt:lpstr>
      <vt:lpstr>数据构建：规则预标注 + 平台化人工复核闭环</vt:lpstr>
      <vt:lpstr>模型训练：Qwen3.5-9B + LoRA 微调，学习五级质量标尺</vt:lpstr>
      <vt:lpstr>训练结果：1.4 个 epoch 收敛早停，组内准确率 99.82%</vt:lpstr>
      <vt:lpstr>消融实验：软标签 + LLM 语义理解综合最优</vt:lpstr>
      <vt:lpstr>AI 实践与思考：效率放大器，而非能力替代品</vt:lpstr>
      <vt:lpstr>总结与展望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T210709</cp:lastModifiedBy>
  <cp:revision>2</cp:revision>
  <dcterms:created xsi:type="dcterms:W3CDTF">2026-08-19T23:53:00Z</dcterms:created>
  <dcterms:modified xsi:type="dcterms:W3CDTF">2026-08-20T06:54:21Z</dcterms:modified>
</cp:coreProperties>
</file>