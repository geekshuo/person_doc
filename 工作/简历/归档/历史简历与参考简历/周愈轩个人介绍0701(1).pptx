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5"/>
  </p:notesMasterIdLst>
  <p:sldIdLst>
    <p:sldId id="351" r:id="rId4"/>
    <p:sldId id="282" r:id="rId6"/>
    <p:sldId id="373" r:id="rId7"/>
    <p:sldId id="374" r:id="rId8"/>
    <p:sldId id="378" r:id="rId9"/>
    <p:sldId id="375" r:id="rId10"/>
    <p:sldId id="377" r:id="rId11"/>
    <p:sldId id="380" r:id="rId12"/>
    <p:sldId id="382" r:id="rId13"/>
    <p:sldId id="384" r:id="rId14"/>
    <p:sldId id="383" r:id="rId15"/>
    <p:sldId id="357" r:id="rId16"/>
    <p:sldId id="359" r:id="rId17"/>
    <p:sldId id="360" r:id="rId18"/>
    <p:sldId id="361" r:id="rId19"/>
    <p:sldId id="362" r:id="rId20"/>
    <p:sldId id="363" r:id="rId21"/>
    <p:sldId id="364" r:id="rId22"/>
    <p:sldId id="371" r:id="rId23"/>
    <p:sldId id="366" r:id="rId24"/>
    <p:sldId id="367" r:id="rId25"/>
    <p:sldId id="369" r:id="rId26"/>
    <p:sldId id="370" r:id="rId27"/>
    <p:sldId id="372" r:id="rId28"/>
    <p:sldId id="354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6BF0C24E-6AAB-44D8-8EC8-93180E85F93F}">
          <p14:sldIdLst>
            <p14:sldId id="351"/>
          </p14:sldIdLst>
        </p14:section>
        <p14:section name="内容页" id="{BDB4CD63-28B2-41AA-9BC9-DD737B2D8058}">
          <p14:sldIdLst>
            <p14:sldId id="282"/>
            <p14:sldId id="373"/>
            <p14:sldId id="374"/>
            <p14:sldId id="378"/>
            <p14:sldId id="375"/>
            <p14:sldId id="377"/>
            <p14:sldId id="380"/>
            <p14:sldId id="382"/>
            <p14:sldId id="384"/>
            <p14:sldId id="383"/>
            <p14:sldId id="357"/>
            <p14:sldId id="359"/>
            <p14:sldId id="360"/>
            <p14:sldId id="361"/>
            <p14:sldId id="362"/>
            <p14:sldId id="363"/>
            <p14:sldId id="364"/>
            <p14:sldId id="371"/>
            <p14:sldId id="366"/>
            <p14:sldId id="367"/>
            <p14:sldId id="369"/>
            <p14:sldId id="370"/>
            <p14:sldId id="372"/>
          </p14:sldIdLst>
        </p14:section>
        <p14:section name="结束页" id="{66E26F6E-29BA-4608-85C0-6E49BFFE0266}">
          <p14:sldIdLst>
            <p14:sldId id="35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22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41180-6AF3-9847-9570-356233327CE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DCC39C-2A8C-2D49-9E6E-4CF9A0B7F49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0C2D9E-0316-48FF-B314-CE474C84DFA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B7F465-84CD-FF48-8BE8-E9BB174DF4F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10C2D9E-0316-48FF-B314-CE474C84DFA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49106-47DD-B240-8D2A-38A025D7A2E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98A59-7CBB-FB42-8508-10E5094DA283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17.png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4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7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8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29.png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2.png"/><Relationship Id="rId1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sp>
        <p:nvSpPr>
          <p:cNvPr id="44" name="文本框 43"/>
          <p:cNvSpPr txBox="1"/>
          <p:nvPr/>
        </p:nvSpPr>
        <p:spPr>
          <a:xfrm>
            <a:off x="9764228" y="4225164"/>
            <a:ext cx="19843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日期：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568552" y="2546713"/>
            <a:ext cx="6623447" cy="768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周愈轩个人</a:t>
            </a:r>
            <a:r>
              <a:rPr lang="zh-CN" altLang="en-US" sz="4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</a:t>
            </a:r>
            <a:endParaRPr lang="zh-CN" altLang="en-US" sz="4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596900" y="215265"/>
            <a:ext cx="39058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个人背景及教育</a:t>
            </a: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经历</a:t>
            </a:r>
            <a:endParaRPr lang="zh-CN" altLang="en-GB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pic>
        <p:nvPicPr>
          <p:cNvPr id="5" name="图片 4" descr="照片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55" y="1684655"/>
            <a:ext cx="2744470" cy="34886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065905" y="737235"/>
            <a:ext cx="778764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姓         名：周愈轩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籍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       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贯：江苏扬州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在读学籍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：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清华大学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深圳国际研究生院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 | 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计算机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（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博士在读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）|    2025.08 -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至今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师从深研院计算机研究所所长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夏树涛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教授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研究兴趣：大模型安全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(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包括评测到防护全流程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)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本科学籍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：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华中科技大学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网络空间安全启明荣誉班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|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工学学士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| 2021.09 - 2025.06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成绩：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rank 2/18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，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GPA 3.92/4.00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师从胡胜山教授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，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研究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兴趣为神经网络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的对抗后门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，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推免保研清华大学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竞赛情况：教育部推荐权威竞赛中获得</a:t>
            </a:r>
            <a:r>
              <a:rPr lang="zh-CN" altLang="en-US" b="1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国家级奖项四项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，省级一项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b="1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en-US" altLang="zh-CN" b="1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                 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包括全国大学生信息安全竞赛最具创新创业价值奖（</a:t>
            </a:r>
            <a:r>
              <a:rPr lang="zh-CN" altLang="en-US" b="1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华科首次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）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16" y="215016"/>
            <a:ext cx="48063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企业实习经历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字节跳动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5295" y="853440"/>
            <a:ext cx="1139825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4025" y="1225550"/>
            <a:ext cx="11278870" cy="4052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关于业务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: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构建字节内部多模态自动化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安全评测平台：覆盖越狱、版权、隐私、内容安全等风险场景，支持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LLM、VLM、T2I、Agent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等目标模型；负责多模态评测算法、自动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Judge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与平台架构重构，服务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Seed、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火山、豆包等核心业务。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参与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Seed / Seedream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发布前评测工作：围绕多轮、多模态逻辑诱导、图像生成安全与鲁棒性等场景，建设测例采集、自动化处理、精细化标注、多路检索与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badcase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管理链路，支撑风险发现、指标统计、回归复测与对齐数据沉淀。自主研发了一款生图模型的安全评测方法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, 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达到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SOTA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。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设计模块化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Agentic Evaluation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框架：将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case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构造、目标模型调用、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VLM/LLM Judge、Reward、Metrics、Storage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等能力解耦为可组合模块，由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Orchestrator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统一调度，实现自动化评测、失败归因、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hard case mining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与评测轨迹持久化。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0" name="小李PPT1"/>
          <p:cNvSpPr txBox="1"/>
          <p:nvPr/>
        </p:nvSpPr>
        <p:spPr>
          <a:xfrm>
            <a:off x="339090" y="895350"/>
            <a:ext cx="11630660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AI</a:t>
            </a:r>
            <a:r>
              <a:rPr lang="zh-CN" altLang="en-US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安全研发实习生</a:t>
            </a: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</a:t>
            </a: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advised by </a:t>
            </a:r>
            <a:r>
              <a:rPr lang="zh-CN" altLang="en-US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白杨</a:t>
            </a: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、</a:t>
            </a:r>
            <a:r>
              <a:rPr lang="zh-CN" altLang="en-US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吴栋贤</a:t>
            </a: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        </a:t>
            </a:r>
            <a:r>
              <a:rPr lang="zh-CN" altLang="en-US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2025.03 - 2025.09 与 2026.02 - 2026.06</a:t>
            </a:r>
            <a:endParaRPr lang="zh-CN" altLang="en-US" sz="20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 algn="l">
              <a:spcAft>
                <a:spcPts val="500"/>
              </a:spcAft>
              <a:defRPr/>
            </a:pPr>
            <a:endParaRPr lang="en-US" altLang="zh-CN" sz="24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  <a:p>
            <a:pPr lvl="0" algn="l">
              <a:spcAft>
                <a:spcPts val="500"/>
              </a:spcAft>
              <a:defRPr/>
            </a:pP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           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16" y="215016"/>
            <a:ext cx="103365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企业实习经历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字节跳动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模块化 Agentic Evaluation 框架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5295" y="853440"/>
            <a:ext cx="1139825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2" name="图片 1" descr="ChatGPT Image 2026年7月1日 11_03_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45" y="878840"/>
            <a:ext cx="10607675" cy="5970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16" y="215016"/>
            <a:ext cx="95383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企业实习经历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字节跳动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多要素生图模型安全评测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5295" y="853440"/>
            <a:ext cx="1139825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 descr="ChatGPT Image 2026年7月1日 11_58_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5" y="919480"/>
            <a:ext cx="10424160" cy="5866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35" y="215265"/>
            <a:ext cx="9892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企业实习经历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腾讯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CSIG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元宝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2026.06 - 至今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5295" y="853440"/>
            <a:ext cx="1139825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8470" y="1025525"/>
            <a:ext cx="11278870" cy="4052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en-US" altLang="zh-CN" sz="20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文生图 Prompt 安全改写与自动化评测</a:t>
            </a:r>
            <a:endParaRPr lang="en-US" altLang="zh-CN" sz="20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参与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T2I Prompt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安全改写模型的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GRPO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训练框架建设，基于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Verl + vLLM Rollout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生成多候选改写结果，提升模型在安全合规与意图保留之间的平衡能力。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设计文本侧与图像侧自动化评测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reward，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覆盖文本安全、属性保留、最小改写、图像安全、图像保真等维度，并接入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Triton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生图服务与多模态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Judge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服务进行闭环判分。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建立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badcase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诊断与切片分析流程，归因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unsafe leakage、over-refusal、semantic drift、style loss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等失败类型，用于指导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reward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调参和训练数据迭代。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35" y="215265"/>
            <a:ext cx="98920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GB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企业实习经历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——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腾讯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CSIG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元宝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2026.06 - 至今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2" name="图片 1" descr="截屏2026-07-01 11.29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60" y="969645"/>
            <a:ext cx="11344910" cy="5734685"/>
          </a:xfrm>
          <a:prstGeom prst="rect">
            <a:avLst/>
          </a:prstGeom>
        </p:spPr>
      </p:pic>
      <p:pic>
        <p:nvPicPr>
          <p:cNvPr id="3" name="图片 2" descr="截屏2026-07-01 11.29.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30" y="969645"/>
            <a:ext cx="11344910" cy="5734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35" y="215265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校内项目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                                 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5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.0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- 至今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8470" y="737235"/>
            <a:ext cx="11278870" cy="3486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大模型安全护栏系统，校内横向课题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                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  <a:sym typeface="+mn-ea"/>
              </a:rPr>
              <a:t>（2025.01至今）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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项目概述：针对大模型可能遭遇恶意用户提示并产生有害响应的问题，开发大模型安全网关产品，作为用户端与业务大模型的中间层，识别并拦截其中有风险的输入提示和输出响应。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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本人贡献：负责风险识别模型的算法研发，通过 RAG 和提示词工程技术，对多源安全数据集进行增广、重构与清洗；基于 SFT、DPO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及自适应 DPO 方法，训练并迭代多版风险识别模型。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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• 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项目成果：针对政治敏感、暴力犯罪等内容安全威胁，检出率平均提升 20% 以上，精确率平均提升 10% 以上，已通过公安部的大模型安全防护围栏增强型认证(首批获得资质 8 款产品之一）。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8" name="图片 7" descr="截屏2026-07-01 12.01.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15" y="4169410"/>
            <a:ext cx="9548495" cy="26231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35" y="215265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校内项目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                                 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202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5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.0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1</a:t>
            </a:r>
            <a:r>
              <a:rPr lang="zh-CN" altLang="en-US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- 至今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8470" y="737235"/>
            <a:ext cx="11278870" cy="34867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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 • 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解决多源安全数据匮乏的问题，基于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RAG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进行扩充</a:t>
            </a: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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构建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keywords list ，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总计有3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k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个关键词，每个小类对应100个，并基于此爬取了50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w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条数据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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利用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Helsinki-NLP/opus-mt-en-zh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批量翻译英文数据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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对超长数据、重复数据、广告数据进行了清洗，最后剩余36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w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条数据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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利用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chromadb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将所有数据写入向量数据库，利用的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embedding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模型为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BAAI/bge-m3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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利用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dolphin-X1-8B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和 </a:t>
            </a: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Dolphin-Mistral-24B-Venice-Edition </a:t>
            </a:r>
            <a:r>
              <a:rPr lang="zh-CN" altLang="en-US" dirty="0">
                <a:latin typeface="Cambria Math" panose="02040503050406030204" pitchFamily="18" charset="0"/>
                <a:ea typeface="楷体" panose="02010609060101010101" pitchFamily="49" charset="-122"/>
                <a:sym typeface="+mn-ea"/>
              </a:rPr>
              <a:t>进行有害数据的生成</a:t>
            </a: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2" name="图片 1" descr="截屏2026-07-01 12.03.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3429000"/>
            <a:ext cx="11342370" cy="3194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229235" y="215265"/>
            <a:ext cx="116928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spcAft>
                <a:spcPts val="500"/>
              </a:spcAft>
              <a:defRPr/>
            </a:pP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生图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benchmark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了解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                                           </a:t>
            </a:r>
            <a:r>
              <a:rPr lang="en-US" altLang="zh-CN" sz="24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  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46735" y="895350"/>
            <a:ext cx="10778490" cy="58972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  <a:p>
            <a:pPr>
              <a:lnSpc>
                <a:spcPct val="150000"/>
              </a:lnSpc>
              <a:buClr>
                <a:srgbClr val="29447F"/>
              </a:buClr>
              <a:buSzPct val="100000"/>
            </a:pPr>
            <a:endParaRPr lang="zh-CN" altLang="en-US" dirty="0">
              <a:latin typeface="Cambria Math" panose="02040503050406030204" pitchFamily="18" charset="0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3" name="图片 2" descr="截屏2026-07-01 15.45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5" y="1200150"/>
            <a:ext cx="11306810" cy="49618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854075" y="1584960"/>
          <a:ext cx="10744200" cy="433959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  <a:gridCol w="2148840"/>
                <a:gridCol w="2148840"/>
                <a:gridCol w="2148840"/>
              </a:tblGrid>
              <a:tr h="197485">
                <a:tc>
                  <a:txBody>
                    <a:bodyPr/>
                    <a:p>
                      <a:r>
                        <a:rPr lang="en-US" altLang="zh-CN" sz="1100"/>
                        <a:t>Benchmark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场景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核心定位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评测重点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对工业测评的启发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8670">
                <a:tc>
                  <a:txBody>
                    <a:bodyPr/>
                    <a:p>
                      <a:r>
                        <a:rPr lang="en-US" altLang="zh-CN" sz="1100"/>
                        <a:t>Qwen-Image-Bench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文生图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面向真实创作场景的综合 </a:t>
                      </a:r>
                      <a:r>
                        <a:rPr lang="en-US" altLang="zh-CN" sz="1100"/>
                        <a:t>T2I </a:t>
                      </a:r>
                      <a:r>
                        <a:rPr lang="zh-CN" altLang="en-US" sz="1100"/>
                        <a:t>评测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Quality / Aesthetics / Alignment / Real-world Fidelity / Creative Generation</a:t>
                      </a:r>
                      <a:r>
                        <a:rPr lang="zh-CN" altLang="en-US" sz="1100"/>
                        <a:t>；</a:t>
                      </a:r>
                      <a:r>
                        <a:rPr lang="en-US" altLang="zh-CN" sz="1100"/>
                        <a:t>5 pillars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23 </a:t>
                      </a:r>
                      <a:r>
                        <a:rPr lang="zh-CN" altLang="en-US" sz="1100"/>
                        <a:t>子能力、</a:t>
                      </a:r>
                      <a:r>
                        <a:rPr lang="en-US" altLang="zh-CN" sz="1100"/>
                        <a:t>56 rubrics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从“单一好不好看”升级为 </a:t>
                      </a:r>
                      <a:r>
                        <a:rPr lang="zh-CN" altLang="en-US" sz="1100"/>
                        <a:t>专业创作能力诊断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9305">
                <a:tc>
                  <a:txBody>
                    <a:bodyPr/>
                    <a:p>
                      <a:r>
                        <a:rPr lang="en-US" altLang="zh-CN" sz="1100"/>
                        <a:t>T2I-CoReBench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文生图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高复杂度组合生成 </a:t>
                      </a:r>
                      <a:r>
                        <a:rPr lang="en-US" altLang="zh-CN" sz="1100"/>
                        <a:t>+ </a:t>
                      </a:r>
                      <a:r>
                        <a:rPr lang="zh-CN" altLang="en-US" sz="1100"/>
                        <a:t>推理生成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scene graph </a:t>
                      </a:r>
                      <a:r>
                        <a:rPr lang="zh-CN" altLang="en-US" sz="1100"/>
                        <a:t>组合能力；</a:t>
                      </a:r>
                      <a:r>
                        <a:rPr lang="en-US" altLang="zh-CN" sz="1100"/>
                        <a:t>instance / attribute / relation / text</a:t>
                      </a:r>
                      <a:r>
                        <a:rPr lang="zh-CN" altLang="en-US" sz="1100"/>
                        <a:t>；</a:t>
                      </a:r>
                      <a:r>
                        <a:rPr lang="en-US" altLang="zh-CN" sz="1100"/>
                        <a:t>deductive / inductive / abductive reasoning</a:t>
                      </a:r>
                      <a:r>
                        <a:rPr lang="zh-CN" altLang="en-US" sz="1100"/>
                        <a:t>；</a:t>
                      </a:r>
                      <a:r>
                        <a:rPr lang="en-US" altLang="zh-CN" sz="1100"/>
                        <a:t>checklist yes/no </a:t>
                      </a:r>
                      <a:r>
                        <a:rPr lang="zh-CN" altLang="en-US" sz="1100"/>
                        <a:t>评估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适合做 </a:t>
                      </a:r>
                      <a:r>
                        <a:rPr lang="en-US" altLang="zh-CN" sz="1100"/>
                        <a:t>prompt </a:t>
                      </a:r>
                      <a:r>
                        <a:rPr lang="zh-CN" altLang="en-US" sz="1100"/>
                        <a:t>拆解 </a:t>
                      </a:r>
                      <a:r>
                        <a:rPr lang="en-US" altLang="zh-CN" sz="1100"/>
                        <a:t>→ </a:t>
                      </a:r>
                      <a:r>
                        <a:rPr lang="zh-CN" altLang="en-US" sz="1100"/>
                        <a:t>原子检查项 </a:t>
                      </a:r>
                      <a:r>
                        <a:rPr lang="en-US" altLang="zh-CN" sz="1100"/>
                        <a:t>→ VLM judge → </a:t>
                      </a:r>
                      <a:r>
                        <a:rPr lang="zh-CN" altLang="en-US" sz="1100"/>
                        <a:t>归因分析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4335">
                <a:tc>
                  <a:txBody>
                    <a:bodyPr/>
                    <a:p>
                      <a:r>
                        <a:rPr lang="en-US" altLang="zh-CN" sz="1100"/>
                        <a:t>ImgEdit-Bench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图片编辑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通用图像编辑评测，覆盖单轮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多轮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instruction adherence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editing quality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detail preservation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编辑评测要同时看 </a:t>
                      </a:r>
                      <a:r>
                        <a:rPr lang="zh-CN" altLang="en-US" sz="1100"/>
                        <a:t>改没改对 </a:t>
                      </a:r>
                      <a:r>
                        <a:rPr lang="en-US" altLang="zh-CN" sz="1100"/>
                        <a:t>+ </a:t>
                      </a:r>
                      <a:r>
                        <a:rPr lang="zh-CN" altLang="en-US" sz="1100"/>
                        <a:t>没让改的地方有没有保持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91820">
                <a:tc>
                  <a:txBody>
                    <a:bodyPr/>
                    <a:p>
                      <a:r>
                        <a:rPr lang="en-US" altLang="zh-CN" sz="1100"/>
                        <a:t>MultiBanana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多参考图生成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编辑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多 </a:t>
                      </a:r>
                      <a:r>
                        <a:rPr lang="en-US" altLang="zh-CN" sz="1100"/>
                        <a:t>reference </a:t>
                      </a:r>
                      <a:r>
                        <a:rPr lang="zh-CN" altLang="en-US" sz="1100"/>
                        <a:t>条件下的生成与编辑能力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最多 </a:t>
                      </a:r>
                      <a:r>
                        <a:rPr lang="en-US" altLang="zh-CN" sz="1100"/>
                        <a:t>8 </a:t>
                      </a:r>
                      <a:r>
                        <a:rPr lang="zh-CN" altLang="en-US" sz="1100"/>
                        <a:t>张参考图；</a:t>
                      </a:r>
                      <a:r>
                        <a:rPr lang="en-US" altLang="zh-CN" sz="1100"/>
                        <a:t>36 </a:t>
                      </a:r>
                      <a:r>
                        <a:rPr lang="zh-CN" altLang="en-US" sz="1100"/>
                        <a:t>类任务；考察 </a:t>
                      </a:r>
                      <a:r>
                        <a:rPr lang="en-US" altLang="zh-CN" sz="1100"/>
                        <a:t>reference consistency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physical realism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visual quality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适合评估 </a:t>
                      </a:r>
                      <a:r>
                        <a:rPr lang="zh-CN" altLang="en-US" sz="1100"/>
                        <a:t>多图参考、主体保持、风格迁移、商品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人像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背景组合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8670">
                <a:tc>
                  <a:txBody>
                    <a:bodyPr/>
                    <a:p>
                      <a:r>
                        <a:rPr lang="en-US" altLang="zh-CN" sz="1100"/>
                        <a:t>RISEBench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推理型图片编辑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需要时间、因果、空间、逻辑推理的编辑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100"/>
                        <a:t>Temporal / Causal / Spatial / Logical reasoning</a:t>
                      </a:r>
                      <a:r>
                        <a:rPr lang="zh-CN" altLang="en-US" sz="1100"/>
                        <a:t>；</a:t>
                      </a:r>
                      <a:r>
                        <a:rPr lang="en-US" altLang="zh-CN" sz="1100"/>
                        <a:t>instruction reasoning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appearance consistency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visual plausibility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从普通编辑进入 </a:t>
                      </a:r>
                      <a:r>
                        <a:rPr lang="en-US" altLang="zh-CN" sz="1100"/>
                        <a:t>reasoning-aware editing evaluation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89305">
                <a:tc>
                  <a:txBody>
                    <a:bodyPr/>
                    <a:p>
                      <a:r>
                        <a:rPr lang="en-US" altLang="zh-CN" sz="1100"/>
                        <a:t>GEdit / GEditBench v2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真实用户图片编辑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面向真实用户 </a:t>
                      </a:r>
                      <a:r>
                        <a:rPr lang="en-US" altLang="zh-CN" sz="1100"/>
                        <a:t>query </a:t>
                      </a:r>
                      <a:r>
                        <a:rPr lang="zh-CN" altLang="en-US" sz="1100"/>
                        <a:t>的开放式编辑评测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真实用户指令、开放集任务、</a:t>
                      </a:r>
                      <a:r>
                        <a:rPr lang="en-US" altLang="zh-CN" sz="1100"/>
                        <a:t>visual consistency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pairwise judge</a:t>
                      </a:r>
                      <a:r>
                        <a:rPr lang="zh-CN" altLang="en-US" sz="1100"/>
                        <a:t>、</a:t>
                      </a:r>
                      <a:r>
                        <a:rPr lang="en-US" altLang="zh-CN" sz="1100"/>
                        <a:t>identity/structure/semantic preservation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sz="1100"/>
                        <a:t>最贴近线上业务，适合做 </a:t>
                      </a:r>
                      <a:r>
                        <a:rPr lang="zh-CN" altLang="en-US" sz="1100"/>
                        <a:t>真实 </a:t>
                      </a:r>
                      <a:r>
                        <a:rPr lang="en-US" altLang="zh-CN" sz="1100"/>
                        <a:t>badcase </a:t>
                      </a:r>
                      <a:r>
                        <a:rPr lang="zh-CN" altLang="en-US" sz="1100"/>
                        <a:t>回归集 </a:t>
                      </a:r>
                      <a:r>
                        <a:rPr lang="en-US" altLang="zh-CN" sz="1100"/>
                        <a:t>+ </a:t>
                      </a:r>
                      <a:r>
                        <a:rPr lang="zh-CN" altLang="en-US" sz="1100"/>
                        <a:t>人类偏好校准</a:t>
                      </a:r>
                      <a:endParaRPr lang="zh-CN" altLang="en-US" sz="11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38225" y="506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小李PPT1"/>
          <p:cNvSpPr txBox="1"/>
          <p:nvPr/>
        </p:nvSpPr>
        <p:spPr>
          <a:xfrm>
            <a:off x="363836" y="244861"/>
            <a:ext cx="49739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：Multi-Agent VLM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4660" y="1023620"/>
            <a:ext cx="98545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dirty="0">
                <a:latin typeface="Cambria Math" panose="02040503050406030204" pitchFamily="18" charset="0"/>
                <a:ea typeface="楷体" panose="02010609060101010101" pitchFamily="49" charset="-122"/>
              </a:rPr>
              <a:t>白盒攻击：依赖模型内部参数，实用性差、迁移性弱</a:t>
            </a:r>
            <a:r>
              <a:rPr lang="en-US" altLang="zh-CN" sz="2400" dirty="0">
                <a:latin typeface="Cambria Math" panose="02040503050406030204" pitchFamily="18" charset="0"/>
                <a:ea typeface="楷体" panose="02010609060101010101" pitchFamily="49" charset="-122"/>
              </a:rPr>
              <a:t>。</a:t>
            </a:r>
            <a:endParaRPr lang="zh-CN" altLang="en-US" sz="24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Cambria Math" panose="02040503050406030204" pitchFamily="18" charset="0"/>
                <a:ea typeface="楷体" panose="02010609060101010101" pitchFamily="49" charset="-122"/>
              </a:rPr>
              <a:t>黑盒攻击：依赖人工设计模式，样本多样性不足、扩展性差</a:t>
            </a:r>
            <a:r>
              <a:rPr lang="en-US" altLang="zh-CN" sz="2400" dirty="0">
                <a:latin typeface="Cambria Math" panose="02040503050406030204" pitchFamily="18" charset="0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pic>
        <p:nvPicPr>
          <p:cNvPr id="2" name="图片 1" descr="截屏2026-01-07 10.19.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565"/>
            <a:ext cx="12192000" cy="50399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" name="小李PPT1"/>
          <p:cNvSpPr txBox="1"/>
          <p:nvPr/>
        </p:nvSpPr>
        <p:spPr>
          <a:xfrm>
            <a:off x="363836" y="244861"/>
            <a:ext cx="5686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：Multi-Agent VLM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红队测试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60020" y="939800"/>
            <a:ext cx="1182306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29447F"/>
              </a:buClr>
              <a:buSzTx/>
              <a:buNone/>
            </a:pP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</a:rPr>
              <a:t>研究目标：提出黑盒场景下自动化、高多样性、高成功率的 VLM 越狱攻击框架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None/>
            </a:pP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</a:rPr>
              <a:t>规划者:从策略库中选择并组合攻击方向，保障多样性     攻击者（Attacker）：生成图文提示，发起多轮对话攻击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lnSpc>
                <a:spcPct val="150000"/>
              </a:lnSpc>
              <a:buClr>
                <a:srgbClr val="29447F"/>
              </a:buClr>
              <a:buSzTx/>
              <a:buNone/>
            </a:pPr>
            <a:r>
              <a:rPr lang="en-US" altLang="zh-CN" dirty="0">
                <a:latin typeface="Cambria Math" panose="02040503050406030204" pitchFamily="18" charset="0"/>
                <a:ea typeface="楷体" panose="02010609060101010101" pitchFamily="49" charset="-122"/>
              </a:rPr>
              <a:t>修正者：检测图文语义偏差，优化图像生成效果        验证者：双维度评分（危害性 + 相关性），引导迭代优化</a:t>
            </a:r>
            <a:endParaRPr lang="en-US" altLang="zh-CN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pic>
        <p:nvPicPr>
          <p:cNvPr id="3" name="图片 2" descr="截屏2026-01-07 10.20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" y="2228215"/>
            <a:ext cx="11506200" cy="46297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2" name="小李PPT1"/>
          <p:cNvSpPr txBox="1"/>
          <p:nvPr/>
        </p:nvSpPr>
        <p:spPr>
          <a:xfrm>
            <a:off x="363836" y="244861"/>
            <a:ext cx="56864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：Multi-Agent VLM 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红队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测试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28595" y="6035675"/>
            <a:ext cx="24441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Under Review</a:t>
            </a:r>
            <a:endParaRPr lang="en-US" altLang="zh-CN" sz="2400" b="1"/>
          </a:p>
        </p:txBody>
      </p:sp>
      <p:sp>
        <p:nvSpPr>
          <p:cNvPr id="9" name="文本框 8"/>
          <p:cNvSpPr txBox="1"/>
          <p:nvPr/>
        </p:nvSpPr>
        <p:spPr>
          <a:xfrm>
            <a:off x="617855" y="1160145"/>
            <a:ext cx="45548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主实验以及部分</a:t>
            </a:r>
            <a:r>
              <a:rPr lang="zh-CN" altLang="en-US" sz="2400" b="1"/>
              <a:t>消融</a:t>
            </a:r>
            <a:endParaRPr lang="zh-CN" altLang="en-US" sz="2400" b="1"/>
          </a:p>
        </p:txBody>
      </p:sp>
      <p:pic>
        <p:nvPicPr>
          <p:cNvPr id="5" name="图片 4" descr="截屏2026-01-07 10.20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" y="1715135"/>
            <a:ext cx="7539990" cy="4021455"/>
          </a:xfrm>
          <a:prstGeom prst="rect">
            <a:avLst/>
          </a:prstGeom>
        </p:spPr>
      </p:pic>
      <p:pic>
        <p:nvPicPr>
          <p:cNvPr id="8" name="图片 7" descr="截屏2026-01-07 10.21.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400" y="969645"/>
            <a:ext cx="3853815" cy="2319020"/>
          </a:xfrm>
          <a:prstGeom prst="rect">
            <a:avLst/>
          </a:prstGeom>
        </p:spPr>
      </p:pic>
      <p:pic>
        <p:nvPicPr>
          <p:cNvPr id="10" name="图片 9" descr="截屏2026-01-07 10.21.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390" y="3521075"/>
            <a:ext cx="3843020" cy="3159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559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多模态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OOD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1882140"/>
            <a:ext cx="11542395" cy="46367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4485" y="1033145"/>
            <a:ext cx="115423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多模态OOD越狱区别于以往方法：并不作语意层面的修改，只是在表现形式上进行一定的ood混淆操作。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559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多模态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OOD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815" y="1358900"/>
            <a:ext cx="10850880" cy="54203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24485" y="853440"/>
            <a:ext cx="115423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>
                <a:srgbClr val="29447F"/>
              </a:buClr>
              <a:buSzTx/>
              <a:buFontTx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Weak-OOD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</a:rPr>
              <a:t>现象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：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</a:rPr>
              <a:t>越狱的效果随着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OOD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</a:rPr>
              <a:t>程度的增加先上升后降低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。</a:t>
            </a:r>
            <a:r>
              <a:rPr lang="zh-CN" altLang="en-US" sz="2000" dirty="0">
                <a:latin typeface="Cambria Math" panose="02040503050406030204" pitchFamily="18" charset="0"/>
                <a:ea typeface="楷体" panose="02010609060101010101" pitchFamily="49" charset="-122"/>
              </a:rPr>
              <a:t>但是最好的效果都会比不扰动好</a:t>
            </a: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559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多模态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OOD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410" y="908050"/>
            <a:ext cx="8477250" cy="24364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25" y="3344545"/>
            <a:ext cx="7136130" cy="342011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980" y="3045460"/>
            <a:ext cx="3655060" cy="356933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559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多模态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OOD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40335" y="3429000"/>
            <a:ext cx="11918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Inspiredby VLMs’ strong pre-training OCR generalization to image-embedded text variations,we propose JOCR.</a:t>
            </a:r>
            <a:endParaRPr lang="en-US" altLang="zh-CN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5" y="990600"/>
            <a:ext cx="8648700" cy="221424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60" y="3951605"/>
            <a:ext cx="3122295" cy="247269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99160" y="6388100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FigStep </a:t>
            </a:r>
            <a:r>
              <a:rPr lang="zh-CN" altLang="en-US" sz="2000" b="1"/>
              <a:t>（</a:t>
            </a:r>
            <a:r>
              <a:rPr lang="en-US" altLang="zh-CN" sz="2000" b="1"/>
              <a:t>AAAI24 oral</a:t>
            </a:r>
            <a:r>
              <a:rPr lang="zh-CN" altLang="en-US" sz="2000" b="1"/>
              <a:t>）</a:t>
            </a:r>
            <a:endParaRPr lang="zh-CN" altLang="en-US" sz="2000" b="1"/>
          </a:p>
        </p:txBody>
      </p:sp>
      <p:sp>
        <p:nvSpPr>
          <p:cNvPr id="19" name="文本框 18"/>
          <p:cNvSpPr txBox="1"/>
          <p:nvPr/>
        </p:nvSpPr>
        <p:spPr>
          <a:xfrm>
            <a:off x="4114800" y="4264660"/>
            <a:ext cx="1154430" cy="1132840"/>
          </a:xfrm>
          <a:prstGeom prst="rect">
            <a:avLst/>
          </a:prstGeom>
          <a:noFill/>
        </p:spPr>
        <p:txBody>
          <a:bodyPr wrap="none" rtlCol="0" anchor="t">
            <a:noAutofit/>
          </a:bodyPr>
          <a:p>
            <a:r>
              <a:rPr lang="zh-CN" altLang="en-US" sz="4800">
                <a:latin typeface="Arial" panose="020B0604020202090204" pitchFamily="34" charset="0"/>
                <a:cs typeface="Arial" panose="020B0604020202090204" pitchFamily="34" charset="0"/>
              </a:rPr>
              <a:t>→</a:t>
            </a:r>
            <a:endParaRPr lang="zh-CN" altLang="en-US" sz="480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9230" y="3797300"/>
            <a:ext cx="5559425" cy="254571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7306310" y="6388100"/>
            <a:ext cx="15748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Ours</a:t>
            </a:r>
            <a:endParaRPr lang="en-US" altLang="zh-CN" sz="2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55993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多模态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OOD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研究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" y="872490"/>
            <a:ext cx="7724775" cy="40582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35" y="4866005"/>
            <a:ext cx="7987030" cy="19919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065" y="1098550"/>
            <a:ext cx="3989705" cy="214757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71840" y="3607435"/>
            <a:ext cx="352679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Future Works：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1. Defense against vlm jailbreak attacks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2. More robust and balanced vlm alignment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3. Automated OOD jailbreak method, not relying on manual design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endParaRPr lang="zh-CN" altLang="en-US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Under review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277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：deepfake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伪造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检测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4660" y="1012825"/>
            <a:ext cx="1072451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背景：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Deepfake 技术恶意应用引发社会风险，检测系统的泛化性是实际部署关键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现有方法在标准基准上表现优异，但难以应对真实场景中多样的伪造技术与环境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数据增强是提升泛化性的有效手段，却普遍采用固定策略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核心问题：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单一静态增强策略能否覆盖复杂多样的伪造特征？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如何协调多域增强策略，避免特征冲突导致的性能下降？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algn="l">
              <a:buClrTx/>
              <a:buSzTx/>
              <a:buNone/>
            </a:pPr>
            <a:r>
              <a:rPr lang="en-US" altLang="zh-CN" sz="2000" dirty="0">
                <a:latin typeface="Cambria Math" panose="02040503050406030204" pitchFamily="18" charset="0"/>
                <a:ea typeface="楷体" panose="02010609060101010101" pitchFamily="49" charset="-122"/>
              </a:rPr>
              <a:t>数据增强：现有方法多采用单一域策略（空间域或频率域），混合策略易引发特征冲突</a:t>
            </a:r>
            <a:endParaRPr lang="en-US" altLang="zh-CN" sz="200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pic>
        <p:nvPicPr>
          <p:cNvPr id="9" name="图片 8" descr="截屏2025-11-07 00.56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695" y="3566160"/>
            <a:ext cx="8661400" cy="3213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277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：deepfake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伪造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检测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159635"/>
            <a:ext cx="9121140" cy="45535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25805" y="939800"/>
            <a:ext cx="9610090" cy="121983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基于 RL 的动态增强策略：实时感知检测器状态，自适应选择最优增强操作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多环境因果不变学习：利用因果推断消除策略偏置，学习环境稳定特征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多维课程调度：从样本比例、探索强度、伪造区域三方面动态调整训练难度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277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：deepfake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伪造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检测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25805" y="939800"/>
            <a:ext cx="9610090" cy="121983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基于 RL 的动态增强策略：实时感知检测器状态，自适应选择最优增强操作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多环境因果不变学习：利用因果推断消除策略偏置，学习环境稳定特征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  <a:p>
            <a:pPr marL="0" algn="l">
              <a:lnSpc>
                <a:spcPct val="100000"/>
              </a:lnSpc>
              <a:spcBef>
                <a:spcPts val="800"/>
              </a:spcBef>
              <a:buClrTx/>
              <a:buSzTx/>
              <a:buAutoNum type="arabicPeriod"/>
            </a:pPr>
            <a:r>
              <a:rPr lang="en-US" altLang="zh-CN" sz="2000" b="0" i="0" dirty="0">
                <a:latin typeface="Cambria Math" panose="02040503050406030204" pitchFamily="18" charset="0"/>
                <a:ea typeface="楷体" panose="02010609060101010101" pitchFamily="49" charset="-122"/>
              </a:rPr>
              <a:t>多维课程调度：从样本比例、探索强度、伪造区域三方面动态调整训练难度</a:t>
            </a:r>
            <a:endParaRPr lang="en-US" altLang="zh-CN" sz="2000" b="0" i="0" dirty="0">
              <a:latin typeface="Cambria Math" panose="02040503050406030204" pitchFamily="18" charset="0"/>
              <a:ea typeface="楷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5" y="2362200"/>
            <a:ext cx="10392410" cy="40163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42773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：deepfake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伪造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检测</a:t>
            </a:r>
            <a:endParaRPr lang="zh-CN" altLang="en-US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6" name="图片 5" descr="截屏2025-11-07 01.05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15" y="969645"/>
            <a:ext cx="8170545" cy="4940935"/>
          </a:xfrm>
          <a:prstGeom prst="rect">
            <a:avLst/>
          </a:prstGeom>
        </p:spPr>
      </p:pic>
      <p:pic>
        <p:nvPicPr>
          <p:cNvPr id="7" name="图片 6" descr="截屏2025-11-07 01.05.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7040" y="1050290"/>
            <a:ext cx="3895090" cy="5347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468755" y="6065520"/>
            <a:ext cx="30930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AAAI26 </a:t>
            </a:r>
            <a:r>
              <a:rPr lang="en-US" altLang="zh-CN" sz="2400" b="1"/>
              <a:t>Accepted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线连接符 3"/>
          <p:cNvCxnSpPr/>
          <p:nvPr/>
        </p:nvCxnSpPr>
        <p:spPr>
          <a:xfrm>
            <a:off x="454763" y="853601"/>
            <a:ext cx="11282474" cy="0"/>
          </a:xfrm>
          <a:prstGeom prst="line">
            <a:avLst/>
          </a:prstGeom>
          <a:ln>
            <a:solidFill>
              <a:srgbClr val="6C2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10254253" y="165275"/>
            <a:ext cx="1478870" cy="572058"/>
          </a:xfrm>
          <a:prstGeom prst="rect">
            <a:avLst/>
          </a:prstGeom>
        </p:spPr>
      </p:pic>
      <p:sp>
        <p:nvSpPr>
          <p:cNvPr id="3" name="小李PPT1"/>
          <p:cNvSpPr txBox="1"/>
          <p:nvPr/>
        </p:nvSpPr>
        <p:spPr>
          <a:xfrm>
            <a:off x="363836" y="244861"/>
            <a:ext cx="720407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spcAft>
                <a:spcPts val="500"/>
              </a:spcAft>
              <a:defRPr/>
            </a:pP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科研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：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未来计划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(</a:t>
            </a:r>
            <a:r>
              <a:rPr lang="zh-CN" altLang="en-US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越狱检测以及更鲁棒的对齐</a:t>
            </a:r>
            <a:r>
              <a:rPr lang="en-US" altLang="zh-CN" sz="2800" b="1" dirty="0">
                <a:solidFill>
                  <a:srgbClr val="6C22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libaba PuHuiTi" pitchFamily="18" charset="-122"/>
              </a:rPr>
              <a:t>)</a:t>
            </a:r>
            <a:endParaRPr lang="en-US" altLang="zh-CN" sz="2800" b="1" dirty="0">
              <a:solidFill>
                <a:srgbClr val="6C22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libaba PuHuiTi" pitchFamily="18" charset="-122"/>
            </a:endParaRPr>
          </a:p>
        </p:txBody>
      </p:sp>
      <p:pic>
        <p:nvPicPr>
          <p:cNvPr id="2" name="图片 1" descr="llm越狱分类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1484630"/>
            <a:ext cx="10753090" cy="47694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94"/>
            <a:ext cx="12193057" cy="6858594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86" b="27820"/>
          <a:stretch>
            <a:fillRect/>
          </a:stretch>
        </p:blipFill>
        <p:spPr>
          <a:xfrm>
            <a:off x="9892354" y="266980"/>
            <a:ext cx="1840032" cy="711763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8697434" y="4400129"/>
            <a:ext cx="261979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日期：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62665" y="1624376"/>
            <a:ext cx="6132202" cy="207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kumimoji="0" lang="en-US" altLang="zh-CN" sz="6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defRPr/>
            </a:pPr>
            <a:r>
              <a:rPr lang="zh-CN" altLang="en-US" sz="48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敬请批评指正。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H="1">
            <a:off x="7333293" y="3957075"/>
            <a:ext cx="3868606" cy="0"/>
          </a:xfrm>
          <a:prstGeom prst="line">
            <a:avLst/>
          </a:prstGeom>
          <a:ln w="19050" cap="rnd">
            <a:solidFill>
              <a:schemeClr val="bg1">
                <a:alpha val="79000"/>
              </a:schemeClr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4400</Words>
  <Application>WPS 文字</Application>
  <PresentationFormat>宽屏</PresentationFormat>
  <Paragraphs>282</Paragraphs>
  <Slides>25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汉仪旗黑</vt:lpstr>
      <vt:lpstr>Alibaba PuHuiTi</vt:lpstr>
      <vt:lpstr>Cambria Math</vt:lpstr>
      <vt:lpstr>楷体</vt:lpstr>
      <vt:lpstr>Impact</vt:lpstr>
      <vt:lpstr>等线</vt:lpstr>
      <vt:lpstr>等线</vt:lpstr>
      <vt:lpstr>宋体</vt:lpstr>
      <vt:lpstr>Arial Unicode MS</vt:lpstr>
      <vt:lpstr>等线 Light</vt:lpstr>
      <vt:lpstr>汉仪中等线KW</vt:lpstr>
      <vt:lpstr>Calibri</vt:lpstr>
      <vt:lpstr>Helvetica Neue</vt:lpstr>
      <vt:lpstr>汉仪书宋二KW</vt:lpstr>
      <vt:lpstr>苹方-简</vt:lpstr>
      <vt:lpstr>Kingsoft Math</vt:lpstr>
      <vt:lpstr>汉仪楷体KW</vt:lpstr>
      <vt:lpstr>Alibaba PuHuiTi</vt:lpstr>
      <vt:lpstr>微软雅黑</vt:lpstr>
      <vt:lpstr>楷体</vt:lpstr>
      <vt:lpstr>等线</vt:lpstr>
      <vt:lpstr>华文仿宋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 黄</dc:creator>
  <cp:lastModifiedBy>微信用户</cp:lastModifiedBy>
  <cp:revision>23</cp:revision>
  <dcterms:created xsi:type="dcterms:W3CDTF">2026-07-01T07:59:16Z</dcterms:created>
  <dcterms:modified xsi:type="dcterms:W3CDTF">2026-07-01T07:59:16Z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10411FD74BDFC78C1492446A5BD289D1_43</vt:lpwstr>
  </property>
  <property fmtid="{D5CDD505-2E9C-101B-9397-08002B2CF9AE}" pid="3" name="KSOProductBuildVer">
    <vt:lpwstr>2052-12.1.26016.26016</vt:lpwstr>
  </property>
</Properties>
</file>